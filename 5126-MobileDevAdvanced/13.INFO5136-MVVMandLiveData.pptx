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4"/>
    <p:sldMasterId id="2147483733" r:id="rId5"/>
  </p:sldMasterIdLst>
  <p:notesMasterIdLst>
    <p:notesMasterId r:id="rId26"/>
  </p:notesMasterIdLst>
  <p:sldIdLst>
    <p:sldId id="477" r:id="rId6"/>
    <p:sldId id="466" r:id="rId7"/>
    <p:sldId id="446" r:id="rId8"/>
    <p:sldId id="316" r:id="rId9"/>
    <p:sldId id="314" r:id="rId10"/>
    <p:sldId id="298" r:id="rId11"/>
    <p:sldId id="299" r:id="rId12"/>
    <p:sldId id="295" r:id="rId13"/>
    <p:sldId id="296" r:id="rId14"/>
    <p:sldId id="297" r:id="rId15"/>
    <p:sldId id="318" r:id="rId16"/>
    <p:sldId id="320" r:id="rId17"/>
    <p:sldId id="471" r:id="rId18"/>
    <p:sldId id="468" r:id="rId19"/>
    <p:sldId id="469" r:id="rId20"/>
    <p:sldId id="472" r:id="rId21"/>
    <p:sldId id="473" r:id="rId22"/>
    <p:sldId id="474" r:id="rId23"/>
    <p:sldId id="475" r:id="rId24"/>
    <p:sldId id="4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87077" autoAdjust="0"/>
  </p:normalViewPr>
  <p:slideViewPr>
    <p:cSldViewPr snapToGrid="0">
      <p:cViewPr varScale="1">
        <p:scale>
          <a:sx n="63" d="100"/>
          <a:sy n="6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D1AF2-841F-40BE-9B09-31BBB0CE205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F4719-5F25-49E0-8965-E3DE67D20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4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WPF- </a:t>
            </a:r>
            <a:r>
              <a:rPr lang="en-CA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Windows Presentation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F4719-5F25-49E0-8965-E3DE67D207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01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F4719-5F25-49E0-8965-E3DE67D207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19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Wong                                           INFO 5126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15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07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Wong                                           INFO 5126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5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683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09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381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Wong                                           INFO 5126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869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166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014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73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6823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0184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432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6916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Wong                                           INFO 5126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72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Wong                                           INFO 5126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544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2ED577-C46B-4B24-B865-650E9A935AB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4072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073923-BAFC-49A8-87E8-4913333D86A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450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52D0D0-8965-4DE9-9629-573F77507DC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2776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8148F-5F48-426F-9E53-DF564F1C26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9852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143FCB-D9BC-4317-97D2-5A00D641C04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476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E2B5B-B0A2-48BD-940D-4D074BCB3CC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3826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9B1B7-9AEF-49BC-A8F7-D3574A122C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5261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62BC36-9A20-47FF-8027-505AF2C854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3313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522DC7-733C-46A6-9BAA-6B0CA40A420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4467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82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9138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6132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4672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2756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34981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819BFA-9A14-488B-9008-401ADCB39E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4784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1978D5-EC34-40D2-88D0-A29FA1F0635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800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CA"/>
              <a:t>L Wong             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C335210-D0D0-493B-AF75-6229EBC419C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4863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7939871C-347F-4245-A1AC-908EDA4271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214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Object_(computer_science)#Objects_in_object-oriented_programming" TargetMode="External"/><Relationship Id="rId7" Type="http://schemas.openxmlformats.org/officeDocument/2006/relationships/hyperlink" Target="https://docs.microsoft.com/en-us/previous-versions/msp-n-p/ee817669(v=pandp.10)?redirectedfrom=MSDN" TargetMode="External"/><Relationship Id="rId2" Type="http://schemas.openxmlformats.org/officeDocument/2006/relationships/hyperlink" Target="http://en.wikipedia.org/wiki/Design_pattern_(computer_science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Model_View_Controller" TargetMode="External"/><Relationship Id="rId5" Type="http://schemas.openxmlformats.org/officeDocument/2006/relationships/hyperlink" Target="http://en.wikipedia.org/wiki/Event_handling" TargetMode="External"/><Relationship Id="rId4" Type="http://schemas.openxmlformats.org/officeDocument/2006/relationships/hyperlink" Target="http://en.wikipedia.org/wiki/Method_(computer_science)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oftware_pattern" TargetMode="External"/><Relationship Id="rId2" Type="http://schemas.openxmlformats.org/officeDocument/2006/relationships/hyperlink" Target="http://en.wikipedia.org/wiki/Model%E2%80%93view%E2%80%93controll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Domain_model" TargetMode="External"/><Relationship Id="rId4" Type="http://schemas.openxmlformats.org/officeDocument/2006/relationships/hyperlink" Target="http://en.wikipedia.org/wiki/User_interfac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MVVM and </a:t>
            </a:r>
            <a:r>
              <a:rPr lang="en-US" dirty="0" err="1"/>
              <a:t>LiveData</a:t>
            </a:r>
            <a:endParaRPr lang="en-US" dirty="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sz="2800" dirty="0"/>
              <a:t>Info5126 : </a:t>
            </a:r>
          </a:p>
          <a:p>
            <a:pPr eaLnBrk="1" hangingPunct="1">
              <a:defRPr/>
            </a:pPr>
            <a:r>
              <a:rPr lang="en-CA" sz="2800" dirty="0"/>
              <a:t>Mobile Development Advanced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987580-324B-3EF3-2721-4DC823E5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4BF-45F8-4A43-A3D9-78DD291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MVVM Advantages and Disadvantages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6E061-46FE-48AF-AB15-3041C5233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987"/>
            <a:ext cx="10515600" cy="4724976"/>
          </a:xfrm>
        </p:spPr>
        <p:txBody>
          <a:bodyPr>
            <a:normAutofit/>
          </a:bodyPr>
          <a:lstStyle/>
          <a:p>
            <a:r>
              <a:rPr lang="en-US" dirty="0"/>
              <a:t>MVVM pattern has many advantages for apps which separates the UI from the core logic of an app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Maintainability</a:t>
            </a:r>
          </a:p>
          <a:p>
            <a:pPr lvl="1"/>
            <a:r>
              <a:rPr lang="en-US" dirty="0"/>
              <a:t>Testability</a:t>
            </a:r>
          </a:p>
          <a:p>
            <a:pPr lvl="1"/>
            <a:r>
              <a:rPr lang="en-US" dirty="0"/>
              <a:t>Extensibility</a:t>
            </a:r>
          </a:p>
          <a:p>
            <a:pPr lvl="1"/>
            <a:r>
              <a:rPr lang="en-US" dirty="0"/>
              <a:t>Easy UI Edits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Overhead for small apps</a:t>
            </a:r>
          </a:p>
          <a:p>
            <a:pPr lvl="1"/>
            <a:r>
              <a:rPr lang="en-US" dirty="0"/>
              <a:t>Harder to design</a:t>
            </a:r>
          </a:p>
          <a:p>
            <a:pPr lvl="1"/>
            <a:r>
              <a:rPr lang="en-US" dirty="0"/>
              <a:t>Debugging 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E6DCE-A70C-4E2A-88C4-AA7F0783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5126</a:t>
            </a:r>
          </a:p>
        </p:txBody>
      </p:sp>
    </p:spTree>
    <p:extLst>
      <p:ext uri="{BB962C8B-B14F-4D97-AF65-F5344CB8AC3E}">
        <p14:creationId xmlns:p14="http://schemas.microsoft.com/office/powerpoint/2010/main" val="3332245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E5A2-BF89-445A-B850-5D2897A9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46E34-DFE5-4827-B418-04459E066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21" y="1825625"/>
            <a:ext cx="10414279" cy="4351338"/>
          </a:xfrm>
        </p:spPr>
        <p:txBody>
          <a:bodyPr>
            <a:normAutofit/>
          </a:bodyPr>
          <a:lstStyle/>
          <a:p>
            <a:r>
              <a:rPr lang="en-US"/>
              <a:t>Model-View-Controller </a:t>
            </a:r>
            <a:r>
              <a:rPr lang="en-US" dirty="0"/>
              <a:t>(MVC )</a:t>
            </a:r>
          </a:p>
          <a:p>
            <a:pPr lvl="1"/>
            <a:r>
              <a:rPr lang="en-US" dirty="0"/>
              <a:t>Was also based off the observer design pattern</a:t>
            </a:r>
          </a:p>
          <a:p>
            <a:pPr>
              <a:defRPr/>
            </a:pPr>
            <a:r>
              <a:rPr lang="en-US" sz="2800" dirty="0"/>
              <a:t>The following design patterns evolved with the evolution of UI</a:t>
            </a:r>
          </a:p>
          <a:p>
            <a:pPr>
              <a:defRPr/>
            </a:pPr>
            <a:r>
              <a:rPr lang="en-US" sz="2800" dirty="0"/>
              <a:t>Model-View-Presenter  (MVP)</a:t>
            </a:r>
          </a:p>
          <a:p>
            <a:pPr>
              <a:defRPr/>
            </a:pPr>
            <a:r>
              <a:rPr lang="en-US" sz="2800" dirty="0"/>
              <a:t>Model-View-View Model (MVVM)</a:t>
            </a:r>
          </a:p>
          <a:p>
            <a:endParaRPr lang="en-US" dirty="0"/>
          </a:p>
          <a:p>
            <a:endParaRPr lang="en-US" dirty="0"/>
          </a:p>
          <a:p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64AF-C244-47F6-A38B-0AA7984B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891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Model – View – Controller (MVC)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sz="1800" dirty="0">
              <a:solidFill>
                <a:srgbClr val="FFFF00"/>
              </a:solidFill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1752601"/>
            <a:ext cx="4289425" cy="469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35CB1-E7BF-1D92-8522-188C2FAEF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752600"/>
            <a:ext cx="8001000" cy="5181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200" dirty="0"/>
              <a:t>A </a:t>
            </a:r>
            <a:r>
              <a:rPr lang="en-US" sz="2200" b="1" dirty="0"/>
              <a:t>controller</a:t>
            </a:r>
            <a:r>
              <a:rPr lang="en-US" sz="2200" dirty="0"/>
              <a:t> can send commands to its associated view to change the view's presentation of the model (e.g., by scrolling through a document). It can also send commands to the model to update the model's state (e.g., editing a document).</a:t>
            </a:r>
          </a:p>
          <a:p>
            <a:pPr>
              <a:defRPr/>
            </a:pPr>
            <a:r>
              <a:rPr lang="en-US" sz="2200" dirty="0"/>
              <a:t>A </a:t>
            </a:r>
            <a:r>
              <a:rPr lang="en-US" sz="2200" b="1" dirty="0"/>
              <a:t>model</a:t>
            </a:r>
            <a:r>
              <a:rPr lang="en-US" sz="2200" dirty="0"/>
              <a:t> notifies its associated views and controllers when there has been a change in its state. This notification allows the views to produce updated output, and the controllers to change the available set of commands. A </a:t>
            </a:r>
            <a:r>
              <a:rPr lang="en-US" sz="2200" i="1" dirty="0"/>
              <a:t>passive</a:t>
            </a:r>
            <a:r>
              <a:rPr lang="en-US" sz="2200" dirty="0"/>
              <a:t> implementation of MVC omits these notifications, because the application does not require them or the software platform does not support them.</a:t>
            </a:r>
          </a:p>
          <a:p>
            <a:pPr>
              <a:defRPr/>
            </a:pPr>
            <a:r>
              <a:rPr lang="en-US" sz="2200" dirty="0"/>
              <a:t>A </a:t>
            </a:r>
            <a:r>
              <a:rPr lang="en-US" sz="2200" b="1" dirty="0"/>
              <a:t>view</a:t>
            </a:r>
            <a:r>
              <a:rPr lang="en-US" sz="2200" dirty="0"/>
              <a:t> requests from the model the information that it needs to generate an output representation to the user.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B64EE-B6BA-01F3-D97A-13C06F9B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Observer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0">
              <a:buNone/>
              <a:defRPr/>
            </a:pPr>
            <a:r>
              <a:rPr lang="en-US" dirty="0"/>
              <a:t>The </a:t>
            </a:r>
            <a:r>
              <a:rPr lang="en-US" b="1" dirty="0"/>
              <a:t>observer pattern</a:t>
            </a:r>
            <a:r>
              <a:rPr lang="en-US" dirty="0"/>
              <a:t> is a </a:t>
            </a:r>
            <a:r>
              <a:rPr lang="en-US" dirty="0">
                <a:hlinkClick r:id="rId2" action="ppaction://hlinkfile" tooltip="Design pattern (computer science)"/>
              </a:rPr>
              <a:t>software design pattern</a:t>
            </a:r>
            <a:r>
              <a:rPr lang="en-US" dirty="0"/>
              <a:t> in which an </a:t>
            </a:r>
            <a:r>
              <a:rPr lang="en-US" dirty="0">
                <a:hlinkClick r:id="rId3" action="ppaction://hlinkfile" tooltip="Object (computer science)"/>
              </a:rPr>
              <a:t>object</a:t>
            </a:r>
            <a:r>
              <a:rPr lang="en-US" dirty="0"/>
              <a:t>, called the subject, maintains a list of its dependents, called observers, and notifies them automatically of any state changes, usually by calling one of their </a:t>
            </a:r>
            <a:r>
              <a:rPr lang="en-US" dirty="0">
                <a:hlinkClick r:id="rId4" action="ppaction://hlinkfile" tooltip="Method (computer science)"/>
              </a:rPr>
              <a:t>methods</a:t>
            </a:r>
            <a:r>
              <a:rPr lang="en-US" dirty="0"/>
              <a:t>. It is mainly used to implement distributed </a:t>
            </a:r>
            <a:r>
              <a:rPr lang="en-US" dirty="0">
                <a:hlinkClick r:id="rId5" action="ppaction://hlinkfile" tooltip="Event handling"/>
              </a:rPr>
              <a:t>event handling</a:t>
            </a:r>
            <a:r>
              <a:rPr lang="en-US" dirty="0"/>
              <a:t> systems. The Observer pattern is also a key part in the familiar </a:t>
            </a:r>
            <a:r>
              <a:rPr lang="en-US" dirty="0">
                <a:hlinkClick r:id="rId6" action="ppaction://hlinkfile" tooltip="Model View Controller"/>
              </a:rPr>
              <a:t>Model View Controller</a:t>
            </a:r>
            <a:r>
              <a:rPr lang="en-US" dirty="0"/>
              <a:t> (MVC) architectural pattern.</a:t>
            </a:r>
          </a:p>
          <a:p>
            <a:pPr marL="57150" indent="0">
              <a:buNone/>
              <a:defRPr/>
            </a:pPr>
            <a:r>
              <a:rPr lang="en-US" dirty="0">
                <a:hlinkClick r:id="rId7"/>
              </a:rPr>
              <a:t>https://docs.microsoft.com/en-us/previous-versions/msp-n-p/ee817669(v=pandp.10)?redirectedfrom=MSDN</a:t>
            </a:r>
            <a:endParaRPr lang="en-US" dirty="0"/>
          </a:p>
          <a:p>
            <a:pPr marL="57150" indent="0">
              <a:buNone/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802C6-A819-C6F0-CA22-B6085493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/>
              <a:t>Observer Pattern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25" y="1600199"/>
            <a:ext cx="9837825" cy="426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8514A-A4C8-3146-D24D-D5E241C1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Model-view-presenter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400" b="1" dirty="0"/>
              <a:t>Model–view–presenter</a:t>
            </a:r>
            <a:r>
              <a:rPr lang="en-US" sz="2400" dirty="0"/>
              <a:t> (</a:t>
            </a:r>
            <a:r>
              <a:rPr lang="en-US" sz="2400" b="1" dirty="0"/>
              <a:t>MVP</a:t>
            </a:r>
            <a:r>
              <a:rPr lang="en-US" sz="2400" dirty="0"/>
              <a:t>) is a derivative of the </a:t>
            </a:r>
            <a:r>
              <a:rPr lang="en-US" sz="2400" dirty="0">
                <a:hlinkClick r:id="rId2" action="ppaction://hlinkfile" tooltip="Model–view–controller"/>
              </a:rPr>
              <a:t>model–view–controller</a:t>
            </a:r>
            <a:r>
              <a:rPr lang="en-US" sz="2400" dirty="0"/>
              <a:t> (MVC) </a:t>
            </a:r>
            <a:r>
              <a:rPr lang="en-US" sz="2400" dirty="0">
                <a:hlinkClick r:id="rId3" action="ppaction://hlinkfile" tooltip="Software pattern"/>
              </a:rPr>
              <a:t>software pattern</a:t>
            </a:r>
            <a:r>
              <a:rPr lang="en-US" sz="2400" dirty="0"/>
              <a:t>, also used mostly for building </a:t>
            </a:r>
            <a:r>
              <a:rPr lang="en-US" sz="2400" dirty="0">
                <a:hlinkClick r:id="rId4" action="ppaction://hlinkfile" tooltip="User interface"/>
              </a:rPr>
              <a:t>user interfaces</a:t>
            </a:r>
            <a:r>
              <a:rPr lang="en-US" sz="2400" dirty="0"/>
              <a:t>.</a:t>
            </a:r>
          </a:p>
          <a:p>
            <a:pPr>
              <a:defRPr/>
            </a:pPr>
            <a:r>
              <a:rPr lang="en-US" sz="2400" dirty="0"/>
              <a:t>In MVP the </a:t>
            </a:r>
            <a:r>
              <a:rPr lang="en-US" sz="2400" i="1" dirty="0"/>
              <a:t>presenter</a:t>
            </a:r>
            <a:r>
              <a:rPr lang="en-US" sz="2400" dirty="0"/>
              <a:t> assumes the functionality of the "middle-man" (played by the controller in MVC). In MVP, all presentation logic is pushed to the presenter. Eventually, the </a:t>
            </a:r>
            <a:r>
              <a:rPr lang="en-US" sz="2400" i="1" dirty="0"/>
              <a:t>model</a:t>
            </a:r>
            <a:r>
              <a:rPr lang="en-US" sz="2400" dirty="0"/>
              <a:t> becomes strictly a </a:t>
            </a:r>
            <a:r>
              <a:rPr lang="en-US" sz="2400" dirty="0">
                <a:hlinkClick r:id="rId5" action="ppaction://hlinkfile" tooltip="Domain model"/>
              </a:rPr>
              <a:t>domain model</a:t>
            </a:r>
            <a:r>
              <a:rPr lang="en-US" sz="2400" dirty="0"/>
              <a:t>.</a:t>
            </a:r>
          </a:p>
          <a:p>
            <a:pPr>
              <a:defRPr/>
            </a:pPr>
            <a:r>
              <a:rPr lang="en-US" sz="2400" dirty="0"/>
              <a:t>The Model now does not talk directly to the view</a:t>
            </a:r>
          </a:p>
          <a:p>
            <a:pPr>
              <a:defRPr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61BE3-DCCF-613D-0491-E7CA4730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/>
              <a:t>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BE827-5242-4C92-BA49-E840FCCDA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25" y="1825626"/>
            <a:ext cx="8749615" cy="365141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6471E-D327-EB87-5246-6BB0E452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Model – View – View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1905000"/>
            <a:ext cx="9787094" cy="4114800"/>
          </a:xfrm>
        </p:spPr>
        <p:txBody>
          <a:bodyPr>
            <a:normAutofit lnSpcReduction="10000"/>
          </a:bodyPr>
          <a:lstStyle/>
          <a:p>
            <a:pPr algn="l"/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MVVM stands for </a:t>
            </a:r>
            <a:r>
              <a:rPr lang="en-CA" b="1" i="0" dirty="0">
                <a:solidFill>
                  <a:schemeClr val="tx1"/>
                </a:solidFill>
                <a:effectLst/>
                <a:latin typeface="Inter"/>
              </a:rPr>
              <a:t>Model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, </a:t>
            </a:r>
            <a:r>
              <a:rPr lang="en-CA" b="1" i="0" dirty="0">
                <a:solidFill>
                  <a:schemeClr val="tx1"/>
                </a:solidFill>
                <a:effectLst/>
                <a:latin typeface="Inter"/>
              </a:rPr>
              <a:t>View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, </a:t>
            </a:r>
            <a:r>
              <a:rPr lang="en-CA" b="1" i="0" dirty="0" err="1">
                <a:solidFill>
                  <a:schemeClr val="tx1"/>
                </a:solidFill>
                <a:effectLst/>
                <a:latin typeface="Inter"/>
              </a:rPr>
              <a:t>ViewModel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chemeClr val="tx1"/>
                </a:solidFill>
                <a:effectLst/>
                <a:latin typeface="Inter"/>
              </a:rPr>
              <a:t>Model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: This holds the data of the application. It cannot directly talk to the View. Generally, it’s recommended to expose the data to the </a:t>
            </a:r>
            <a:r>
              <a:rPr lang="en-CA" b="0" i="0" dirty="0" err="1">
                <a:solidFill>
                  <a:schemeClr val="tx1"/>
                </a:solidFill>
                <a:effectLst/>
                <a:latin typeface="Inter"/>
              </a:rPr>
              <a:t>ViewModel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 through Observables.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>
                <a:solidFill>
                  <a:schemeClr val="tx1"/>
                </a:solidFill>
                <a:effectLst/>
                <a:latin typeface="Inter"/>
              </a:rPr>
              <a:t>View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: It represents the UI of the application devoid of any Application Logic. It observes the </a:t>
            </a:r>
            <a:r>
              <a:rPr lang="en-CA" b="0" i="0" dirty="0" err="1">
                <a:solidFill>
                  <a:schemeClr val="tx1"/>
                </a:solidFill>
                <a:effectLst/>
                <a:latin typeface="Inter"/>
              </a:rPr>
              <a:t>ViewModel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b="1" i="0" dirty="0" err="1">
                <a:solidFill>
                  <a:schemeClr val="tx1"/>
                </a:solidFill>
                <a:effectLst/>
                <a:latin typeface="Inter"/>
              </a:rPr>
              <a:t>ViewModel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: It acts as a link between the Model and the View. It’s responsible for transforming the data from the Model. It provides data streams to the View. It also uses hooks or </a:t>
            </a:r>
            <a:r>
              <a:rPr lang="en-CA" b="0" i="0" dirty="0" err="1">
                <a:solidFill>
                  <a:schemeClr val="tx1"/>
                </a:solidFill>
                <a:effectLst/>
                <a:latin typeface="Inter"/>
              </a:rPr>
              <a:t>callbacks</a:t>
            </a:r>
            <a:r>
              <a:rPr lang="en-CA" b="0" i="0" dirty="0">
                <a:solidFill>
                  <a:schemeClr val="tx1"/>
                </a:solidFill>
                <a:effectLst/>
                <a:latin typeface="Inter"/>
              </a:rPr>
              <a:t> to update the View. It’ll ask for the data from the Model.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0CB2E-477D-D050-2620-D76488C1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MVVM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Interaction between View – </a:t>
            </a:r>
            <a:r>
              <a:rPr lang="en-US" altLang="en-US" dirty="0" err="1"/>
              <a:t>ViewModel</a:t>
            </a:r>
            <a:r>
              <a:rPr lang="en-US" altLang="en-US" dirty="0"/>
              <a:t> -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522B6-06F8-406A-ACC6-1DA75A25D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39" y="2854484"/>
            <a:ext cx="7489371" cy="22936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2C811-8F16-58E9-7259-D730056D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ViewModel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view classes have no idea that the model classes exist, while the </a:t>
            </a:r>
            <a:r>
              <a:rPr lang="en-US" dirty="0" err="1"/>
              <a:t>ViewModel</a:t>
            </a:r>
            <a:r>
              <a:rPr lang="en-US" dirty="0"/>
              <a:t> and model are unaware of the view.</a:t>
            </a:r>
          </a:p>
          <a:p>
            <a:pPr>
              <a:defRPr/>
            </a:pPr>
            <a:r>
              <a:rPr lang="en-US" dirty="0"/>
              <a:t>Very loosely coupled design (A good thing)</a:t>
            </a:r>
          </a:p>
          <a:p>
            <a:pPr>
              <a:defRPr/>
            </a:pPr>
            <a:r>
              <a:rPr lang="en-US" dirty="0"/>
              <a:t>The </a:t>
            </a:r>
            <a:r>
              <a:rPr lang="en-US" dirty="0" err="1"/>
              <a:t>ViewModel</a:t>
            </a:r>
            <a:r>
              <a:rPr lang="en-US" dirty="0"/>
              <a:t> class also allows data to survive device-configuration changes such as screen rotations and changes to </a:t>
            </a:r>
            <a:r>
              <a:rPr lang="en-US"/>
              <a:t>keyboard availability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C3AF1-6812-9560-3C7F-368DC7E6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0851-CDCD-9193-CAE4-13EAE494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ViewModel</a:t>
            </a:r>
            <a:r>
              <a:rPr lang="en-US" dirty="0"/>
              <a:t> Lifecycle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3DEBD-5227-E859-EF2B-53D86027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  <p:pic>
        <p:nvPicPr>
          <p:cNvPr id="1026" name="Picture 2" descr="Illustrates the lifecycle of a ViewModel as an activity changes state.">
            <a:extLst>
              <a:ext uri="{FF2B5EF4-FFF2-40B4-BE49-F238E27FC236}">
                <a16:creationId xmlns:a16="http://schemas.microsoft.com/office/drawing/2014/main" id="{E4816EAB-54B2-F5FF-6E8E-2A2424B6FE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760" y="1825625"/>
            <a:ext cx="418305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70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Create your </a:t>
            </a:r>
            <a:r>
              <a:rPr lang="en-US" dirty="0" err="1"/>
              <a:t>ViewModel</a:t>
            </a:r>
            <a:r>
              <a:rPr lang="en-US" dirty="0"/>
              <a:t>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</a:t>
            </a:r>
            <a:r>
              <a:rPr lang="en-US" dirty="0" err="1"/>
              <a:t>ViewModel</a:t>
            </a:r>
            <a:r>
              <a:rPr lang="en-US" dirty="0"/>
              <a:t> file should be based off the </a:t>
            </a:r>
            <a:r>
              <a:rPr lang="en-US" dirty="0" err="1"/>
              <a:t>ViewModel</a:t>
            </a:r>
            <a:r>
              <a:rPr lang="en-US" dirty="0"/>
              <a:t>()</a:t>
            </a:r>
          </a:p>
          <a:p>
            <a:pPr marL="457200" lvl="1" indent="0">
              <a:buNone/>
              <a:defRPr/>
            </a:pPr>
            <a:r>
              <a:rPr lang="en-US" dirty="0"/>
              <a:t>class </a:t>
            </a:r>
            <a:r>
              <a:rPr lang="en-US" dirty="0" err="1"/>
              <a:t>MainViewModel</a:t>
            </a:r>
            <a:r>
              <a:rPr lang="en-US" dirty="0"/>
              <a:t>: </a:t>
            </a:r>
            <a:r>
              <a:rPr lang="en-US" dirty="0" err="1"/>
              <a:t>ViewModel</a:t>
            </a:r>
            <a:r>
              <a:rPr lang="en-US" dirty="0"/>
              <a:t>()</a:t>
            </a:r>
          </a:p>
          <a:p>
            <a:pPr marL="457200" lvl="1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</a:t>
            </a:r>
            <a:r>
              <a:rPr lang="en-US" dirty="0" err="1"/>
              <a:t>ViewModel</a:t>
            </a:r>
            <a:r>
              <a:rPr lang="en-US" dirty="0"/>
              <a:t> file has the following lifecycle callbacks</a:t>
            </a:r>
          </a:p>
          <a:p>
            <a:pPr lvl="1">
              <a:defRPr/>
            </a:pPr>
            <a:r>
              <a:rPr lang="en-US" dirty="0" err="1"/>
              <a:t>init</a:t>
            </a:r>
            <a:r>
              <a:rPr lang="en-US" dirty="0"/>
              <a:t> : When created</a:t>
            </a:r>
          </a:p>
          <a:p>
            <a:pPr lvl="1">
              <a:defRPr/>
            </a:pPr>
            <a:r>
              <a:rPr lang="en-US" dirty="0" err="1"/>
              <a:t>onCleared</a:t>
            </a:r>
            <a:r>
              <a:rPr lang="en-US" dirty="0"/>
              <a:t>() : When destroyed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4D02F-A3AA-0663-0B0C-AF66463B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28039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F606-A48B-4BAD-8E59-0796432A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Let your Activity file know about the </a:t>
            </a:r>
            <a:r>
              <a:rPr lang="en-CA" dirty="0" err="1"/>
              <a:t>ViewModel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0AA47-AEB3-4D49-9FB3-46A560C7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Create an instance of your </a:t>
            </a:r>
            <a:r>
              <a:rPr lang="en-CA" dirty="0" err="1"/>
              <a:t>ViewModel</a:t>
            </a:r>
            <a:r>
              <a:rPr lang="en-CA" dirty="0"/>
              <a:t> in the Activity</a:t>
            </a:r>
          </a:p>
          <a:p>
            <a:r>
              <a:rPr lang="en-CA" dirty="0"/>
              <a:t>Always use the </a:t>
            </a:r>
            <a:r>
              <a:rPr lang="en-CA" dirty="0" err="1"/>
              <a:t>ViewModelProvider</a:t>
            </a:r>
            <a:r>
              <a:rPr lang="en-CA" dirty="0"/>
              <a:t> to get the instance of your </a:t>
            </a:r>
            <a:r>
              <a:rPr lang="en-CA" dirty="0" err="1"/>
              <a:t>ViewModel</a:t>
            </a:r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 </a:t>
            </a:r>
            <a:r>
              <a:rPr lang="en-CA" sz="2400" dirty="0"/>
              <a:t>private </a:t>
            </a:r>
            <a:r>
              <a:rPr lang="en-CA" sz="2400" dirty="0" err="1"/>
              <a:t>lateinit</a:t>
            </a:r>
            <a:r>
              <a:rPr lang="en-CA" sz="2400" dirty="0"/>
              <a:t> var </a:t>
            </a:r>
            <a:r>
              <a:rPr lang="en-CA" sz="2400" dirty="0" err="1"/>
              <a:t>viewModel</a:t>
            </a:r>
            <a:r>
              <a:rPr lang="en-CA" sz="2400" dirty="0"/>
              <a:t>: </a:t>
            </a:r>
            <a:r>
              <a:rPr lang="en-CA" sz="2400" dirty="0" err="1"/>
              <a:t>MainViewModel</a:t>
            </a:r>
            <a:endParaRPr lang="en-CA" sz="2400" dirty="0"/>
          </a:p>
          <a:p>
            <a:pPr marL="0" indent="0">
              <a:buNone/>
            </a:pPr>
            <a:r>
              <a:rPr lang="en-CA" sz="2400" dirty="0"/>
              <a:t>// initializing the </a:t>
            </a:r>
            <a:r>
              <a:rPr lang="en-CA" sz="2400" dirty="0" err="1"/>
              <a:t>viewModel</a:t>
            </a:r>
            <a:endParaRPr lang="en-CA"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viewModel</a:t>
            </a:r>
            <a:r>
              <a:rPr lang="en-US" sz="2400" dirty="0"/>
              <a:t> = </a:t>
            </a:r>
            <a:r>
              <a:rPr lang="en-US" sz="2400" dirty="0" err="1"/>
              <a:t>ViewModelProvider</a:t>
            </a:r>
            <a:r>
              <a:rPr lang="en-US" sz="2400" dirty="0"/>
              <a:t>(this).get(</a:t>
            </a:r>
            <a:r>
              <a:rPr lang="en-US" sz="2400" dirty="0" err="1"/>
              <a:t>MainViewModel</a:t>
            </a:r>
            <a:r>
              <a:rPr lang="en-US" sz="2400" dirty="0"/>
              <a:t>::class.java)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Use </a:t>
            </a:r>
            <a:r>
              <a:rPr lang="en-US" sz="2400" dirty="0" err="1"/>
              <a:t>viewModel</a:t>
            </a:r>
            <a:r>
              <a:rPr lang="en-US" sz="2400" dirty="0"/>
              <a:t> to access the elements of the </a:t>
            </a:r>
            <a:r>
              <a:rPr lang="en-US" sz="2400" dirty="0" err="1"/>
              <a:t>ViewModel</a:t>
            </a:r>
            <a:r>
              <a:rPr lang="en-US" sz="2400" dirty="0"/>
              <a:t> file needed</a:t>
            </a:r>
            <a:endParaRPr lang="en-C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40A90-FAC7-45F4-A468-6883F3B2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1937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1A47-C694-61BA-CEF7-F467D0FB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Data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C2FCC-DAEA-9D34-97DD-2759A82E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58D3AA-582A-493D-51F2-3CF0F0E44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LiveData</a:t>
            </a:r>
            <a:r>
              <a:rPr lang="en-US" dirty="0"/>
              <a:t> is an observable data holder class</a:t>
            </a:r>
          </a:p>
          <a:p>
            <a:r>
              <a:rPr lang="en-US" dirty="0"/>
              <a:t>Unlike regular observables, </a:t>
            </a:r>
            <a:r>
              <a:rPr lang="en-US" dirty="0" err="1"/>
              <a:t>LiveData</a:t>
            </a:r>
            <a:r>
              <a:rPr lang="en-US" dirty="0"/>
              <a:t> is </a:t>
            </a:r>
            <a:r>
              <a:rPr lang="en-US" dirty="0" err="1"/>
              <a:t>LifeCycle</a:t>
            </a:r>
            <a:r>
              <a:rPr lang="en-US" dirty="0"/>
              <a:t> Aware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/>
              <a:t>Ensures your UI matches your data state</a:t>
            </a:r>
          </a:p>
          <a:p>
            <a:pPr lvl="1"/>
            <a:r>
              <a:rPr lang="en-US" dirty="0"/>
              <a:t>No memory leaks</a:t>
            </a:r>
          </a:p>
          <a:p>
            <a:pPr lvl="1"/>
            <a:r>
              <a:rPr lang="en-US" dirty="0"/>
              <a:t>No crashes due to stopped activities</a:t>
            </a:r>
          </a:p>
          <a:p>
            <a:pPr lvl="1"/>
            <a:r>
              <a:rPr lang="en-US" dirty="0"/>
              <a:t>No more manual lifecycle handling</a:t>
            </a:r>
          </a:p>
          <a:p>
            <a:pPr lvl="1"/>
            <a:r>
              <a:rPr lang="en-US" dirty="0"/>
              <a:t>Always up to date data</a:t>
            </a:r>
          </a:p>
          <a:p>
            <a:pPr lvl="1"/>
            <a:r>
              <a:rPr lang="en-US" dirty="0"/>
              <a:t>Proper configuration changes</a:t>
            </a:r>
          </a:p>
          <a:p>
            <a:pPr lvl="1"/>
            <a:r>
              <a:rPr lang="en-US" dirty="0"/>
              <a:t>Sharing resources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2334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D714-72AB-A87F-DE72-9A9C0167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</a:t>
            </a:r>
            <a:r>
              <a:rPr lang="en-US" dirty="0" err="1"/>
              <a:t>LiveData</a:t>
            </a:r>
            <a:r>
              <a:rPr lang="en-US" dirty="0"/>
              <a:t> objects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D391-4616-5E61-3B9A-773F9A6A4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an instance of </a:t>
            </a:r>
            <a:r>
              <a:rPr lang="en-US" dirty="0" err="1"/>
              <a:t>LiveData</a:t>
            </a:r>
            <a:r>
              <a:rPr lang="en-US" dirty="0"/>
              <a:t>, usually done within your </a:t>
            </a:r>
            <a:r>
              <a:rPr lang="en-US" dirty="0" err="1"/>
              <a:t>ViewModel</a:t>
            </a:r>
            <a:r>
              <a:rPr lang="en-US" dirty="0"/>
              <a:t>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an Observer object that defines the </a:t>
            </a:r>
            <a:r>
              <a:rPr lang="en-US" dirty="0" err="1"/>
              <a:t>onChanged</a:t>
            </a:r>
            <a:r>
              <a:rPr lang="en-US" dirty="0"/>
              <a:t>() method that controls what happens when the </a:t>
            </a:r>
            <a:r>
              <a:rPr lang="en-US" dirty="0" err="1"/>
              <a:t>LiveData</a:t>
            </a:r>
            <a:r>
              <a:rPr lang="en-US" dirty="0"/>
              <a:t> object’s held data changes, usually done within your activity or fragment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Attach the Observer object to the </a:t>
            </a:r>
            <a:r>
              <a:rPr lang="en-US" dirty="0" err="1"/>
              <a:t>LiveData</a:t>
            </a:r>
            <a:r>
              <a:rPr lang="en-US" dirty="0"/>
              <a:t> object using the observe() method.   This subscribes the Observer object to the </a:t>
            </a:r>
            <a:r>
              <a:rPr lang="en-US" dirty="0" err="1"/>
              <a:t>LiveData</a:t>
            </a:r>
            <a:r>
              <a:rPr lang="en-US" dirty="0"/>
              <a:t> object so that it is notified of changes.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FE1C3-D512-144B-850B-9648A7D0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46257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8C31-4762-0823-C0DA-1705B033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</a:t>
            </a:r>
            <a:r>
              <a:rPr lang="en-US" dirty="0" err="1"/>
              <a:t>LiveData</a:t>
            </a:r>
            <a:r>
              <a:rPr lang="en-US" dirty="0"/>
              <a:t> objects (</a:t>
            </a:r>
            <a:r>
              <a:rPr lang="en-US" dirty="0" err="1"/>
              <a:t>ViewModel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24647-85AF-6AA9-22B1-863C262B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8D91DB9-3580-7638-8FFF-735B375EC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000" y="2016137"/>
            <a:ext cx="806810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NameViewModel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ViewModel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// Create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LiveData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with a String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currentName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MutableLiveData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&lt;String&gt; by lazy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MutableLiveData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&lt;String&gt;()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// Rest of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ViewModel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...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4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E314-C31B-841B-B4F4-DDBB391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</a:t>
            </a:r>
            <a:r>
              <a:rPr lang="en-US" dirty="0" err="1"/>
              <a:t>LiveData</a:t>
            </a:r>
            <a:r>
              <a:rPr lang="en-US" dirty="0"/>
              <a:t> objects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054C8-7DDF-0C3D-86E0-90FF50D9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0DA29CB-67AB-3DB5-DB6D-F655047DC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0727" y="1595021"/>
            <a:ext cx="781643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class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NameActivity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AppCompatActivity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// Use the 'by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viewModels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()' Kotlin property delegate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// from the activity-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ktx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artifact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private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model: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NameViewModel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by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viewModels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override fun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onCreate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savedInstanceState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: Bundle?)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super.onCreate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savedInstanceState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// Other code to setup the activity...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// Create the observer which updates the UI.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nameObserver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= Observer&lt;String&gt; {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newName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-&gt;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    // Update the UI, in this case,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TextView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   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nameTextView.text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newName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// Observe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LiveData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, passing in this activity as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LifecycleOwner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and the observer.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   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model.currentName.observe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(this,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nameObserver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}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50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B7B1-B079-A101-E8CE-6D36FD5C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</a:t>
            </a:r>
            <a:r>
              <a:rPr lang="en-US" dirty="0" err="1"/>
              <a:t>LiveData</a:t>
            </a:r>
            <a:r>
              <a:rPr lang="en-US" dirty="0"/>
              <a:t> objects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60509-2D47-0AEE-9EEA-B653FA963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   INFO 5126</a:t>
            </a:r>
            <a:endParaRPr lang="en-CA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2EDFC3-646A-8644-2E58-D6E51036F3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000" y="3093355"/>
            <a:ext cx="704917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button.setOnClickListener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anotherName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= "John Doe"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model.currentName.setValue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anotherName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03231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ppt/theme/theme2.xml><?xml version="1.0" encoding="utf-8"?>
<a:theme xmlns:a="http://schemas.openxmlformats.org/drawingml/2006/main" name="1_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37E83F48E1B947BA144F01D433B256" ma:contentTypeVersion="1" ma:contentTypeDescription="Create a new document." ma:contentTypeScope="" ma:versionID="c2c2b872c230f87a98398bb25c4a7ced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E756869-9962-4606-92B6-CE70A6D54A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56C6D1-49A7-4440-8B83-FC37D7CAEF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6FDB0E-203A-4270-B866-A774D641BE4B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28491</TotalTime>
  <Words>1139</Words>
  <Application>Microsoft Office PowerPoint</Application>
  <PresentationFormat>Widescreen</PresentationFormat>
  <Paragraphs>107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</vt:lpstr>
      <vt:lpstr>Calibri</vt:lpstr>
      <vt:lpstr>Corbel</vt:lpstr>
      <vt:lpstr>Inter</vt:lpstr>
      <vt:lpstr>var(--devsite-code-font-family)</vt:lpstr>
      <vt:lpstr>Wingdings</vt:lpstr>
      <vt:lpstr>Depth</vt:lpstr>
      <vt:lpstr>1_Depth</vt:lpstr>
      <vt:lpstr>MVVM and LiveData</vt:lpstr>
      <vt:lpstr>MVVM Advantages and Disadvantages</vt:lpstr>
      <vt:lpstr>History</vt:lpstr>
      <vt:lpstr>Model – View – Controller (MVC)</vt:lpstr>
      <vt:lpstr>MVC</vt:lpstr>
      <vt:lpstr>Observer Pattern</vt:lpstr>
      <vt:lpstr>Observer Pattern</vt:lpstr>
      <vt:lpstr>Model-view-presenter</vt:lpstr>
      <vt:lpstr>MVP</vt:lpstr>
      <vt:lpstr>Model – View – View Model</vt:lpstr>
      <vt:lpstr>MVVM</vt:lpstr>
      <vt:lpstr>ViewModel</vt:lpstr>
      <vt:lpstr>ViewModel Lifecycle</vt:lpstr>
      <vt:lpstr>Create your ViewModel file</vt:lpstr>
      <vt:lpstr>Let your Activity file know about the ViewModel</vt:lpstr>
      <vt:lpstr>Live Data</vt:lpstr>
      <vt:lpstr>Working with LiveData objects</vt:lpstr>
      <vt:lpstr>Creating LiveData objects (ViewModel)</vt:lpstr>
      <vt:lpstr>Observe LiveData objects</vt:lpstr>
      <vt:lpstr>Update LiveData objects</vt:lpstr>
    </vt:vector>
  </TitlesOfParts>
  <Company>Fanshawe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Mansour Alqarni</dc:creator>
  <cp:lastModifiedBy>Wong, Lianne</cp:lastModifiedBy>
  <cp:revision>314</cp:revision>
  <dcterms:created xsi:type="dcterms:W3CDTF">2015-10-15T14:00:44Z</dcterms:created>
  <dcterms:modified xsi:type="dcterms:W3CDTF">2024-11-07T17:29:57Z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0x0101004C37E83F48E1B947BA144F01D433B256</vt:lpwstr>
  </property>
</Properties>
</file>