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25"/>
  </p:notesMasterIdLst>
  <p:sldIdLst>
    <p:sldId id="256" r:id="rId2"/>
    <p:sldId id="474" r:id="rId3"/>
    <p:sldId id="476" r:id="rId4"/>
    <p:sldId id="477" r:id="rId5"/>
    <p:sldId id="478" r:id="rId6"/>
    <p:sldId id="480" r:id="rId7"/>
    <p:sldId id="481" r:id="rId8"/>
    <p:sldId id="483" r:id="rId9"/>
    <p:sldId id="484" r:id="rId10"/>
    <p:sldId id="485" r:id="rId11"/>
    <p:sldId id="473" r:id="rId12"/>
    <p:sldId id="490" r:id="rId13"/>
    <p:sldId id="486" r:id="rId14"/>
    <p:sldId id="488" r:id="rId15"/>
    <p:sldId id="487" r:id="rId16"/>
    <p:sldId id="493" r:id="rId17"/>
    <p:sldId id="495" r:id="rId18"/>
    <p:sldId id="482" r:id="rId19"/>
    <p:sldId id="491" r:id="rId20"/>
    <p:sldId id="492" r:id="rId21"/>
    <p:sldId id="494" r:id="rId22"/>
    <p:sldId id="496" r:id="rId23"/>
    <p:sldId id="489" r:id="rId2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24486C"/>
    <a:srgbClr val="336699"/>
    <a:srgbClr val="9078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2" autoAdjust="0"/>
    <p:restoredTop sz="94434" autoAdjust="0"/>
  </p:normalViewPr>
  <p:slideViewPr>
    <p:cSldViewPr>
      <p:cViewPr varScale="1">
        <p:scale>
          <a:sx n="60" d="100"/>
          <a:sy n="60" d="100"/>
        </p:scale>
        <p:origin x="63" y="285"/>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4994ED-5633-4F42-84DF-9C78D6558F59}" type="datetimeFigureOut">
              <a:rPr lang="en-CA" smtClean="0"/>
              <a:t>2025-09-19</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00AA8B-7C4D-4D35-AF8A-9363DA5A4FCA}" type="slidenum">
              <a:rPr lang="en-CA" smtClean="0"/>
              <a:t>‹#›</a:t>
            </a:fld>
            <a:endParaRPr lang="en-CA"/>
          </a:p>
        </p:txBody>
      </p:sp>
    </p:spTree>
    <p:extLst>
      <p:ext uri="{BB962C8B-B14F-4D97-AF65-F5344CB8AC3E}">
        <p14:creationId xmlns:p14="http://schemas.microsoft.com/office/powerpoint/2010/main" val="106653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1" y="6350"/>
            <a:ext cx="12187767" cy="6851650"/>
            <a:chOff x="0" y="4"/>
            <a:chExt cx="5758" cy="4316"/>
          </a:xfrm>
        </p:grpSpPr>
        <p:grpSp>
          <p:nvGrpSpPr>
            <p:cNvPr id="5" name="Group 3"/>
            <p:cNvGrpSpPr>
              <a:grpSpLocks/>
            </p:cNvGrpSpPr>
            <p:nvPr/>
          </p:nvGrpSpPr>
          <p:grpSpPr bwMode="auto">
            <a:xfrm>
              <a:off x="0" y="1161"/>
              <a:ext cx="5758" cy="3159"/>
              <a:chOff x="0" y="1161"/>
              <a:chExt cx="5758" cy="3159"/>
            </a:xfrm>
          </p:grpSpPr>
          <p:sp>
            <p:nvSpPr>
              <p:cNvPr id="16" name="Freeform 4"/>
              <p:cNvSpPr>
                <a:spLocks/>
              </p:cNvSpPr>
              <p:nvPr/>
            </p:nvSpPr>
            <p:spPr bwMode="hidden">
              <a:xfrm>
                <a:off x="558" y="1161"/>
                <a:ext cx="5200" cy="3159"/>
              </a:xfrm>
              <a:custGeom>
                <a:avLst/>
                <a:gdLst>
                  <a:gd name="T0" fmla="*/ 0 w 5184"/>
                  <a:gd name="T1" fmla="*/ 3159 h 3159"/>
                  <a:gd name="T2" fmla="*/ 5428 w 5184"/>
                  <a:gd name="T3" fmla="*/ 3159 h 3159"/>
                  <a:gd name="T4" fmla="*/ 5428 w 5184"/>
                  <a:gd name="T5" fmla="*/ 0 h 3159"/>
                  <a:gd name="T6" fmla="*/ 0 w 5184"/>
                  <a:gd name="T7" fmla="*/ 0 h 3159"/>
                  <a:gd name="T8" fmla="*/ 0 w 5184"/>
                  <a:gd name="T9" fmla="*/ 3159 h 3159"/>
                  <a:gd name="T10" fmla="*/ 0 w 5184"/>
                  <a:gd name="T11" fmla="*/ 3159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84" h="3159">
                    <a:moveTo>
                      <a:pt x="0" y="3159"/>
                    </a:moveTo>
                    <a:lnTo>
                      <a:pt x="5184" y="3159"/>
                    </a:lnTo>
                    <a:lnTo>
                      <a:pt x="5184" y="0"/>
                    </a:lnTo>
                    <a:lnTo>
                      <a:pt x="0" y="0"/>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7" name="Freeform 5"/>
              <p:cNvSpPr>
                <a:spLocks/>
              </p:cNvSpPr>
              <p:nvPr/>
            </p:nvSpPr>
            <p:spPr bwMode="hidden">
              <a:xfrm>
                <a:off x="0" y="1161"/>
                <a:ext cx="558" cy="3159"/>
              </a:xfrm>
              <a:custGeom>
                <a:avLst/>
                <a:gdLst>
                  <a:gd name="T0" fmla="*/ 0 w 556"/>
                  <a:gd name="T1" fmla="*/ 0 h 3159"/>
                  <a:gd name="T2" fmla="*/ 0 w 556"/>
                  <a:gd name="T3" fmla="*/ 3159 h 3159"/>
                  <a:gd name="T4" fmla="*/ 586 w 556"/>
                  <a:gd name="T5" fmla="*/ 3159 h 3159"/>
                  <a:gd name="T6" fmla="*/ 586 w 556"/>
                  <a:gd name="T7" fmla="*/ 0 h 3159"/>
                  <a:gd name="T8" fmla="*/ 0 w 556"/>
                  <a:gd name="T9" fmla="*/ 0 h 3159"/>
                  <a:gd name="T10" fmla="*/ 0 w 556"/>
                  <a:gd name="T11" fmla="*/ 0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6" h="3159">
                    <a:moveTo>
                      <a:pt x="0" y="0"/>
                    </a:moveTo>
                    <a:lnTo>
                      <a:pt x="0" y="3159"/>
                    </a:lnTo>
                    <a:lnTo>
                      <a:pt x="556" y="3159"/>
                    </a:lnTo>
                    <a:lnTo>
                      <a:pt x="556"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sp>
          <p:nvSpPr>
            <p:cNvPr id="6" name="Freeform 6"/>
            <p:cNvSpPr>
              <a:spLocks/>
            </p:cNvSpPr>
            <p:nvPr/>
          </p:nvSpPr>
          <p:spPr bwMode="ltGray">
            <a:xfrm>
              <a:off x="552" y="951"/>
              <a:ext cx="12" cy="42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a:defRPr/>
              </a:pPr>
              <a:endParaRPr lang="en-US"/>
            </a:p>
          </p:txBody>
        </p:sp>
        <p:sp>
          <p:nvSpPr>
            <p:cNvPr id="7" name="Freeform 7"/>
            <p:cNvSpPr>
              <a:spLocks/>
            </p:cNvSpPr>
            <p:nvPr/>
          </p:nvSpPr>
          <p:spPr bwMode="ltGray">
            <a:xfrm>
              <a:off x="767" y="1155"/>
              <a:ext cx="252" cy="12"/>
            </a:xfrm>
            <a:custGeom>
              <a:avLst/>
              <a:gdLst>
                <a:gd name="T0" fmla="*/ 266 w 251"/>
                <a:gd name="T1" fmla="*/ 0 h 12"/>
                <a:gd name="T2" fmla="*/ 0 w 251"/>
                <a:gd name="T3" fmla="*/ 0 h 12"/>
                <a:gd name="T4" fmla="*/ 0 w 251"/>
                <a:gd name="T5" fmla="*/ 12 h 12"/>
                <a:gd name="T6" fmla="*/ 266 w 251"/>
                <a:gd name="T7" fmla="*/ 12 h 12"/>
                <a:gd name="T8" fmla="*/ 266 w 251"/>
                <a:gd name="T9" fmla="*/ 0 h 12"/>
                <a:gd name="T10" fmla="*/ 266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251" y="0"/>
                  </a:moveTo>
                  <a:lnTo>
                    <a:pt x="0" y="0"/>
                  </a:lnTo>
                  <a:lnTo>
                    <a:pt x="0" y="12"/>
                  </a:lnTo>
                  <a:lnTo>
                    <a:pt x="251" y="12"/>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8" name="Freeform 8"/>
            <p:cNvSpPr>
              <a:spLocks/>
            </p:cNvSpPr>
            <p:nvPr/>
          </p:nvSpPr>
          <p:spPr bwMode="ltGray">
            <a:xfrm>
              <a:off x="0" y="1155"/>
              <a:ext cx="351" cy="12"/>
            </a:xfrm>
            <a:custGeom>
              <a:avLst/>
              <a:gdLst>
                <a:gd name="T0" fmla="*/ 0 w 251"/>
                <a:gd name="T1" fmla="*/ 0 h 12"/>
                <a:gd name="T2" fmla="*/ 0 w 251"/>
                <a:gd name="T3" fmla="*/ 12 h 12"/>
                <a:gd name="T4" fmla="*/ 38430 w 251"/>
                <a:gd name="T5" fmla="*/ 12 h 12"/>
                <a:gd name="T6" fmla="*/ 38430 w 251"/>
                <a:gd name="T7" fmla="*/ 0 h 12"/>
                <a:gd name="T8" fmla="*/ 0 w 251"/>
                <a:gd name="T9" fmla="*/ 0 h 12"/>
                <a:gd name="T10" fmla="*/ 0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0" y="0"/>
                  </a:moveTo>
                  <a:lnTo>
                    <a:pt x="0" y="12"/>
                  </a:lnTo>
                  <a:lnTo>
                    <a:pt x="251" y="12"/>
                  </a:lnTo>
                  <a:lnTo>
                    <a:pt x="251"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nvGrpSpPr>
            <p:cNvPr id="9" name="Group 9"/>
            <p:cNvGrpSpPr>
              <a:grpSpLocks/>
            </p:cNvGrpSpPr>
            <p:nvPr/>
          </p:nvGrpSpPr>
          <p:grpSpPr bwMode="auto">
            <a:xfrm>
              <a:off x="348" y="4"/>
              <a:ext cx="5410" cy="4316"/>
              <a:chOff x="348" y="4"/>
              <a:chExt cx="5410" cy="4316"/>
            </a:xfrm>
          </p:grpSpPr>
          <p:sp>
            <p:nvSpPr>
              <p:cNvPr id="10" name="Freeform 10"/>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95">
                    <a:moveTo>
                      <a:pt x="12" y="0"/>
                    </a:moveTo>
                    <a:lnTo>
                      <a:pt x="0" y="0"/>
                    </a:lnTo>
                    <a:lnTo>
                      <a:pt x="0" y="695"/>
                    </a:lnTo>
                    <a:lnTo>
                      <a:pt x="12" y="695"/>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1" name="Freeform 11"/>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697">
                    <a:moveTo>
                      <a:pt x="0" y="2697"/>
                    </a:moveTo>
                    <a:lnTo>
                      <a:pt x="12" y="2697"/>
                    </a:lnTo>
                    <a:lnTo>
                      <a:pt x="12" y="0"/>
                    </a:lnTo>
                    <a:lnTo>
                      <a:pt x="0" y="0"/>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2" name="Freeform 12"/>
              <p:cNvSpPr>
                <a:spLocks/>
              </p:cNvSpPr>
              <p:nvPr/>
            </p:nvSpPr>
            <p:spPr bwMode="ltGray">
              <a:xfrm>
                <a:off x="1019" y="1155"/>
                <a:ext cx="4739" cy="12"/>
              </a:xfrm>
              <a:custGeom>
                <a:avLst/>
                <a:gdLst>
                  <a:gd name="T0" fmla="*/ 4953 w 4724"/>
                  <a:gd name="T1" fmla="*/ 0 h 12"/>
                  <a:gd name="T2" fmla="*/ 0 w 4724"/>
                  <a:gd name="T3" fmla="*/ 0 h 12"/>
                  <a:gd name="T4" fmla="*/ 0 w 4724"/>
                  <a:gd name="T5" fmla="*/ 12 h 12"/>
                  <a:gd name="T6" fmla="*/ 4953 w 4724"/>
                  <a:gd name="T7" fmla="*/ 12 h 12"/>
                  <a:gd name="T8" fmla="*/ 4953 w 4724"/>
                  <a:gd name="T9" fmla="*/ 0 h 12"/>
                  <a:gd name="T10" fmla="*/ 4953 w 472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24" h="12">
                    <a:moveTo>
                      <a:pt x="4724" y="0"/>
                    </a:moveTo>
                    <a:lnTo>
                      <a:pt x="0" y="0"/>
                    </a:lnTo>
                    <a:lnTo>
                      <a:pt x="0" y="12"/>
                    </a:lnTo>
                    <a:lnTo>
                      <a:pt x="4724" y="12"/>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3" name="Freeform 13"/>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0" y="252"/>
                    </a:moveTo>
                    <a:lnTo>
                      <a:pt x="12" y="252"/>
                    </a:lnTo>
                    <a:lnTo>
                      <a:pt x="12" y="0"/>
                    </a:lnTo>
                    <a:lnTo>
                      <a:pt x="0" y="0"/>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4" name="Freeform 14"/>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12" y="0"/>
                    </a:moveTo>
                    <a:lnTo>
                      <a:pt x="0" y="0"/>
                    </a:lnTo>
                    <a:lnTo>
                      <a:pt x="0" y="252"/>
                    </a:lnTo>
                    <a:lnTo>
                      <a:pt x="12" y="252"/>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5" name="Freeform 15"/>
              <p:cNvSpPr>
                <a:spLocks/>
              </p:cNvSpPr>
              <p:nvPr/>
            </p:nvSpPr>
            <p:spPr bwMode="ltGray">
              <a:xfrm>
                <a:off x="348" y="1155"/>
                <a:ext cx="419" cy="12"/>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a:defRPr/>
                </a:pPr>
                <a:endParaRPr lang="en-US"/>
              </a:p>
            </p:txBody>
          </p:sp>
        </p:grpSp>
      </p:grpSp>
      <p:sp>
        <p:nvSpPr>
          <p:cNvPr id="110608" name="Rectangle 16"/>
          <p:cNvSpPr>
            <a:spLocks noGrp="1" noChangeArrowheads="1"/>
          </p:cNvSpPr>
          <p:nvPr>
            <p:ph type="ctrTitle" sz="quarter"/>
          </p:nvPr>
        </p:nvSpPr>
        <p:spPr>
          <a:xfrm>
            <a:off x="1422400" y="1997076"/>
            <a:ext cx="9448800" cy="1431925"/>
          </a:xfrm>
        </p:spPr>
        <p:txBody>
          <a:bodyPr anchor="b"/>
          <a:lstStyle>
            <a:lvl1pPr>
              <a:defRPr/>
            </a:lvl1pPr>
          </a:lstStyle>
          <a:p>
            <a:r>
              <a:rPr lang="en-US"/>
              <a:t>Click to edit Master title style</a:t>
            </a:r>
          </a:p>
        </p:txBody>
      </p:sp>
      <p:sp>
        <p:nvSpPr>
          <p:cNvPr id="110609" name="Rectangle 17"/>
          <p:cNvSpPr>
            <a:spLocks noGrp="1" noChangeArrowheads="1"/>
          </p:cNvSpPr>
          <p:nvPr>
            <p:ph type="subTitle" sz="quarter" idx="1"/>
          </p:nvPr>
        </p:nvSpPr>
        <p:spPr>
          <a:xfrm>
            <a:off x="1422400" y="3886200"/>
            <a:ext cx="8534400" cy="1752600"/>
          </a:xfrm>
        </p:spPr>
        <p:txBody>
          <a:bodyPr/>
          <a:lstStyle>
            <a:lvl1pPr marL="0" indent="0">
              <a:buFont typeface="Wingdings" pitchFamily="2" charset="2"/>
              <a:buNone/>
              <a:defRPr/>
            </a:lvl1pPr>
          </a:lstStyle>
          <a:p>
            <a:r>
              <a:rPr lang="en-US"/>
              <a:t>Click to edit Master subtitle style</a:t>
            </a:r>
          </a:p>
        </p:txBody>
      </p:sp>
      <p:sp>
        <p:nvSpPr>
          <p:cNvPr id="18" name="Rectangle 18"/>
          <p:cNvSpPr>
            <a:spLocks noGrp="1" noChangeArrowheads="1"/>
          </p:cNvSpPr>
          <p:nvPr>
            <p:ph type="dt" sz="quarter" idx="10"/>
          </p:nvPr>
        </p:nvSpPr>
        <p:spPr/>
        <p:txBody>
          <a:bodyPr/>
          <a:lstStyle>
            <a:lvl1pPr>
              <a:defRPr/>
            </a:lvl1pPr>
          </a:lstStyle>
          <a:p>
            <a:pPr>
              <a:defRPr/>
            </a:pPr>
            <a:endParaRPr lang="en-US"/>
          </a:p>
        </p:txBody>
      </p:sp>
      <p:sp>
        <p:nvSpPr>
          <p:cNvPr id="19" name="Rectangle 19"/>
          <p:cNvSpPr>
            <a:spLocks noGrp="1" noChangeArrowheads="1"/>
          </p:cNvSpPr>
          <p:nvPr>
            <p:ph type="ftr" sz="quarter" idx="11"/>
          </p:nvPr>
        </p:nvSpPr>
        <p:spPr>
          <a:xfrm>
            <a:off x="4470400" y="6248400"/>
            <a:ext cx="3860800" cy="457200"/>
          </a:xfrm>
        </p:spPr>
        <p:txBody>
          <a:bodyPr/>
          <a:lstStyle>
            <a:lvl1pPr>
              <a:defRPr/>
            </a:lvl1pPr>
          </a:lstStyle>
          <a:p>
            <a:pPr>
              <a:defRPr/>
            </a:pPr>
            <a:r>
              <a:rPr lang="en-US"/>
              <a:t>L Wong                                           INFO 5126</a:t>
            </a:r>
          </a:p>
        </p:txBody>
      </p:sp>
      <p:sp>
        <p:nvSpPr>
          <p:cNvPr id="20" name="Rectangle 20"/>
          <p:cNvSpPr>
            <a:spLocks noGrp="1" noChangeArrowheads="1"/>
          </p:cNvSpPr>
          <p:nvPr>
            <p:ph type="sldNum" sz="quarter" idx="12"/>
          </p:nvPr>
        </p:nvSpPr>
        <p:spPr/>
        <p:txBody>
          <a:bodyPr/>
          <a:lstStyle>
            <a:lvl1pPr>
              <a:defRPr/>
            </a:lvl1pPr>
          </a:lstStyle>
          <a:p>
            <a:pPr>
              <a:defRPr/>
            </a:pPr>
            <a:fld id="{AC281D62-F355-4919-8001-23F823AF700E}" type="slidenum">
              <a:rPr lang="en-US" altLang="en-US"/>
              <a:pPr>
                <a:defRPr/>
              </a:pPr>
              <a:t>‹#›</a:t>
            </a:fld>
            <a:endParaRPr lang="en-US" altLang="en-US"/>
          </a:p>
        </p:txBody>
      </p:sp>
    </p:spTree>
    <p:extLst>
      <p:ext uri="{BB962C8B-B14F-4D97-AF65-F5344CB8AC3E}">
        <p14:creationId xmlns:p14="http://schemas.microsoft.com/office/powerpoint/2010/main" val="3420292998"/>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6" name="Rectangle 19"/>
          <p:cNvSpPr>
            <a:spLocks noGrp="1" noChangeArrowheads="1"/>
          </p:cNvSpPr>
          <p:nvPr>
            <p:ph type="sldNum" sz="quarter" idx="12"/>
          </p:nvPr>
        </p:nvSpPr>
        <p:spPr>
          <a:ln/>
        </p:spPr>
        <p:txBody>
          <a:bodyPr/>
          <a:lstStyle>
            <a:lvl1pPr>
              <a:defRPr/>
            </a:lvl1pPr>
          </a:lstStyle>
          <a:p>
            <a:pPr>
              <a:defRPr/>
            </a:pPr>
            <a:fld id="{4ECA80FA-30CC-4CE4-9723-C8A985F13174}" type="slidenum">
              <a:rPr lang="en-US" altLang="en-US"/>
              <a:pPr>
                <a:defRPr/>
              </a:pPr>
              <a:t>‹#›</a:t>
            </a:fld>
            <a:endParaRPr lang="en-US" altLang="en-US"/>
          </a:p>
        </p:txBody>
      </p:sp>
    </p:spTree>
    <p:extLst>
      <p:ext uri="{BB962C8B-B14F-4D97-AF65-F5344CB8AC3E}">
        <p14:creationId xmlns:p14="http://schemas.microsoft.com/office/powerpoint/2010/main" val="567355934"/>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6" name="Rectangle 19"/>
          <p:cNvSpPr>
            <a:spLocks noGrp="1" noChangeArrowheads="1"/>
          </p:cNvSpPr>
          <p:nvPr>
            <p:ph type="sldNum" sz="quarter" idx="12"/>
          </p:nvPr>
        </p:nvSpPr>
        <p:spPr>
          <a:ln/>
        </p:spPr>
        <p:txBody>
          <a:bodyPr/>
          <a:lstStyle>
            <a:lvl1pPr>
              <a:defRPr/>
            </a:lvl1pPr>
          </a:lstStyle>
          <a:p>
            <a:pPr>
              <a:defRPr/>
            </a:pPr>
            <a:fld id="{C50E6BA9-4B9B-4E63-A503-411005439F76}" type="slidenum">
              <a:rPr lang="en-US" altLang="en-US"/>
              <a:pPr>
                <a:defRPr/>
              </a:pPr>
              <a:t>‹#›</a:t>
            </a:fld>
            <a:endParaRPr lang="en-US" altLang="en-US"/>
          </a:p>
        </p:txBody>
      </p:sp>
    </p:spTree>
    <p:extLst>
      <p:ext uri="{BB962C8B-B14F-4D97-AF65-F5344CB8AC3E}">
        <p14:creationId xmlns:p14="http://schemas.microsoft.com/office/powerpoint/2010/main" val="124846552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22400" y="1981200"/>
            <a:ext cx="4927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53200" y="1981200"/>
            <a:ext cx="49276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7" name="Rectangle 19"/>
          <p:cNvSpPr>
            <a:spLocks noGrp="1" noChangeArrowheads="1"/>
          </p:cNvSpPr>
          <p:nvPr>
            <p:ph type="sldNum" sz="quarter" idx="12"/>
          </p:nvPr>
        </p:nvSpPr>
        <p:spPr>
          <a:ln/>
        </p:spPr>
        <p:txBody>
          <a:bodyPr/>
          <a:lstStyle>
            <a:lvl1pPr>
              <a:defRPr/>
            </a:lvl1pPr>
          </a:lstStyle>
          <a:p>
            <a:pPr>
              <a:defRPr/>
            </a:pPr>
            <a:fld id="{CE95F634-1283-4CBD-AD5C-FA71BD0FDD5F}" type="slidenum">
              <a:rPr lang="en-US" altLang="en-US"/>
              <a:pPr>
                <a:defRPr/>
              </a:pPr>
              <a:t>‹#›</a:t>
            </a:fld>
            <a:endParaRPr lang="en-US" altLang="en-US"/>
          </a:p>
        </p:txBody>
      </p:sp>
    </p:spTree>
    <p:extLst>
      <p:ext uri="{BB962C8B-B14F-4D97-AF65-F5344CB8AC3E}">
        <p14:creationId xmlns:p14="http://schemas.microsoft.com/office/powerpoint/2010/main" val="339193908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7"/>
          <p:cNvSpPr>
            <a:spLocks noGrp="1" noChangeArrowheads="1"/>
          </p:cNvSpPr>
          <p:nvPr>
            <p:ph type="dt" sz="half" idx="10"/>
          </p:nvPr>
        </p:nvSpPr>
        <p:spPr>
          <a:ln/>
        </p:spPr>
        <p:txBody>
          <a:bodyPr/>
          <a:lstStyle>
            <a:lvl1pPr>
              <a:defRPr/>
            </a:lvl1pPr>
          </a:lstStyle>
          <a:p>
            <a:pPr>
              <a:defRPr/>
            </a:pPr>
            <a:endParaRPr lang="en-US"/>
          </a:p>
        </p:txBody>
      </p:sp>
      <p:sp>
        <p:nvSpPr>
          <p:cNvPr id="8"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9" name="Rectangle 19"/>
          <p:cNvSpPr>
            <a:spLocks noGrp="1" noChangeArrowheads="1"/>
          </p:cNvSpPr>
          <p:nvPr>
            <p:ph type="sldNum" sz="quarter" idx="12"/>
          </p:nvPr>
        </p:nvSpPr>
        <p:spPr>
          <a:ln/>
        </p:spPr>
        <p:txBody>
          <a:bodyPr/>
          <a:lstStyle>
            <a:lvl1pPr>
              <a:defRPr/>
            </a:lvl1pPr>
          </a:lstStyle>
          <a:p>
            <a:pPr>
              <a:defRPr/>
            </a:pPr>
            <a:fld id="{00B634E8-CFEB-4CB3-B7AD-61DFD3D02B31}" type="slidenum">
              <a:rPr lang="en-US" altLang="en-US"/>
              <a:pPr>
                <a:defRPr/>
              </a:pPr>
              <a:t>‹#›</a:t>
            </a:fld>
            <a:endParaRPr lang="en-US" altLang="en-US"/>
          </a:p>
        </p:txBody>
      </p:sp>
    </p:spTree>
    <p:extLst>
      <p:ext uri="{BB962C8B-B14F-4D97-AF65-F5344CB8AC3E}">
        <p14:creationId xmlns:p14="http://schemas.microsoft.com/office/powerpoint/2010/main" val="3008370553"/>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7"/>
          <p:cNvSpPr>
            <a:spLocks noGrp="1" noChangeArrowheads="1"/>
          </p:cNvSpPr>
          <p:nvPr>
            <p:ph type="dt" sz="half" idx="10"/>
          </p:nvPr>
        </p:nvSpPr>
        <p:spPr>
          <a:ln/>
        </p:spPr>
        <p:txBody>
          <a:bodyPr/>
          <a:lstStyle>
            <a:lvl1pPr>
              <a:defRPr/>
            </a:lvl1pPr>
          </a:lstStyle>
          <a:p>
            <a:pPr>
              <a:defRPr/>
            </a:pPr>
            <a:endParaRPr lang="en-US"/>
          </a:p>
        </p:txBody>
      </p:sp>
      <p:sp>
        <p:nvSpPr>
          <p:cNvPr id="4"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5" name="Rectangle 19"/>
          <p:cNvSpPr>
            <a:spLocks noGrp="1" noChangeArrowheads="1"/>
          </p:cNvSpPr>
          <p:nvPr>
            <p:ph type="sldNum" sz="quarter" idx="12"/>
          </p:nvPr>
        </p:nvSpPr>
        <p:spPr>
          <a:ln/>
        </p:spPr>
        <p:txBody>
          <a:bodyPr/>
          <a:lstStyle>
            <a:lvl1pPr>
              <a:defRPr/>
            </a:lvl1pPr>
          </a:lstStyle>
          <a:p>
            <a:pPr>
              <a:defRPr/>
            </a:pPr>
            <a:fld id="{188B1502-B1FE-47FB-8931-892F5A4A8D4D}" type="slidenum">
              <a:rPr lang="en-US" altLang="en-US"/>
              <a:pPr>
                <a:defRPr/>
              </a:pPr>
              <a:t>‹#›</a:t>
            </a:fld>
            <a:endParaRPr lang="en-US" altLang="en-US"/>
          </a:p>
        </p:txBody>
      </p:sp>
    </p:spTree>
    <p:extLst>
      <p:ext uri="{BB962C8B-B14F-4D97-AF65-F5344CB8AC3E}">
        <p14:creationId xmlns:p14="http://schemas.microsoft.com/office/powerpoint/2010/main" val="3583825676"/>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7"/>
          <p:cNvSpPr>
            <a:spLocks noGrp="1" noChangeArrowheads="1"/>
          </p:cNvSpPr>
          <p:nvPr>
            <p:ph type="dt" sz="half" idx="10"/>
          </p:nvPr>
        </p:nvSpPr>
        <p:spPr>
          <a:ln/>
        </p:spPr>
        <p:txBody>
          <a:bodyPr/>
          <a:lstStyle>
            <a:lvl1pPr>
              <a:defRPr/>
            </a:lvl1pPr>
          </a:lstStyle>
          <a:p>
            <a:pPr>
              <a:defRPr/>
            </a:pPr>
            <a:endParaRPr lang="en-US"/>
          </a:p>
        </p:txBody>
      </p:sp>
      <p:sp>
        <p:nvSpPr>
          <p:cNvPr id="3"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4" name="Rectangle 19"/>
          <p:cNvSpPr>
            <a:spLocks noGrp="1" noChangeArrowheads="1"/>
          </p:cNvSpPr>
          <p:nvPr>
            <p:ph type="sldNum" sz="quarter" idx="12"/>
          </p:nvPr>
        </p:nvSpPr>
        <p:spPr>
          <a:ln/>
        </p:spPr>
        <p:txBody>
          <a:bodyPr/>
          <a:lstStyle>
            <a:lvl1pPr>
              <a:defRPr/>
            </a:lvl1pPr>
          </a:lstStyle>
          <a:p>
            <a:pPr>
              <a:defRPr/>
            </a:pPr>
            <a:fld id="{83423652-9EFD-46C0-9E59-F66A9EBC4C63}" type="slidenum">
              <a:rPr lang="en-US" altLang="en-US"/>
              <a:pPr>
                <a:defRPr/>
              </a:pPr>
              <a:t>‹#›</a:t>
            </a:fld>
            <a:endParaRPr lang="en-US" altLang="en-US"/>
          </a:p>
        </p:txBody>
      </p:sp>
    </p:spTree>
    <p:extLst>
      <p:ext uri="{BB962C8B-B14F-4D97-AF65-F5344CB8AC3E}">
        <p14:creationId xmlns:p14="http://schemas.microsoft.com/office/powerpoint/2010/main" val="1136770531"/>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7" name="Rectangle 19"/>
          <p:cNvSpPr>
            <a:spLocks noGrp="1" noChangeArrowheads="1"/>
          </p:cNvSpPr>
          <p:nvPr>
            <p:ph type="sldNum" sz="quarter" idx="12"/>
          </p:nvPr>
        </p:nvSpPr>
        <p:spPr>
          <a:ln/>
        </p:spPr>
        <p:txBody>
          <a:bodyPr/>
          <a:lstStyle>
            <a:lvl1pPr>
              <a:defRPr/>
            </a:lvl1pPr>
          </a:lstStyle>
          <a:p>
            <a:pPr>
              <a:defRPr/>
            </a:pPr>
            <a:fld id="{E47D6E34-25BB-4A8D-A9B1-0F74589CAEFF}" type="slidenum">
              <a:rPr lang="en-US" altLang="en-US"/>
              <a:pPr>
                <a:defRPr/>
              </a:pPr>
              <a:t>‹#›</a:t>
            </a:fld>
            <a:endParaRPr lang="en-US" altLang="en-US"/>
          </a:p>
        </p:txBody>
      </p:sp>
    </p:spTree>
    <p:extLst>
      <p:ext uri="{BB962C8B-B14F-4D97-AF65-F5344CB8AC3E}">
        <p14:creationId xmlns:p14="http://schemas.microsoft.com/office/powerpoint/2010/main" val="3060899340"/>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7"/>
          <p:cNvSpPr>
            <a:spLocks noGrp="1" noChangeArrowheads="1"/>
          </p:cNvSpPr>
          <p:nvPr>
            <p:ph type="dt" sz="half" idx="10"/>
          </p:nvPr>
        </p:nvSpPr>
        <p:spPr>
          <a:ln/>
        </p:spPr>
        <p:txBody>
          <a:bodyPr/>
          <a:lstStyle>
            <a:lvl1pPr>
              <a:defRPr/>
            </a:lvl1pPr>
          </a:lstStyle>
          <a:p>
            <a:pPr>
              <a:defRPr/>
            </a:pPr>
            <a:endParaRPr lang="en-US"/>
          </a:p>
        </p:txBody>
      </p:sp>
      <p:sp>
        <p:nvSpPr>
          <p:cNvPr id="6"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7" name="Rectangle 19"/>
          <p:cNvSpPr>
            <a:spLocks noGrp="1" noChangeArrowheads="1"/>
          </p:cNvSpPr>
          <p:nvPr>
            <p:ph type="sldNum" sz="quarter" idx="12"/>
          </p:nvPr>
        </p:nvSpPr>
        <p:spPr>
          <a:ln/>
        </p:spPr>
        <p:txBody>
          <a:bodyPr/>
          <a:lstStyle>
            <a:lvl1pPr>
              <a:defRPr/>
            </a:lvl1pPr>
          </a:lstStyle>
          <a:p>
            <a:pPr>
              <a:defRPr/>
            </a:pPr>
            <a:fld id="{977C6670-6047-4544-BCEA-06B389B1DA42}" type="slidenum">
              <a:rPr lang="en-US" altLang="en-US"/>
              <a:pPr>
                <a:defRPr/>
              </a:pPr>
              <a:t>‹#›</a:t>
            </a:fld>
            <a:endParaRPr lang="en-US" altLang="en-US"/>
          </a:p>
        </p:txBody>
      </p:sp>
    </p:spTree>
    <p:extLst>
      <p:ext uri="{BB962C8B-B14F-4D97-AF65-F5344CB8AC3E}">
        <p14:creationId xmlns:p14="http://schemas.microsoft.com/office/powerpoint/2010/main" val="2914419458"/>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6" name="Rectangle 19"/>
          <p:cNvSpPr>
            <a:spLocks noGrp="1" noChangeArrowheads="1"/>
          </p:cNvSpPr>
          <p:nvPr>
            <p:ph type="sldNum" sz="quarter" idx="12"/>
          </p:nvPr>
        </p:nvSpPr>
        <p:spPr>
          <a:ln/>
        </p:spPr>
        <p:txBody>
          <a:bodyPr/>
          <a:lstStyle>
            <a:lvl1pPr>
              <a:defRPr/>
            </a:lvl1pPr>
          </a:lstStyle>
          <a:p>
            <a:pPr>
              <a:defRPr/>
            </a:pPr>
            <a:fld id="{F7737AA9-7D5F-4D7D-A2A7-087ACA5825AE}" type="slidenum">
              <a:rPr lang="en-US" altLang="en-US"/>
              <a:pPr>
                <a:defRPr/>
              </a:pPr>
              <a:t>‹#›</a:t>
            </a:fld>
            <a:endParaRPr lang="en-US" altLang="en-US"/>
          </a:p>
        </p:txBody>
      </p:sp>
    </p:spTree>
    <p:extLst>
      <p:ext uri="{BB962C8B-B14F-4D97-AF65-F5344CB8AC3E}">
        <p14:creationId xmlns:p14="http://schemas.microsoft.com/office/powerpoint/2010/main" val="3025594879"/>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66200" y="304800"/>
            <a:ext cx="2514600"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22400" y="304800"/>
            <a:ext cx="734060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7"/>
          <p:cNvSpPr>
            <a:spLocks noGrp="1" noChangeArrowheads="1"/>
          </p:cNvSpPr>
          <p:nvPr>
            <p:ph type="dt" sz="half" idx="10"/>
          </p:nvPr>
        </p:nvSpPr>
        <p:spPr>
          <a:ln/>
        </p:spPr>
        <p:txBody>
          <a:bodyPr/>
          <a:lstStyle>
            <a:lvl1pPr>
              <a:defRPr/>
            </a:lvl1pPr>
          </a:lstStyle>
          <a:p>
            <a:pPr>
              <a:defRPr/>
            </a:pPr>
            <a:endParaRPr lang="en-US"/>
          </a:p>
        </p:txBody>
      </p:sp>
      <p:sp>
        <p:nvSpPr>
          <p:cNvPr id="5" name="Rectangle 18"/>
          <p:cNvSpPr>
            <a:spLocks noGrp="1" noChangeArrowheads="1"/>
          </p:cNvSpPr>
          <p:nvPr>
            <p:ph type="ftr" sz="quarter" idx="11"/>
          </p:nvPr>
        </p:nvSpPr>
        <p:spPr>
          <a:ln/>
        </p:spPr>
        <p:txBody>
          <a:bodyPr/>
          <a:lstStyle>
            <a:lvl1pPr>
              <a:defRPr/>
            </a:lvl1pPr>
          </a:lstStyle>
          <a:p>
            <a:pPr>
              <a:defRPr/>
            </a:pPr>
            <a:r>
              <a:rPr lang="en-US"/>
              <a:t>L Wong                                           INFO 5126</a:t>
            </a:r>
          </a:p>
        </p:txBody>
      </p:sp>
      <p:sp>
        <p:nvSpPr>
          <p:cNvPr id="6" name="Rectangle 19"/>
          <p:cNvSpPr>
            <a:spLocks noGrp="1" noChangeArrowheads="1"/>
          </p:cNvSpPr>
          <p:nvPr>
            <p:ph type="sldNum" sz="quarter" idx="12"/>
          </p:nvPr>
        </p:nvSpPr>
        <p:spPr>
          <a:ln/>
        </p:spPr>
        <p:txBody>
          <a:bodyPr/>
          <a:lstStyle>
            <a:lvl1pPr>
              <a:defRPr/>
            </a:lvl1pPr>
          </a:lstStyle>
          <a:p>
            <a:pPr>
              <a:defRPr/>
            </a:pPr>
            <a:fld id="{2926D819-B3CA-4126-A3B3-A5BDFC4160C1}" type="slidenum">
              <a:rPr lang="en-US" altLang="en-US"/>
              <a:pPr>
                <a:defRPr/>
              </a:pPr>
              <a:t>‹#›</a:t>
            </a:fld>
            <a:endParaRPr lang="en-US" altLang="en-US"/>
          </a:p>
        </p:txBody>
      </p:sp>
    </p:spTree>
    <p:extLst>
      <p:ext uri="{BB962C8B-B14F-4D97-AF65-F5344CB8AC3E}">
        <p14:creationId xmlns:p14="http://schemas.microsoft.com/office/powerpoint/2010/main" val="360459889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1" y="6350"/>
            <a:ext cx="12187767" cy="6851650"/>
            <a:chOff x="0" y="4"/>
            <a:chExt cx="5758" cy="4316"/>
          </a:xfrm>
        </p:grpSpPr>
        <p:sp>
          <p:nvSpPr>
            <p:cNvPr id="1032" name="Freeform 3"/>
            <p:cNvSpPr>
              <a:spLocks/>
            </p:cNvSpPr>
            <p:nvPr/>
          </p:nvSpPr>
          <p:spPr bwMode="hidden">
            <a:xfrm>
              <a:off x="558" y="1161"/>
              <a:ext cx="5200" cy="3159"/>
            </a:xfrm>
            <a:custGeom>
              <a:avLst/>
              <a:gdLst>
                <a:gd name="T0" fmla="*/ 0 w 5184"/>
                <a:gd name="T1" fmla="*/ 3159 h 3159"/>
                <a:gd name="T2" fmla="*/ 5428 w 5184"/>
                <a:gd name="T3" fmla="*/ 3159 h 3159"/>
                <a:gd name="T4" fmla="*/ 5428 w 5184"/>
                <a:gd name="T5" fmla="*/ 0 h 3159"/>
                <a:gd name="T6" fmla="*/ 0 w 5184"/>
                <a:gd name="T7" fmla="*/ 0 h 3159"/>
                <a:gd name="T8" fmla="*/ 0 w 5184"/>
                <a:gd name="T9" fmla="*/ 3159 h 3159"/>
                <a:gd name="T10" fmla="*/ 0 w 5184"/>
                <a:gd name="T11" fmla="*/ 3159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184" h="3159">
                  <a:moveTo>
                    <a:pt x="0" y="3159"/>
                  </a:moveTo>
                  <a:lnTo>
                    <a:pt x="5184" y="3159"/>
                  </a:lnTo>
                  <a:lnTo>
                    <a:pt x="5184" y="0"/>
                  </a:lnTo>
                  <a:lnTo>
                    <a:pt x="0" y="0"/>
                  </a:lnTo>
                  <a:lnTo>
                    <a:pt x="0" y="3159"/>
                  </a:lnTo>
                  <a:close/>
                </a:path>
              </a:pathLst>
            </a:custGeom>
            <a:gradFill rotWithShape="0">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33" name="Freeform 4"/>
            <p:cNvSpPr>
              <a:spLocks/>
            </p:cNvSpPr>
            <p:nvPr/>
          </p:nvSpPr>
          <p:spPr bwMode="hidden">
            <a:xfrm>
              <a:off x="0" y="1161"/>
              <a:ext cx="558" cy="3159"/>
            </a:xfrm>
            <a:custGeom>
              <a:avLst/>
              <a:gdLst>
                <a:gd name="T0" fmla="*/ 0 w 556"/>
                <a:gd name="T1" fmla="*/ 0 h 3159"/>
                <a:gd name="T2" fmla="*/ 0 w 556"/>
                <a:gd name="T3" fmla="*/ 3159 h 3159"/>
                <a:gd name="T4" fmla="*/ 586 w 556"/>
                <a:gd name="T5" fmla="*/ 3159 h 3159"/>
                <a:gd name="T6" fmla="*/ 586 w 556"/>
                <a:gd name="T7" fmla="*/ 0 h 3159"/>
                <a:gd name="T8" fmla="*/ 0 w 556"/>
                <a:gd name="T9" fmla="*/ 0 h 3159"/>
                <a:gd name="T10" fmla="*/ 0 w 556"/>
                <a:gd name="T11" fmla="*/ 0 h 315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556" h="3159">
                  <a:moveTo>
                    <a:pt x="0" y="0"/>
                  </a:moveTo>
                  <a:lnTo>
                    <a:pt x="0" y="3159"/>
                  </a:lnTo>
                  <a:lnTo>
                    <a:pt x="556" y="3159"/>
                  </a:lnTo>
                  <a:lnTo>
                    <a:pt x="556" y="0"/>
                  </a:lnTo>
                  <a:lnTo>
                    <a:pt x="0"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grpSp>
          <p:nvGrpSpPr>
            <p:cNvPr id="1034" name="Group 5"/>
            <p:cNvGrpSpPr>
              <a:grpSpLocks/>
            </p:cNvGrpSpPr>
            <p:nvPr userDrawn="1"/>
          </p:nvGrpSpPr>
          <p:grpSpPr bwMode="auto">
            <a:xfrm>
              <a:off x="0" y="4"/>
              <a:ext cx="5758" cy="4316"/>
              <a:chOff x="0" y="4"/>
              <a:chExt cx="5758" cy="4316"/>
            </a:xfrm>
          </p:grpSpPr>
          <p:sp>
            <p:nvSpPr>
              <p:cNvPr id="1035" name="Freeform 6"/>
              <p:cNvSpPr>
                <a:spLocks/>
              </p:cNvSpPr>
              <p:nvPr/>
            </p:nvSpPr>
            <p:spPr bwMode="ltGray">
              <a:xfrm>
                <a:off x="552" y="4"/>
                <a:ext cx="12" cy="695"/>
              </a:xfrm>
              <a:custGeom>
                <a:avLst/>
                <a:gdLst>
                  <a:gd name="T0" fmla="*/ 12 w 12"/>
                  <a:gd name="T1" fmla="*/ 0 h 695"/>
                  <a:gd name="T2" fmla="*/ 0 w 12"/>
                  <a:gd name="T3" fmla="*/ 0 h 695"/>
                  <a:gd name="T4" fmla="*/ 0 w 12"/>
                  <a:gd name="T5" fmla="*/ 695 h 695"/>
                  <a:gd name="T6" fmla="*/ 12 w 12"/>
                  <a:gd name="T7" fmla="*/ 695 h 695"/>
                  <a:gd name="T8" fmla="*/ 12 w 12"/>
                  <a:gd name="T9" fmla="*/ 0 h 695"/>
                  <a:gd name="T10" fmla="*/ 12 w 12"/>
                  <a:gd name="T11" fmla="*/ 0 h 69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695">
                    <a:moveTo>
                      <a:pt x="12" y="0"/>
                    </a:moveTo>
                    <a:lnTo>
                      <a:pt x="0" y="0"/>
                    </a:lnTo>
                    <a:lnTo>
                      <a:pt x="0" y="695"/>
                    </a:lnTo>
                    <a:lnTo>
                      <a:pt x="12" y="695"/>
                    </a:lnTo>
                    <a:lnTo>
                      <a:pt x="12" y="0"/>
                    </a:lnTo>
                    <a:close/>
                  </a:path>
                </a:pathLst>
              </a:custGeom>
              <a:gradFill rotWithShape="0">
                <a:gsLst>
                  <a:gs pos="0">
                    <a:schemeClr val="bg1"/>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36" name="Freeform 7"/>
              <p:cNvSpPr>
                <a:spLocks/>
              </p:cNvSpPr>
              <p:nvPr/>
            </p:nvSpPr>
            <p:spPr bwMode="ltGray">
              <a:xfrm>
                <a:off x="552" y="1623"/>
                <a:ext cx="12" cy="2697"/>
              </a:xfrm>
              <a:custGeom>
                <a:avLst/>
                <a:gdLst>
                  <a:gd name="T0" fmla="*/ 0 w 12"/>
                  <a:gd name="T1" fmla="*/ 2697 h 2697"/>
                  <a:gd name="T2" fmla="*/ 12 w 12"/>
                  <a:gd name="T3" fmla="*/ 2697 h 2697"/>
                  <a:gd name="T4" fmla="*/ 12 w 12"/>
                  <a:gd name="T5" fmla="*/ 0 h 2697"/>
                  <a:gd name="T6" fmla="*/ 0 w 12"/>
                  <a:gd name="T7" fmla="*/ 0 h 2697"/>
                  <a:gd name="T8" fmla="*/ 0 w 12"/>
                  <a:gd name="T9" fmla="*/ 2697 h 2697"/>
                  <a:gd name="T10" fmla="*/ 0 w 12"/>
                  <a:gd name="T11" fmla="*/ 2697 h 269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697">
                    <a:moveTo>
                      <a:pt x="0" y="2697"/>
                    </a:moveTo>
                    <a:lnTo>
                      <a:pt x="12" y="2697"/>
                    </a:lnTo>
                    <a:lnTo>
                      <a:pt x="12" y="0"/>
                    </a:lnTo>
                    <a:lnTo>
                      <a:pt x="0" y="0"/>
                    </a:lnTo>
                    <a:lnTo>
                      <a:pt x="0" y="2697"/>
                    </a:lnTo>
                    <a:close/>
                  </a:path>
                </a:pathLst>
              </a:custGeom>
              <a:gradFill rotWithShape="0">
                <a:gsLst>
                  <a:gs pos="0">
                    <a:schemeClr val="bg2"/>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37" name="Freeform 8"/>
              <p:cNvSpPr>
                <a:spLocks/>
              </p:cNvSpPr>
              <p:nvPr/>
            </p:nvSpPr>
            <p:spPr bwMode="ltGray">
              <a:xfrm>
                <a:off x="1019" y="1155"/>
                <a:ext cx="4739" cy="12"/>
              </a:xfrm>
              <a:custGeom>
                <a:avLst/>
                <a:gdLst>
                  <a:gd name="T0" fmla="*/ 4953 w 4724"/>
                  <a:gd name="T1" fmla="*/ 0 h 12"/>
                  <a:gd name="T2" fmla="*/ 0 w 4724"/>
                  <a:gd name="T3" fmla="*/ 0 h 12"/>
                  <a:gd name="T4" fmla="*/ 0 w 4724"/>
                  <a:gd name="T5" fmla="*/ 12 h 12"/>
                  <a:gd name="T6" fmla="*/ 4953 w 4724"/>
                  <a:gd name="T7" fmla="*/ 12 h 12"/>
                  <a:gd name="T8" fmla="*/ 4953 w 4724"/>
                  <a:gd name="T9" fmla="*/ 0 h 12"/>
                  <a:gd name="T10" fmla="*/ 4953 w 4724"/>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724" h="12">
                    <a:moveTo>
                      <a:pt x="4724" y="0"/>
                    </a:moveTo>
                    <a:lnTo>
                      <a:pt x="0" y="0"/>
                    </a:lnTo>
                    <a:lnTo>
                      <a:pt x="0" y="12"/>
                    </a:lnTo>
                    <a:lnTo>
                      <a:pt x="4724" y="12"/>
                    </a:lnTo>
                    <a:lnTo>
                      <a:pt x="4724" y="0"/>
                    </a:lnTo>
                    <a:close/>
                  </a:path>
                </a:pathLst>
              </a:cu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38" name="Freeform 9"/>
              <p:cNvSpPr>
                <a:spLocks/>
              </p:cNvSpPr>
              <p:nvPr/>
            </p:nvSpPr>
            <p:spPr bwMode="ltGray">
              <a:xfrm>
                <a:off x="552" y="1371"/>
                <a:ext cx="12" cy="252"/>
              </a:xfrm>
              <a:custGeom>
                <a:avLst/>
                <a:gdLst>
                  <a:gd name="T0" fmla="*/ 0 w 12"/>
                  <a:gd name="T1" fmla="*/ 252 h 252"/>
                  <a:gd name="T2" fmla="*/ 12 w 12"/>
                  <a:gd name="T3" fmla="*/ 252 h 252"/>
                  <a:gd name="T4" fmla="*/ 12 w 12"/>
                  <a:gd name="T5" fmla="*/ 0 h 252"/>
                  <a:gd name="T6" fmla="*/ 0 w 12"/>
                  <a:gd name="T7" fmla="*/ 0 h 252"/>
                  <a:gd name="T8" fmla="*/ 0 w 12"/>
                  <a:gd name="T9" fmla="*/ 252 h 252"/>
                  <a:gd name="T10" fmla="*/ 0 w 12"/>
                  <a:gd name="T11" fmla="*/ 252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0" y="252"/>
                    </a:moveTo>
                    <a:lnTo>
                      <a:pt x="12" y="252"/>
                    </a:lnTo>
                    <a:lnTo>
                      <a:pt x="12" y="0"/>
                    </a:lnTo>
                    <a:lnTo>
                      <a:pt x="0" y="0"/>
                    </a:lnTo>
                    <a:lnTo>
                      <a:pt x="0" y="252"/>
                    </a:lnTo>
                    <a:close/>
                  </a:path>
                </a:pathLst>
              </a:custGeom>
              <a:gradFill rotWithShape="0">
                <a:gsLst>
                  <a:gs pos="0">
                    <a:schemeClr val="accent2"/>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39" name="Freeform 10"/>
              <p:cNvSpPr>
                <a:spLocks/>
              </p:cNvSpPr>
              <p:nvPr/>
            </p:nvSpPr>
            <p:spPr bwMode="ltGray">
              <a:xfrm>
                <a:off x="552" y="699"/>
                <a:ext cx="12" cy="252"/>
              </a:xfrm>
              <a:custGeom>
                <a:avLst/>
                <a:gdLst>
                  <a:gd name="T0" fmla="*/ 12 w 12"/>
                  <a:gd name="T1" fmla="*/ 0 h 252"/>
                  <a:gd name="T2" fmla="*/ 0 w 12"/>
                  <a:gd name="T3" fmla="*/ 0 h 252"/>
                  <a:gd name="T4" fmla="*/ 0 w 12"/>
                  <a:gd name="T5" fmla="*/ 252 h 252"/>
                  <a:gd name="T6" fmla="*/ 12 w 12"/>
                  <a:gd name="T7" fmla="*/ 252 h 252"/>
                  <a:gd name="T8" fmla="*/ 12 w 12"/>
                  <a:gd name="T9" fmla="*/ 0 h 252"/>
                  <a:gd name="T10" fmla="*/ 12 w 12"/>
                  <a:gd name="T11" fmla="*/ 0 h 25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2" h="252">
                    <a:moveTo>
                      <a:pt x="12" y="0"/>
                    </a:moveTo>
                    <a:lnTo>
                      <a:pt x="0" y="0"/>
                    </a:lnTo>
                    <a:lnTo>
                      <a:pt x="0" y="252"/>
                    </a:lnTo>
                    <a:lnTo>
                      <a:pt x="12" y="252"/>
                    </a:lnTo>
                    <a:lnTo>
                      <a:pt x="12" y="0"/>
                    </a:lnTo>
                    <a:close/>
                  </a:path>
                </a:pathLst>
              </a:custGeom>
              <a:gradFill rotWithShape="0">
                <a:gsLst>
                  <a:gs pos="0">
                    <a:schemeClr val="bg2"/>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9579" name="Freeform 11"/>
              <p:cNvSpPr>
                <a:spLocks/>
              </p:cNvSpPr>
              <p:nvPr/>
            </p:nvSpPr>
            <p:spPr bwMode="ltGray">
              <a:xfrm>
                <a:off x="552" y="951"/>
                <a:ext cx="12" cy="420"/>
              </a:xfrm>
              <a:custGeom>
                <a:avLst/>
                <a:gdLst/>
                <a:ahLst/>
                <a:cxnLst>
                  <a:cxn ang="0">
                    <a:pos x="0" y="0"/>
                  </a:cxn>
                  <a:cxn ang="0">
                    <a:pos x="0" y="420"/>
                  </a:cxn>
                  <a:cxn ang="0">
                    <a:pos x="12" y="420"/>
                  </a:cxn>
                  <a:cxn ang="0">
                    <a:pos x="12" y="0"/>
                  </a:cxn>
                  <a:cxn ang="0">
                    <a:pos x="0" y="0"/>
                  </a:cxn>
                  <a:cxn ang="0">
                    <a:pos x="0" y="0"/>
                  </a:cxn>
                </a:cxnLst>
                <a:rect l="0" t="0" r="r" b="b"/>
                <a:pathLst>
                  <a:path w="12" h="420">
                    <a:moveTo>
                      <a:pt x="0" y="0"/>
                    </a:moveTo>
                    <a:lnTo>
                      <a:pt x="0" y="420"/>
                    </a:lnTo>
                    <a:lnTo>
                      <a:pt x="12" y="420"/>
                    </a:lnTo>
                    <a:lnTo>
                      <a:pt x="12" y="0"/>
                    </a:lnTo>
                    <a:lnTo>
                      <a:pt x="0" y="0"/>
                    </a:lnTo>
                    <a:lnTo>
                      <a:pt x="0" y="0"/>
                    </a:lnTo>
                    <a:close/>
                  </a:path>
                </a:pathLst>
              </a:custGeom>
              <a:gradFill rotWithShape="0">
                <a:gsLst>
                  <a:gs pos="0">
                    <a:schemeClr val="accent2"/>
                  </a:gs>
                  <a:gs pos="50000">
                    <a:schemeClr val="hlink"/>
                  </a:gs>
                  <a:gs pos="100000">
                    <a:schemeClr val="accent2"/>
                  </a:gs>
                </a:gsLst>
                <a:lin ang="5400000" scaled="1"/>
              </a:gradFill>
              <a:ln w="9525">
                <a:noFill/>
                <a:round/>
                <a:headEnd/>
                <a:tailEnd/>
              </a:ln>
            </p:spPr>
            <p:txBody>
              <a:bodyPr/>
              <a:lstStyle/>
              <a:p>
                <a:pPr>
                  <a:defRPr/>
                </a:pPr>
                <a:endParaRPr lang="en-US"/>
              </a:p>
            </p:txBody>
          </p:sp>
          <p:sp>
            <p:nvSpPr>
              <p:cNvPr id="1041" name="Freeform 12"/>
              <p:cNvSpPr>
                <a:spLocks/>
              </p:cNvSpPr>
              <p:nvPr/>
            </p:nvSpPr>
            <p:spPr bwMode="ltGray">
              <a:xfrm>
                <a:off x="0" y="1155"/>
                <a:ext cx="351" cy="12"/>
              </a:xfrm>
              <a:custGeom>
                <a:avLst/>
                <a:gdLst>
                  <a:gd name="T0" fmla="*/ 0 w 251"/>
                  <a:gd name="T1" fmla="*/ 0 h 12"/>
                  <a:gd name="T2" fmla="*/ 0 w 251"/>
                  <a:gd name="T3" fmla="*/ 12 h 12"/>
                  <a:gd name="T4" fmla="*/ 38430 w 251"/>
                  <a:gd name="T5" fmla="*/ 12 h 12"/>
                  <a:gd name="T6" fmla="*/ 38430 w 251"/>
                  <a:gd name="T7" fmla="*/ 0 h 12"/>
                  <a:gd name="T8" fmla="*/ 0 w 251"/>
                  <a:gd name="T9" fmla="*/ 0 h 12"/>
                  <a:gd name="T10" fmla="*/ 0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0" y="0"/>
                    </a:moveTo>
                    <a:lnTo>
                      <a:pt x="0" y="12"/>
                    </a:lnTo>
                    <a:lnTo>
                      <a:pt x="251" y="12"/>
                    </a:lnTo>
                    <a:lnTo>
                      <a:pt x="251" y="0"/>
                    </a:lnTo>
                    <a:lnTo>
                      <a:pt x="0" y="0"/>
                    </a:lnTo>
                    <a:close/>
                  </a:path>
                </a:pathLst>
              </a:custGeom>
              <a:gradFill rotWithShape="0">
                <a:gsLst>
                  <a:gs pos="0">
                    <a:schemeClr val="bg2"/>
                  </a:gs>
                  <a:gs pos="100000">
                    <a:schemeClr val="accent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42" name="Freeform 13"/>
              <p:cNvSpPr>
                <a:spLocks/>
              </p:cNvSpPr>
              <p:nvPr/>
            </p:nvSpPr>
            <p:spPr bwMode="ltGray">
              <a:xfrm>
                <a:off x="767" y="1155"/>
                <a:ext cx="252" cy="12"/>
              </a:xfrm>
              <a:custGeom>
                <a:avLst/>
                <a:gdLst>
                  <a:gd name="T0" fmla="*/ 266 w 251"/>
                  <a:gd name="T1" fmla="*/ 0 h 12"/>
                  <a:gd name="T2" fmla="*/ 0 w 251"/>
                  <a:gd name="T3" fmla="*/ 0 h 12"/>
                  <a:gd name="T4" fmla="*/ 0 w 251"/>
                  <a:gd name="T5" fmla="*/ 12 h 12"/>
                  <a:gd name="T6" fmla="*/ 266 w 251"/>
                  <a:gd name="T7" fmla="*/ 12 h 12"/>
                  <a:gd name="T8" fmla="*/ 266 w 251"/>
                  <a:gd name="T9" fmla="*/ 0 h 12"/>
                  <a:gd name="T10" fmla="*/ 266 w 251"/>
                  <a:gd name="T11" fmla="*/ 0 h 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1" h="12">
                    <a:moveTo>
                      <a:pt x="251" y="0"/>
                    </a:moveTo>
                    <a:lnTo>
                      <a:pt x="0" y="0"/>
                    </a:lnTo>
                    <a:lnTo>
                      <a:pt x="0" y="12"/>
                    </a:lnTo>
                    <a:lnTo>
                      <a:pt x="251" y="12"/>
                    </a:lnTo>
                    <a:lnTo>
                      <a:pt x="251" y="0"/>
                    </a:lnTo>
                    <a:close/>
                  </a:path>
                </a:pathLst>
              </a:custGeom>
              <a:gradFill rotWithShape="0">
                <a:gsLst>
                  <a:gs pos="0">
                    <a:schemeClr val="accent2"/>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CA"/>
              </a:p>
            </p:txBody>
          </p:sp>
          <p:sp>
            <p:nvSpPr>
              <p:cNvPr id="109582" name="Freeform 14"/>
              <p:cNvSpPr>
                <a:spLocks/>
              </p:cNvSpPr>
              <p:nvPr/>
            </p:nvSpPr>
            <p:spPr bwMode="ltGray">
              <a:xfrm>
                <a:off x="348" y="1155"/>
                <a:ext cx="419" cy="12"/>
              </a:xfrm>
              <a:custGeom>
                <a:avLst/>
                <a:gdLst/>
                <a:ahLst/>
                <a:cxnLst>
                  <a:cxn ang="0">
                    <a:pos x="0" y="0"/>
                  </a:cxn>
                  <a:cxn ang="0">
                    <a:pos x="0" y="12"/>
                  </a:cxn>
                  <a:cxn ang="0">
                    <a:pos x="418" y="12"/>
                  </a:cxn>
                  <a:cxn ang="0">
                    <a:pos x="418" y="0"/>
                  </a:cxn>
                  <a:cxn ang="0">
                    <a:pos x="0" y="0"/>
                  </a:cxn>
                  <a:cxn ang="0">
                    <a:pos x="0" y="0"/>
                  </a:cxn>
                </a:cxnLst>
                <a:rect l="0" t="0" r="r" b="b"/>
                <a:pathLst>
                  <a:path w="418" h="12">
                    <a:moveTo>
                      <a:pt x="0" y="0"/>
                    </a:moveTo>
                    <a:lnTo>
                      <a:pt x="0" y="12"/>
                    </a:lnTo>
                    <a:lnTo>
                      <a:pt x="418" y="12"/>
                    </a:lnTo>
                    <a:lnTo>
                      <a:pt x="418" y="0"/>
                    </a:lnTo>
                    <a:lnTo>
                      <a:pt x="0" y="0"/>
                    </a:lnTo>
                    <a:lnTo>
                      <a:pt x="0" y="0"/>
                    </a:lnTo>
                    <a:close/>
                  </a:path>
                </a:pathLst>
              </a:custGeom>
              <a:gradFill rotWithShape="0">
                <a:gsLst>
                  <a:gs pos="0">
                    <a:schemeClr val="accent2"/>
                  </a:gs>
                  <a:gs pos="50000">
                    <a:schemeClr val="hlink"/>
                  </a:gs>
                  <a:gs pos="100000">
                    <a:schemeClr val="accent2"/>
                  </a:gs>
                </a:gsLst>
                <a:lin ang="0" scaled="1"/>
              </a:gradFill>
              <a:ln w="9525">
                <a:noFill/>
                <a:round/>
                <a:headEnd/>
                <a:tailEnd/>
              </a:ln>
            </p:spPr>
            <p:txBody>
              <a:bodyPr/>
              <a:lstStyle/>
              <a:p>
                <a:pPr>
                  <a:defRPr/>
                </a:pPr>
                <a:endParaRPr lang="en-US"/>
              </a:p>
            </p:txBody>
          </p:sp>
        </p:grpSp>
      </p:grpSp>
      <p:sp>
        <p:nvSpPr>
          <p:cNvPr id="109583" name="Rectangle 15"/>
          <p:cNvSpPr>
            <a:spLocks noGrp="1" noChangeArrowheads="1"/>
          </p:cNvSpPr>
          <p:nvPr>
            <p:ph type="title"/>
          </p:nvPr>
        </p:nvSpPr>
        <p:spPr bwMode="auto">
          <a:xfrm>
            <a:off x="1422400" y="304801"/>
            <a:ext cx="10058400" cy="14319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9584" name="Rectangle 16"/>
          <p:cNvSpPr>
            <a:spLocks noGrp="1" noChangeArrowheads="1"/>
          </p:cNvSpPr>
          <p:nvPr>
            <p:ph type="body" idx="1"/>
          </p:nvPr>
        </p:nvSpPr>
        <p:spPr bwMode="auto">
          <a:xfrm>
            <a:off x="1422400" y="1981200"/>
            <a:ext cx="10058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9585" name="Rectangle 17"/>
          <p:cNvSpPr>
            <a:spLocks noGrp="1" noChangeArrowheads="1"/>
          </p:cNvSpPr>
          <p:nvPr>
            <p:ph type="dt" sz="half" idx="2"/>
          </p:nvPr>
        </p:nvSpPr>
        <p:spPr bwMode="auto">
          <a:xfrm>
            <a:off x="1422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defRPr>
            </a:lvl1pPr>
          </a:lstStyle>
          <a:p>
            <a:pPr>
              <a:defRPr/>
            </a:pPr>
            <a:endParaRPr lang="en-US"/>
          </a:p>
        </p:txBody>
      </p:sp>
      <p:sp>
        <p:nvSpPr>
          <p:cNvPr id="109586" name="Rectangle 18"/>
          <p:cNvSpPr>
            <a:spLocks noGrp="1" noChangeArrowheads="1"/>
          </p:cNvSpPr>
          <p:nvPr>
            <p:ph type="ftr" sz="quarter" idx="3"/>
          </p:nvPr>
        </p:nvSpPr>
        <p:spPr bwMode="auto">
          <a:xfrm>
            <a:off x="45720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defRPr>
            </a:lvl1pPr>
          </a:lstStyle>
          <a:p>
            <a:pPr>
              <a:defRPr/>
            </a:pPr>
            <a:r>
              <a:rPr lang="en-US"/>
              <a:t>L Wong                                           INFO 5126</a:t>
            </a:r>
          </a:p>
        </p:txBody>
      </p:sp>
      <p:sp>
        <p:nvSpPr>
          <p:cNvPr id="109587" name="Rectangle 19"/>
          <p:cNvSpPr>
            <a:spLocks noGrp="1" noChangeArrowheads="1"/>
          </p:cNvSpPr>
          <p:nvPr>
            <p:ph type="sldNum" sz="quarter" idx="4"/>
          </p:nvPr>
        </p:nvSpPr>
        <p:spPr bwMode="auto">
          <a:xfrm>
            <a:off x="89408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pPr>
              <a:defRPr/>
            </a:pPr>
            <a:fld id="{10E46034-4E46-45EC-B3E7-0F93ABC0876C}" type="slidenum">
              <a:rPr lang="en-US" altLang="en-US"/>
              <a:pPr>
                <a:defRPr/>
              </a:pPr>
              <a:t>‹#›</a:t>
            </a:fld>
            <a:endParaRPr lang="en-US" altLang="en-US"/>
          </a:p>
        </p:txBody>
      </p:sp>
    </p:spTree>
  </p:cSld>
  <p:clrMap bg1="dk2" tx1="lt1" bg2="dk1" tx2="lt2" accent1="accent1" accent2="accent2" accent3="accent3" accent4="accent4" accent5="accent5" accent6="accent6" hlink="hlink" folHlink="folHlink"/>
  <p:sldLayoutIdLst>
    <p:sldLayoutId id="2147483929" r:id="rId1"/>
    <p:sldLayoutId id="2147483919" r:id="rId2"/>
    <p:sldLayoutId id="2147483920" r:id="rId3"/>
    <p:sldLayoutId id="2147483921" r:id="rId4"/>
    <p:sldLayoutId id="2147483922" r:id="rId5"/>
    <p:sldLayoutId id="2147483923" r:id="rId6"/>
    <p:sldLayoutId id="2147483924" r:id="rId7"/>
    <p:sldLayoutId id="2147483925" r:id="rId8"/>
    <p:sldLayoutId id="2147483926" r:id="rId9"/>
    <p:sldLayoutId id="2147483927" r:id="rId10"/>
    <p:sldLayoutId id="2147483928" r:id="rId11"/>
  </p:sldLayoutIdLst>
  <p:transition spd="med"/>
  <p:hf sldNum="0" hd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Tahoma"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Tahoma" pitchFamily="34" charset="0"/>
        </a:defRPr>
      </a:lvl9pPr>
    </p:titleStyle>
    <p:bodyStyle>
      <a:lvl1pPr marL="342900" indent="-342900" algn="l" rtl="0" eaLnBrk="0" fontAlgn="base" hangingPunct="0">
        <a:spcBef>
          <a:spcPct val="20000"/>
        </a:spcBef>
        <a:spcAft>
          <a:spcPct val="0"/>
        </a:spcAft>
        <a:buClr>
          <a:schemeClr val="hlink"/>
        </a:buClr>
        <a:buSzPct val="7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SzPct val="70000"/>
        <a:buFont typeface="Wingdings" panose="05000000000000000000" pitchFamily="2" charset="2"/>
        <a:buChar char="n"/>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tx1"/>
        </a:buClr>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SzPct val="70000"/>
        <a:buFont typeface="Wingdings" panose="05000000000000000000" pitchFamily="2" charset="2"/>
        <a:buChar char="n"/>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SzPct val="70000"/>
        <a:buFont typeface="Wingdings" pitchFamily="2" charset="2"/>
        <a:buChar char="n"/>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developers.google.com/ml-kit/genai"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eveloper.android.com/ai/gemini-nano/experimental"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developer.android.com/ai/overview#mediapipe" TargetMode="External"/><Relationship Id="rId2" Type="http://schemas.openxmlformats.org/officeDocument/2006/relationships/hyperlink" Target="https://developer.android.com/ai/overview#ml-kit" TargetMode="External"/><Relationship Id="rId1" Type="http://schemas.openxmlformats.org/officeDocument/2006/relationships/slideLayout" Target="../slideLayouts/slideLayout2.xml"/><Relationship Id="rId6" Type="http://schemas.openxmlformats.org/officeDocument/2006/relationships/hyperlink" Target="https://ai.google.dev/gemma" TargetMode="External"/><Relationship Id="rId5" Type="http://schemas.openxmlformats.org/officeDocument/2006/relationships/hyperlink" Target="https://developer.android.com/google/play/on-device-ai" TargetMode="External"/><Relationship Id="rId4" Type="http://schemas.openxmlformats.org/officeDocument/2006/relationships/hyperlink" Target="https://developer.android.com/ai/overview#litert"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eveloper.android.com/ai/overview#t" TargetMode="External"/><Relationship Id="rId2" Type="http://schemas.openxmlformats.org/officeDocument/2006/relationships/hyperlink" Target="https://developer.android.com/ai/overview#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evelopers.google.com/ml-ki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evelopers.google.com/ml-kit" TargetMode="External"/><Relationship Id="rId2" Type="http://schemas.openxmlformats.org/officeDocument/2006/relationships/hyperlink" Target="https://developer.android.com/ai/overview"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evelopers.google.com/ml-kit/vision/text-recognition"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codelabs.developers.google.com/codelabs/mlkit-android?_gl=1*117o0ar*_up*MQ..*_ga*MTkwMjg1NzExNi4xNzU4MjAwNDAy*_ga_SM8HXJ53K2*czE3NTgyMDA0MDEkbzEkZzAkdDE3NTgyMDA0MDEkajYwJGwwJGgw#0"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developers.google.com/ml-kit/vision/barcode-scanning/android" TargetMode="External"/><Relationship Id="rId2" Type="http://schemas.openxmlformats.org/officeDocument/2006/relationships/hyperlink" Target="https://developers.google.com/ml-kit/vision/barcode-scanning/code-scanne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ctrTitle"/>
          </p:nvPr>
        </p:nvSpPr>
        <p:spPr/>
        <p:txBody>
          <a:bodyPr/>
          <a:lstStyle/>
          <a:p>
            <a:pPr eaLnBrk="1" hangingPunct="1">
              <a:defRPr/>
            </a:pPr>
            <a:r>
              <a:rPr lang="en-US" dirty="0"/>
              <a:t>AI/ML for Android</a:t>
            </a:r>
            <a:br>
              <a:rPr lang="en-US" dirty="0"/>
            </a:br>
            <a:r>
              <a:rPr lang="en-US" dirty="0"/>
              <a:t>(Special topic)</a:t>
            </a:r>
          </a:p>
        </p:txBody>
      </p:sp>
      <p:sp>
        <p:nvSpPr>
          <p:cNvPr id="175107" name="Rectangle 3"/>
          <p:cNvSpPr>
            <a:spLocks noGrp="1" noChangeArrowheads="1"/>
          </p:cNvSpPr>
          <p:nvPr>
            <p:ph type="subTitle" idx="1"/>
          </p:nvPr>
        </p:nvSpPr>
        <p:spPr/>
        <p:txBody>
          <a:bodyPr/>
          <a:lstStyle/>
          <a:p>
            <a:pPr eaLnBrk="1" hangingPunct="1">
              <a:defRPr/>
            </a:pPr>
            <a:r>
              <a:rPr lang="en-US" sz="2800" dirty="0"/>
              <a:t>Info5126 : </a:t>
            </a:r>
          </a:p>
          <a:p>
            <a:pPr eaLnBrk="1" hangingPunct="1">
              <a:defRPr/>
            </a:pPr>
            <a:r>
              <a:rPr lang="en-CA" sz="2800" dirty="0"/>
              <a:t>Mobile Development Advanced</a:t>
            </a:r>
            <a:endParaRPr lang="en-US" sz="2800" dirty="0"/>
          </a:p>
        </p:txBody>
      </p:sp>
      <p:sp>
        <p:nvSpPr>
          <p:cNvPr id="2" name="Footer Placeholder 1">
            <a:extLst>
              <a:ext uri="{FF2B5EF4-FFF2-40B4-BE49-F238E27FC236}">
                <a16:creationId xmlns:a16="http://schemas.microsoft.com/office/drawing/2014/main" id="{5B120704-5C61-1A8C-B99A-6B33BF139B33}"/>
              </a:ext>
            </a:extLst>
          </p:cNvPr>
          <p:cNvSpPr>
            <a:spLocks noGrp="1"/>
          </p:cNvSpPr>
          <p:nvPr>
            <p:ph type="ftr" sz="quarter" idx="11"/>
          </p:nvPr>
        </p:nvSpPr>
        <p:spPr/>
        <p:txBody>
          <a:bodyPr/>
          <a:lstStyle/>
          <a:p>
            <a:pPr>
              <a:defRPr/>
            </a:pPr>
            <a:r>
              <a:rPr lang="en-US"/>
              <a:t>L Wong                                           INFO 5126</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5E5A2-BF89-445A-B850-5D2897A92752}"/>
              </a:ext>
            </a:extLst>
          </p:cNvPr>
          <p:cNvSpPr>
            <a:spLocks noGrp="1"/>
          </p:cNvSpPr>
          <p:nvPr>
            <p:ph type="title"/>
          </p:nvPr>
        </p:nvSpPr>
        <p:spPr/>
        <p:txBody>
          <a:bodyPr/>
          <a:lstStyle/>
          <a:p>
            <a:r>
              <a:rPr lang="en-US" dirty="0"/>
              <a:t>AI and ML on Android Phones</a:t>
            </a:r>
            <a:endParaRPr lang="en-CA" dirty="0"/>
          </a:p>
        </p:txBody>
      </p:sp>
      <p:sp>
        <p:nvSpPr>
          <p:cNvPr id="3" name="Content Placeholder 2">
            <a:extLst>
              <a:ext uri="{FF2B5EF4-FFF2-40B4-BE49-F238E27FC236}">
                <a16:creationId xmlns:a16="http://schemas.microsoft.com/office/drawing/2014/main" id="{2E646E34-DFE5-4827-B418-04459E066446}"/>
              </a:ext>
            </a:extLst>
          </p:cNvPr>
          <p:cNvSpPr>
            <a:spLocks noGrp="1"/>
          </p:cNvSpPr>
          <p:nvPr>
            <p:ph idx="1"/>
          </p:nvPr>
        </p:nvSpPr>
        <p:spPr>
          <a:xfrm>
            <a:off x="939521" y="1825625"/>
            <a:ext cx="10414279" cy="4351338"/>
          </a:xfrm>
        </p:spPr>
        <p:txBody>
          <a:bodyPr>
            <a:normAutofit lnSpcReduction="10000"/>
          </a:bodyPr>
          <a:lstStyle/>
          <a:p>
            <a:pPr marL="0" indent="0">
              <a:buNone/>
            </a:pPr>
            <a:r>
              <a:rPr lang="en-CA" dirty="0"/>
              <a:t>You can deliver AI and ML features either on your device or using the cloud</a:t>
            </a:r>
          </a:p>
          <a:p>
            <a:pPr marL="0" indent="0">
              <a:buNone/>
            </a:pPr>
            <a:r>
              <a:rPr lang="en-CA" dirty="0"/>
              <a:t>	</a:t>
            </a:r>
          </a:p>
          <a:p>
            <a:pPr marL="0" indent="0">
              <a:buNone/>
            </a:pPr>
            <a:r>
              <a:rPr lang="en-CA" dirty="0">
                <a:effectLst/>
              </a:rPr>
              <a:t>On-device solutions like Gemini Nano deliver results with no additional cost, provide enhanced user privacy, and provide reliable offline functionality because input data is processed locally. These benefits can be critical for certain use cases, like message summarization, making on-device a priority when choosing the right solutions.</a:t>
            </a:r>
            <a:endParaRPr lang="en-CA" dirty="0"/>
          </a:p>
        </p:txBody>
      </p:sp>
      <p:sp>
        <p:nvSpPr>
          <p:cNvPr id="5" name="Footer Placeholder 4">
            <a:extLst>
              <a:ext uri="{FF2B5EF4-FFF2-40B4-BE49-F238E27FC236}">
                <a16:creationId xmlns:a16="http://schemas.microsoft.com/office/drawing/2014/main" id="{501364AF-C244-47F6-A38B-0AA7984BEF62}"/>
              </a:ext>
            </a:extLst>
          </p:cNvPr>
          <p:cNvSpPr>
            <a:spLocks noGrp="1"/>
          </p:cNvSpPr>
          <p:nvPr>
            <p:ph type="ftr" sz="quarter" idx="11"/>
          </p:nvPr>
        </p:nvSpPr>
        <p:spPr/>
        <p:txBody>
          <a:bodyPr/>
          <a:lstStyle/>
          <a:p>
            <a:r>
              <a:rPr lang="en-CA"/>
              <a:t>L Wong                                           INFO 5126</a:t>
            </a:r>
            <a:endParaRPr lang="en-CA" dirty="0"/>
          </a:p>
        </p:txBody>
      </p:sp>
    </p:spTree>
    <p:extLst>
      <p:ext uri="{BB962C8B-B14F-4D97-AF65-F5344CB8AC3E}">
        <p14:creationId xmlns:p14="http://schemas.microsoft.com/office/powerpoint/2010/main" val="1167240425"/>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8EB8-46A4-FE9F-45AE-13E7CFE18BAF}"/>
              </a:ext>
            </a:extLst>
          </p:cNvPr>
          <p:cNvSpPr>
            <a:spLocks noGrp="1"/>
          </p:cNvSpPr>
          <p:nvPr>
            <p:ph type="title"/>
          </p:nvPr>
        </p:nvSpPr>
        <p:spPr/>
        <p:txBody>
          <a:bodyPr/>
          <a:lstStyle/>
          <a:p>
            <a:r>
              <a:rPr lang="en-US" dirty="0"/>
              <a:t>Gemini Nano</a:t>
            </a:r>
            <a:endParaRPr lang="en-CA" dirty="0"/>
          </a:p>
        </p:txBody>
      </p:sp>
      <p:sp>
        <p:nvSpPr>
          <p:cNvPr id="3" name="Content Placeholder 2">
            <a:extLst>
              <a:ext uri="{FF2B5EF4-FFF2-40B4-BE49-F238E27FC236}">
                <a16:creationId xmlns:a16="http://schemas.microsoft.com/office/drawing/2014/main" id="{197A5FDD-1829-9650-23CC-32939908D228}"/>
              </a:ext>
            </a:extLst>
          </p:cNvPr>
          <p:cNvSpPr>
            <a:spLocks noGrp="1"/>
          </p:cNvSpPr>
          <p:nvPr>
            <p:ph idx="1"/>
          </p:nvPr>
        </p:nvSpPr>
        <p:spPr>
          <a:xfrm>
            <a:off x="1219200" y="1371600"/>
            <a:ext cx="10058400" cy="4114800"/>
          </a:xfrm>
        </p:spPr>
        <p:txBody>
          <a:bodyPr/>
          <a:lstStyle/>
          <a:p>
            <a:r>
              <a:rPr lang="en-CA" b="1" dirty="0">
                <a:effectLst/>
              </a:rPr>
              <a:t>Gemini Nano</a:t>
            </a:r>
            <a:r>
              <a:rPr lang="en-CA" dirty="0">
                <a:effectLst/>
              </a:rPr>
              <a:t> lets you run inference directly on an Android-powered device. If you're working with text or images, start with </a:t>
            </a:r>
            <a:r>
              <a:rPr lang="en-CA" b="1" dirty="0">
                <a:effectLst/>
                <a:hlinkClick r:id="rId2"/>
              </a:rPr>
              <a:t>ML Kit's GenAI APIs</a:t>
            </a:r>
            <a:r>
              <a:rPr lang="en-CA" dirty="0">
                <a:effectLst/>
              </a:rPr>
              <a:t> for out-of-the-box solutions. The ML Kit GenAI APIs are powered by Gemini Nano and fine-tuned for specific on-device tasks. The ML Kit GenAI APIs are an ideal path to production for your apps due to their higher-level interface and scalability. These APIs allow you to implement use-cases to </a:t>
            </a:r>
            <a:r>
              <a:rPr lang="en-CA" b="1" dirty="0">
                <a:effectLst/>
              </a:rPr>
              <a:t>summarize, proofread</a:t>
            </a:r>
            <a:r>
              <a:rPr lang="en-CA" dirty="0">
                <a:effectLst/>
              </a:rPr>
              <a:t>, and </a:t>
            </a:r>
            <a:r>
              <a:rPr lang="en-CA" b="1" dirty="0">
                <a:effectLst/>
              </a:rPr>
              <a:t>rewrite</a:t>
            </a:r>
            <a:r>
              <a:rPr lang="en-CA" dirty="0">
                <a:effectLst/>
              </a:rPr>
              <a:t> text, as well as generate </a:t>
            </a:r>
            <a:r>
              <a:rPr lang="en-CA" b="1" dirty="0">
                <a:effectLst/>
              </a:rPr>
              <a:t>image descriptions</a:t>
            </a:r>
            <a:r>
              <a:rPr lang="en-CA" dirty="0">
                <a:effectLst/>
              </a:rPr>
              <a:t>.</a:t>
            </a:r>
            <a:endParaRPr lang="en-US" dirty="0"/>
          </a:p>
        </p:txBody>
      </p:sp>
      <p:sp>
        <p:nvSpPr>
          <p:cNvPr id="4" name="Footer Placeholder 3">
            <a:extLst>
              <a:ext uri="{FF2B5EF4-FFF2-40B4-BE49-F238E27FC236}">
                <a16:creationId xmlns:a16="http://schemas.microsoft.com/office/drawing/2014/main" id="{E6C102F0-A56E-F95F-8645-6AF851E5C830}"/>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1226803958"/>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F041-BD4A-FB07-99F4-716DAB873C6F}"/>
              </a:ext>
            </a:extLst>
          </p:cNvPr>
          <p:cNvSpPr>
            <a:spLocks noGrp="1"/>
          </p:cNvSpPr>
          <p:nvPr>
            <p:ph type="title"/>
          </p:nvPr>
        </p:nvSpPr>
        <p:spPr/>
        <p:txBody>
          <a:bodyPr/>
          <a:lstStyle/>
          <a:p>
            <a:r>
              <a:rPr lang="en-US" dirty="0"/>
              <a:t>Gemini Nano </a:t>
            </a:r>
            <a:r>
              <a:rPr lang="en-US" dirty="0" err="1"/>
              <a:t>Exerimental</a:t>
            </a:r>
            <a:r>
              <a:rPr lang="en-US" dirty="0"/>
              <a:t> Access for customized use cases</a:t>
            </a:r>
            <a:endParaRPr lang="en-CA" dirty="0"/>
          </a:p>
        </p:txBody>
      </p:sp>
      <p:sp>
        <p:nvSpPr>
          <p:cNvPr id="4" name="Footer Placeholder 3">
            <a:extLst>
              <a:ext uri="{FF2B5EF4-FFF2-40B4-BE49-F238E27FC236}">
                <a16:creationId xmlns:a16="http://schemas.microsoft.com/office/drawing/2014/main" id="{DC64A8CC-2BA0-35D2-B5D1-9EE1FDF8F3FF}"/>
              </a:ext>
            </a:extLst>
          </p:cNvPr>
          <p:cNvSpPr>
            <a:spLocks noGrp="1"/>
          </p:cNvSpPr>
          <p:nvPr>
            <p:ph type="ftr" sz="quarter" idx="11"/>
          </p:nvPr>
        </p:nvSpPr>
        <p:spPr/>
        <p:txBody>
          <a:bodyPr/>
          <a:lstStyle/>
          <a:p>
            <a:pPr>
              <a:defRPr/>
            </a:pPr>
            <a:r>
              <a:rPr lang="en-US"/>
              <a:t>L Wong                                           INFO 5126</a:t>
            </a:r>
          </a:p>
        </p:txBody>
      </p:sp>
      <p:sp>
        <p:nvSpPr>
          <p:cNvPr id="5" name="Rectangle 1">
            <a:extLst>
              <a:ext uri="{FF2B5EF4-FFF2-40B4-BE49-F238E27FC236}">
                <a16:creationId xmlns:a16="http://schemas.microsoft.com/office/drawing/2014/main" id="{D7FC00B1-156D-2F80-B001-8C994F4F4543}"/>
              </a:ext>
            </a:extLst>
          </p:cNvPr>
          <p:cNvSpPr>
            <a:spLocks noGrp="1" noChangeArrowheads="1"/>
          </p:cNvSpPr>
          <p:nvPr>
            <p:ph idx="1"/>
          </p:nvPr>
        </p:nvSpPr>
        <p:spPr bwMode="auto">
          <a:xfrm>
            <a:off x="381000" y="1907858"/>
            <a:ext cx="10972800" cy="32439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A" dirty="0">
              <a:effectLst/>
            </a:endParaRPr>
          </a:p>
          <a:p>
            <a:pPr marL="0" indent="0">
              <a:buNone/>
            </a:pPr>
            <a:r>
              <a:rPr lang="en-CA" dirty="0">
                <a:effectLst/>
              </a:rPr>
              <a:t>To move beyond the fundamental use cases provided by</a:t>
            </a:r>
          </a:p>
          <a:p>
            <a:pPr marL="0" indent="0">
              <a:buNone/>
            </a:pPr>
            <a:r>
              <a:rPr lang="en-CA" dirty="0">
                <a:effectLst/>
              </a:rPr>
              <a:t> the ML Kit GenAI APIs, consider </a:t>
            </a:r>
            <a:r>
              <a:rPr lang="en-CA" b="1" dirty="0">
                <a:effectLst/>
                <a:hlinkClick r:id="rId2"/>
              </a:rPr>
              <a:t>Gemini Nano Experimental Access</a:t>
            </a:r>
            <a:r>
              <a:rPr lang="en-CA" dirty="0">
                <a:effectLst/>
              </a:rPr>
              <a:t>. Gemini Nano Experimental Access gives you more direct access to custom prompting with Gemini Nano.</a:t>
            </a:r>
          </a:p>
        </p:txBody>
      </p:sp>
    </p:spTree>
    <p:extLst>
      <p:ext uri="{BB962C8B-B14F-4D97-AF65-F5344CB8AC3E}">
        <p14:creationId xmlns:p14="http://schemas.microsoft.com/office/powerpoint/2010/main" val="418273539"/>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4F041-BD4A-FB07-99F4-716DAB873C6F}"/>
              </a:ext>
            </a:extLst>
          </p:cNvPr>
          <p:cNvSpPr>
            <a:spLocks noGrp="1"/>
          </p:cNvSpPr>
          <p:nvPr>
            <p:ph type="title"/>
          </p:nvPr>
        </p:nvSpPr>
        <p:spPr>
          <a:xfrm>
            <a:off x="304800" y="304801"/>
            <a:ext cx="11176000" cy="990599"/>
          </a:xfrm>
        </p:spPr>
        <p:txBody>
          <a:bodyPr/>
          <a:lstStyle/>
          <a:p>
            <a:r>
              <a:rPr lang="en-CA" dirty="0"/>
              <a:t>Custom Models</a:t>
            </a:r>
          </a:p>
        </p:txBody>
      </p:sp>
      <p:sp>
        <p:nvSpPr>
          <p:cNvPr id="4" name="Footer Placeholder 3">
            <a:extLst>
              <a:ext uri="{FF2B5EF4-FFF2-40B4-BE49-F238E27FC236}">
                <a16:creationId xmlns:a16="http://schemas.microsoft.com/office/drawing/2014/main" id="{DC64A8CC-2BA0-35D2-B5D1-9EE1FDF8F3FF}"/>
              </a:ext>
            </a:extLst>
          </p:cNvPr>
          <p:cNvSpPr>
            <a:spLocks noGrp="1"/>
          </p:cNvSpPr>
          <p:nvPr>
            <p:ph type="ftr" sz="quarter" idx="11"/>
          </p:nvPr>
        </p:nvSpPr>
        <p:spPr/>
        <p:txBody>
          <a:bodyPr/>
          <a:lstStyle/>
          <a:p>
            <a:pPr>
              <a:defRPr/>
            </a:pPr>
            <a:r>
              <a:rPr lang="en-US"/>
              <a:t>L Wong                                           INFO 5126</a:t>
            </a:r>
          </a:p>
        </p:txBody>
      </p:sp>
      <p:sp>
        <p:nvSpPr>
          <p:cNvPr id="5" name="Rectangle 1">
            <a:extLst>
              <a:ext uri="{FF2B5EF4-FFF2-40B4-BE49-F238E27FC236}">
                <a16:creationId xmlns:a16="http://schemas.microsoft.com/office/drawing/2014/main" id="{D7FC00B1-156D-2F80-B001-8C994F4F4543}"/>
              </a:ext>
            </a:extLst>
          </p:cNvPr>
          <p:cNvSpPr>
            <a:spLocks noGrp="1" noChangeArrowheads="1"/>
          </p:cNvSpPr>
          <p:nvPr>
            <p:ph idx="1"/>
          </p:nvPr>
        </p:nvSpPr>
        <p:spPr bwMode="auto">
          <a:xfrm>
            <a:off x="533401" y="1253865"/>
            <a:ext cx="11353800" cy="56076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CA" dirty="0">
                <a:effectLst/>
              </a:rPr>
              <a:t>For traditional machine learning tasks, you have the flexibility to implement your own custom models. We provide robust tools like </a:t>
            </a:r>
            <a:r>
              <a:rPr lang="en-CA" dirty="0">
                <a:effectLst/>
                <a:hlinkClick r:id="rId2"/>
              </a:rPr>
              <a:t>ML Kit</a:t>
            </a:r>
            <a:r>
              <a:rPr lang="en-CA" dirty="0">
                <a:effectLst/>
              </a:rPr>
              <a:t>, </a:t>
            </a:r>
            <a:r>
              <a:rPr lang="en-CA" dirty="0" err="1">
                <a:effectLst/>
                <a:hlinkClick r:id="rId3"/>
              </a:rPr>
              <a:t>MediaPipe</a:t>
            </a:r>
            <a:r>
              <a:rPr lang="en-CA" dirty="0">
                <a:effectLst/>
              </a:rPr>
              <a:t>, </a:t>
            </a:r>
            <a:r>
              <a:rPr lang="en-CA" dirty="0" err="1">
                <a:effectLst/>
                <a:hlinkClick r:id="rId4"/>
              </a:rPr>
              <a:t>LiteRT</a:t>
            </a:r>
            <a:r>
              <a:rPr lang="en-CA" dirty="0">
                <a:effectLst/>
              </a:rPr>
              <a:t>, and </a:t>
            </a:r>
            <a:r>
              <a:rPr lang="en-CA" dirty="0">
                <a:effectLst/>
                <a:hlinkClick r:id="rId5"/>
              </a:rPr>
              <a:t>Google Play</a:t>
            </a:r>
            <a:r>
              <a:rPr lang="en-CA" dirty="0">
                <a:effectLst/>
              </a:rPr>
              <a:t> delivery features to streamline your development process.</a:t>
            </a:r>
          </a:p>
          <a:p>
            <a:r>
              <a:rPr lang="en-CA" dirty="0">
                <a:effectLst/>
              </a:rPr>
              <a:t>For applications that require highly specialized solutions, you can use your own custom model, such as </a:t>
            </a:r>
            <a:r>
              <a:rPr lang="en-CA" dirty="0">
                <a:effectLst/>
                <a:hlinkClick r:id="rId6"/>
              </a:rPr>
              <a:t>Gemma</a:t>
            </a:r>
            <a:r>
              <a:rPr lang="en-CA" dirty="0">
                <a:effectLst/>
              </a:rPr>
              <a:t> or another model that is tailored to your specific use case. Run your model directly on the user's device with </a:t>
            </a:r>
            <a:r>
              <a:rPr lang="en-CA" dirty="0" err="1">
                <a:effectLst/>
              </a:rPr>
              <a:t>LiteRT</a:t>
            </a:r>
            <a:r>
              <a:rPr lang="en-CA" dirty="0">
                <a:effectLst/>
              </a:rPr>
              <a:t>, which provides pre-designed model architectures for optimized performance.</a:t>
            </a:r>
          </a:p>
        </p:txBody>
      </p:sp>
    </p:spTree>
    <p:extLst>
      <p:ext uri="{BB962C8B-B14F-4D97-AF65-F5344CB8AC3E}">
        <p14:creationId xmlns:p14="http://schemas.microsoft.com/office/powerpoint/2010/main" val="291037500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0FCC8-D3F7-0110-FCEA-1F975514E1FB}"/>
              </a:ext>
            </a:extLst>
          </p:cNvPr>
          <p:cNvSpPr>
            <a:spLocks noGrp="1"/>
          </p:cNvSpPr>
          <p:nvPr>
            <p:ph type="title"/>
          </p:nvPr>
        </p:nvSpPr>
        <p:spPr/>
        <p:txBody>
          <a:bodyPr/>
          <a:lstStyle/>
          <a:p>
            <a:r>
              <a:rPr lang="en-US" dirty="0"/>
              <a:t>ML Kit</a:t>
            </a:r>
            <a:endParaRPr lang="en-CA" dirty="0"/>
          </a:p>
        </p:txBody>
      </p:sp>
      <p:sp>
        <p:nvSpPr>
          <p:cNvPr id="3" name="Content Placeholder 2">
            <a:extLst>
              <a:ext uri="{FF2B5EF4-FFF2-40B4-BE49-F238E27FC236}">
                <a16:creationId xmlns:a16="http://schemas.microsoft.com/office/drawing/2014/main" id="{BCF9D18C-5102-9D43-78CF-141FC149F8AD}"/>
              </a:ext>
            </a:extLst>
          </p:cNvPr>
          <p:cNvSpPr>
            <a:spLocks noGrp="1"/>
          </p:cNvSpPr>
          <p:nvPr>
            <p:ph idx="1"/>
          </p:nvPr>
        </p:nvSpPr>
        <p:spPr>
          <a:xfrm>
            <a:off x="457200" y="1447801"/>
            <a:ext cx="11582400" cy="5105398"/>
          </a:xfrm>
        </p:spPr>
        <p:txBody>
          <a:bodyPr/>
          <a:lstStyle/>
          <a:p>
            <a:r>
              <a:rPr lang="en-CA" dirty="0">
                <a:effectLst/>
              </a:rPr>
              <a:t>ML Kit offers production-ready, mobile-optimized solutions for common machine learning tasks, requiring no prior ML expertise. This easy-to-use mobile SDK brings Google's ML expertise directly to your Android and iOS apps, allowing you to focus on feature development instead of model training and optimization. ML Kit provides prebuilt APIs and ready-to-use models for features like barcode scanning, text recognition (OCR), face detection, image labeling, object detection and tracking, language identification, and smart reply. TensorFlow Lite models.</a:t>
            </a:r>
          </a:p>
        </p:txBody>
      </p:sp>
      <p:sp>
        <p:nvSpPr>
          <p:cNvPr id="4" name="Footer Placeholder 3">
            <a:extLst>
              <a:ext uri="{FF2B5EF4-FFF2-40B4-BE49-F238E27FC236}">
                <a16:creationId xmlns:a16="http://schemas.microsoft.com/office/drawing/2014/main" id="{3A46DD4D-6301-9935-5336-F98EFECF85CF}"/>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96482759"/>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5AC36-9479-F059-36F3-9D4F75EAD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A3861-9F75-C9CB-8063-D94C54134FB2}"/>
              </a:ext>
            </a:extLst>
          </p:cNvPr>
          <p:cNvSpPr>
            <a:spLocks noGrp="1"/>
          </p:cNvSpPr>
          <p:nvPr>
            <p:ph type="title"/>
          </p:nvPr>
        </p:nvSpPr>
        <p:spPr/>
        <p:txBody>
          <a:bodyPr/>
          <a:lstStyle/>
          <a:p>
            <a:r>
              <a:rPr lang="en-US" dirty="0"/>
              <a:t>ML Kit Introduction</a:t>
            </a:r>
            <a:endParaRPr lang="en-CA" dirty="0"/>
          </a:p>
        </p:txBody>
      </p:sp>
      <p:sp>
        <p:nvSpPr>
          <p:cNvPr id="3" name="Content Placeholder 2">
            <a:extLst>
              <a:ext uri="{FF2B5EF4-FFF2-40B4-BE49-F238E27FC236}">
                <a16:creationId xmlns:a16="http://schemas.microsoft.com/office/drawing/2014/main" id="{C31D52F5-34F6-6591-B695-92A40B723FB6}"/>
              </a:ext>
            </a:extLst>
          </p:cNvPr>
          <p:cNvSpPr>
            <a:spLocks noGrp="1"/>
          </p:cNvSpPr>
          <p:nvPr>
            <p:ph idx="1"/>
          </p:nvPr>
        </p:nvSpPr>
        <p:spPr>
          <a:xfrm>
            <a:off x="457200" y="1447801"/>
            <a:ext cx="11582400" cy="5105398"/>
          </a:xfrm>
        </p:spPr>
        <p:txBody>
          <a:bodyPr/>
          <a:lstStyle/>
          <a:p>
            <a:r>
              <a:rPr lang="en-CA" dirty="0">
                <a:effectLst/>
              </a:rPr>
              <a:t>These models are typically optimized for on-device execution, ensuring low latency, offline functionality, and enhanced user privacy as data often remains on the device. Choose ML Kit to quickly add established ML features to your mobile app without needing to train models or require generative output. It's ideal for efficiently enhancing apps with "smart" capabilities using Google's optimized models or by deploying custom TensorFlow Lite models.</a:t>
            </a:r>
          </a:p>
        </p:txBody>
      </p:sp>
      <p:sp>
        <p:nvSpPr>
          <p:cNvPr id="4" name="Footer Placeholder 3">
            <a:extLst>
              <a:ext uri="{FF2B5EF4-FFF2-40B4-BE49-F238E27FC236}">
                <a16:creationId xmlns:a16="http://schemas.microsoft.com/office/drawing/2014/main" id="{2DF4E4D2-A14F-0CFC-9F5D-2F6B18A9A7BF}"/>
              </a:ext>
            </a:extLst>
          </p:cNvPr>
          <p:cNvSpPr>
            <a:spLocks noGrp="1"/>
          </p:cNvSpPr>
          <p:nvPr>
            <p:ph type="ftr" sz="quarter" idx="11"/>
          </p:nvPr>
        </p:nvSpPr>
        <p:spPr/>
        <p:txBody>
          <a:bodyPr/>
          <a:lstStyle/>
          <a:p>
            <a:pPr>
              <a:defRPr/>
            </a:pPr>
            <a:r>
              <a:rPr lang="en-US" dirty="0"/>
              <a:t>L Wong                                           INFO 5126</a:t>
            </a:r>
          </a:p>
        </p:txBody>
      </p:sp>
    </p:spTree>
    <p:extLst>
      <p:ext uri="{BB962C8B-B14F-4D97-AF65-F5344CB8AC3E}">
        <p14:creationId xmlns:p14="http://schemas.microsoft.com/office/powerpoint/2010/main" val="1643468070"/>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09F24-F8F7-99CE-8DCE-DEAF1972B8BA}"/>
              </a:ext>
            </a:extLst>
          </p:cNvPr>
          <p:cNvSpPr>
            <a:spLocks noGrp="1"/>
          </p:cNvSpPr>
          <p:nvPr>
            <p:ph type="title"/>
          </p:nvPr>
        </p:nvSpPr>
        <p:spPr/>
        <p:txBody>
          <a:bodyPr/>
          <a:lstStyle/>
          <a:p>
            <a:r>
              <a:rPr lang="en-CA" dirty="0"/>
              <a:t>On Device or Cloud</a:t>
            </a:r>
          </a:p>
        </p:txBody>
      </p:sp>
      <p:sp>
        <p:nvSpPr>
          <p:cNvPr id="3" name="Content Placeholder 2">
            <a:extLst>
              <a:ext uri="{FF2B5EF4-FFF2-40B4-BE49-F238E27FC236}">
                <a16:creationId xmlns:a16="http://schemas.microsoft.com/office/drawing/2014/main" id="{0704147B-6617-91D8-F6DE-6E8EBE200FDC}"/>
              </a:ext>
            </a:extLst>
          </p:cNvPr>
          <p:cNvSpPr>
            <a:spLocks noGrp="1"/>
          </p:cNvSpPr>
          <p:nvPr>
            <p:ph idx="1"/>
          </p:nvPr>
        </p:nvSpPr>
        <p:spPr>
          <a:xfrm>
            <a:off x="1371600" y="1981200"/>
            <a:ext cx="10109200" cy="4419600"/>
          </a:xfrm>
        </p:spPr>
        <p:txBody>
          <a:bodyPr/>
          <a:lstStyle/>
          <a:p>
            <a:r>
              <a:rPr lang="en-CA" dirty="0"/>
              <a:t>Connectivity vs offline functionality</a:t>
            </a:r>
          </a:p>
          <a:p>
            <a:r>
              <a:rPr lang="en-CA" dirty="0"/>
              <a:t>Data privacy</a:t>
            </a:r>
          </a:p>
          <a:p>
            <a:r>
              <a:rPr lang="en-CA" dirty="0"/>
              <a:t>Model capabilities and task complexity</a:t>
            </a:r>
          </a:p>
          <a:p>
            <a:r>
              <a:rPr lang="en-CA" dirty="0"/>
              <a:t>Cost considerations</a:t>
            </a:r>
          </a:p>
          <a:p>
            <a:r>
              <a:rPr lang="en-CA" dirty="0"/>
              <a:t>Device resources</a:t>
            </a:r>
          </a:p>
          <a:p>
            <a:r>
              <a:rPr lang="en-CA" dirty="0"/>
              <a:t>Fine tuning and customization</a:t>
            </a:r>
          </a:p>
          <a:p>
            <a:r>
              <a:rPr lang="en-CA" dirty="0"/>
              <a:t>Cross-platform consistency</a:t>
            </a:r>
          </a:p>
        </p:txBody>
      </p:sp>
      <p:sp>
        <p:nvSpPr>
          <p:cNvPr id="4" name="Footer Placeholder 3">
            <a:extLst>
              <a:ext uri="{FF2B5EF4-FFF2-40B4-BE49-F238E27FC236}">
                <a16:creationId xmlns:a16="http://schemas.microsoft.com/office/drawing/2014/main" id="{612D2D74-2A41-2C8C-C2FE-7041F8A824BB}"/>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181974478"/>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FD8CE-E53B-02E0-9F7A-0374EC1CE8A3}"/>
              </a:ext>
            </a:extLst>
          </p:cNvPr>
          <p:cNvSpPr>
            <a:spLocks noGrp="1"/>
          </p:cNvSpPr>
          <p:nvPr>
            <p:ph type="title"/>
          </p:nvPr>
        </p:nvSpPr>
        <p:spPr/>
        <p:txBody>
          <a:bodyPr/>
          <a:lstStyle/>
          <a:p>
            <a:r>
              <a:rPr lang="en-CA" dirty="0"/>
              <a:t>Guide to AI/ML solutions</a:t>
            </a:r>
          </a:p>
        </p:txBody>
      </p:sp>
      <p:sp>
        <p:nvSpPr>
          <p:cNvPr id="3" name="Content Placeholder 2">
            <a:extLst>
              <a:ext uri="{FF2B5EF4-FFF2-40B4-BE49-F238E27FC236}">
                <a16:creationId xmlns:a16="http://schemas.microsoft.com/office/drawing/2014/main" id="{688863B8-729E-1C97-AB32-D6D7A3EF395A}"/>
              </a:ext>
            </a:extLst>
          </p:cNvPr>
          <p:cNvSpPr>
            <a:spLocks noGrp="1"/>
          </p:cNvSpPr>
          <p:nvPr>
            <p:ph idx="1"/>
          </p:nvPr>
        </p:nvSpPr>
        <p:spPr>
          <a:xfrm>
            <a:off x="990599" y="1981200"/>
            <a:ext cx="11001829" cy="4114800"/>
          </a:xfrm>
        </p:spPr>
        <p:txBody>
          <a:bodyPr/>
          <a:lstStyle/>
          <a:p>
            <a:pPr marL="0" indent="0">
              <a:buNone/>
            </a:pPr>
            <a:r>
              <a:rPr lang="en-CA" b="1" dirty="0">
                <a:effectLst/>
              </a:rPr>
              <a:t>What is the primary goal of the AI feature?</a:t>
            </a:r>
            <a:endParaRPr lang="en-CA" dirty="0">
              <a:effectLst/>
            </a:endParaRPr>
          </a:p>
          <a:p>
            <a:r>
              <a:rPr lang="en-CA" b="1" dirty="0">
                <a:effectLst/>
              </a:rPr>
              <a:t>A) Generating new content (text, image descriptions), or performing simple text processing (summarizing, proofreading, or rewriting text)?</a:t>
            </a:r>
            <a:r>
              <a:rPr lang="en-CA" dirty="0">
                <a:effectLst/>
              </a:rPr>
              <a:t> → Go to </a:t>
            </a:r>
            <a:r>
              <a:rPr lang="en-CA" b="1" dirty="0">
                <a:effectLst/>
                <a:hlinkClick r:id="rId2"/>
              </a:rPr>
              <a:t>Generative AI</a:t>
            </a:r>
            <a:endParaRPr lang="en-CA" dirty="0">
              <a:effectLst/>
            </a:endParaRPr>
          </a:p>
          <a:p>
            <a:r>
              <a:rPr lang="en-CA" b="1" dirty="0">
                <a:effectLst/>
              </a:rPr>
              <a:t>B) Analyzing existing data/input for prediction, classification, detection, understanding patterns, or processing real-time streams (like video/audio)?</a:t>
            </a:r>
            <a:r>
              <a:rPr lang="en-CA" dirty="0">
                <a:effectLst/>
              </a:rPr>
              <a:t> → Go to </a:t>
            </a:r>
            <a:r>
              <a:rPr lang="en-CA" b="1" dirty="0">
                <a:effectLst/>
                <a:hlinkClick r:id="rId3"/>
              </a:rPr>
              <a:t>Traditional ML &amp; Perception</a:t>
            </a:r>
            <a:endParaRPr lang="en-CA" dirty="0">
              <a:effectLst/>
            </a:endParaRPr>
          </a:p>
          <a:p>
            <a:pPr marL="0" indent="0">
              <a:buNone/>
            </a:pPr>
            <a:endParaRPr lang="en-CA" dirty="0"/>
          </a:p>
        </p:txBody>
      </p:sp>
      <p:sp>
        <p:nvSpPr>
          <p:cNvPr id="4" name="Footer Placeholder 3">
            <a:extLst>
              <a:ext uri="{FF2B5EF4-FFF2-40B4-BE49-F238E27FC236}">
                <a16:creationId xmlns:a16="http://schemas.microsoft.com/office/drawing/2014/main" id="{8E94AD47-2AB2-573D-ACA9-39C88A27C402}"/>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133141160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A7E15-FD48-B9F2-3976-D38AC474F3F2}"/>
              </a:ext>
            </a:extLst>
          </p:cNvPr>
          <p:cNvSpPr>
            <a:spLocks noGrp="1"/>
          </p:cNvSpPr>
          <p:nvPr>
            <p:ph type="title"/>
          </p:nvPr>
        </p:nvSpPr>
        <p:spPr/>
        <p:txBody>
          <a:bodyPr/>
          <a:lstStyle/>
          <a:p>
            <a:r>
              <a:rPr lang="en-CA" dirty="0"/>
              <a:t>ML </a:t>
            </a:r>
            <a:r>
              <a:rPr lang="en-CA"/>
              <a:t>Kit – Simplest to use</a:t>
            </a:r>
            <a:endParaRPr lang="en-CA" dirty="0"/>
          </a:p>
        </p:txBody>
      </p:sp>
      <p:sp>
        <p:nvSpPr>
          <p:cNvPr id="3" name="Content Placeholder 2">
            <a:extLst>
              <a:ext uri="{FF2B5EF4-FFF2-40B4-BE49-F238E27FC236}">
                <a16:creationId xmlns:a16="http://schemas.microsoft.com/office/drawing/2014/main" id="{E425A61D-7D4C-63BF-F7CF-35831852D423}"/>
              </a:ext>
            </a:extLst>
          </p:cNvPr>
          <p:cNvSpPr>
            <a:spLocks noGrp="1"/>
          </p:cNvSpPr>
          <p:nvPr>
            <p:ph idx="1"/>
          </p:nvPr>
        </p:nvSpPr>
        <p:spPr/>
        <p:txBody>
          <a:bodyPr/>
          <a:lstStyle/>
          <a:p>
            <a:r>
              <a:rPr lang="en-CA" b="1" dirty="0">
                <a:effectLst/>
              </a:rPr>
              <a:t>A) Need quick integration of pre-built, common mobile ML features?</a:t>
            </a:r>
            <a:r>
              <a:rPr lang="en-CA" dirty="0">
                <a:effectLst/>
              </a:rPr>
              <a:t> (e.g., barcode scanning, text recognition (OCR), face detection, image labeling, object detection and tracking, language ID, basic smart reply)</a:t>
            </a:r>
          </a:p>
          <a:p>
            <a:pPr lvl="1"/>
            <a:r>
              <a:rPr lang="en-CA" b="1" dirty="0">
                <a:effectLst/>
              </a:rPr>
              <a:t>→ Use: </a:t>
            </a:r>
            <a:r>
              <a:rPr lang="en-CA" b="1" dirty="0">
                <a:effectLst/>
                <a:hlinkClick r:id="rId2"/>
              </a:rPr>
              <a:t>ML Kit</a:t>
            </a:r>
            <a:r>
              <a:rPr lang="en-CA" dirty="0">
                <a:effectLst/>
              </a:rPr>
              <a:t> (Traditional APIs)</a:t>
            </a:r>
          </a:p>
          <a:p>
            <a:pPr lvl="1"/>
            <a:r>
              <a:rPr lang="en-CA" i="1" dirty="0">
                <a:effectLst/>
              </a:rPr>
              <a:t>Why</a:t>
            </a:r>
            <a:r>
              <a:rPr lang="en-CA" dirty="0">
                <a:effectLst/>
              </a:rPr>
              <a:t>: Easiest integration for established mobile ML tasks, often optimized for on-device use (low latency, offline, privacy).</a:t>
            </a:r>
          </a:p>
          <a:p>
            <a:pPr marL="0" indent="0">
              <a:buNone/>
            </a:pPr>
            <a:endParaRPr lang="en-CA" dirty="0"/>
          </a:p>
        </p:txBody>
      </p:sp>
      <p:sp>
        <p:nvSpPr>
          <p:cNvPr id="4" name="Footer Placeholder 3">
            <a:extLst>
              <a:ext uri="{FF2B5EF4-FFF2-40B4-BE49-F238E27FC236}">
                <a16:creationId xmlns:a16="http://schemas.microsoft.com/office/drawing/2014/main" id="{612C9EC1-1157-2361-2D11-F049270BCD46}"/>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895864757"/>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F3010-062B-813D-ED17-A763D27718C8}"/>
              </a:ext>
            </a:extLst>
          </p:cNvPr>
          <p:cNvSpPr>
            <a:spLocks noGrp="1"/>
          </p:cNvSpPr>
          <p:nvPr>
            <p:ph type="title"/>
          </p:nvPr>
        </p:nvSpPr>
        <p:spPr/>
        <p:txBody>
          <a:bodyPr/>
          <a:lstStyle/>
          <a:p>
            <a:r>
              <a:rPr lang="en-US" dirty="0"/>
              <a:t>Finding the right solution</a:t>
            </a:r>
            <a:endParaRPr lang="en-CA" dirty="0"/>
          </a:p>
        </p:txBody>
      </p:sp>
      <p:pic>
        <p:nvPicPr>
          <p:cNvPr id="6" name="Content Placeholder 5" descr="Finding the right solution to use for AI and ML">
            <a:extLst>
              <a:ext uri="{FF2B5EF4-FFF2-40B4-BE49-F238E27FC236}">
                <a16:creationId xmlns:a16="http://schemas.microsoft.com/office/drawing/2014/main" id="{99780127-B388-E614-38A7-4DB44ADFCF54}"/>
              </a:ext>
            </a:extLst>
          </p:cNvPr>
          <p:cNvPicPr>
            <a:picLocks noGrp="1" noChangeAspect="1"/>
          </p:cNvPicPr>
          <p:nvPr>
            <p:ph idx="1"/>
          </p:nvPr>
        </p:nvPicPr>
        <p:blipFill>
          <a:blip r:embed="rId2"/>
          <a:stretch>
            <a:fillRect/>
          </a:stretch>
        </p:blipFill>
        <p:spPr bwMode="auto">
          <a:xfrm>
            <a:off x="2819400" y="1585034"/>
            <a:ext cx="6858000" cy="4632605"/>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5EC5907E-4BEB-98EF-F2C6-F23B3F768287}"/>
              </a:ext>
            </a:extLst>
          </p:cNvPr>
          <p:cNvSpPr>
            <a:spLocks noGrp="1"/>
          </p:cNvSpPr>
          <p:nvPr>
            <p:ph type="ftr" sz="quarter" idx="11"/>
          </p:nvPr>
        </p:nvSpPr>
        <p:spPr/>
        <p:txBody>
          <a:bodyPr/>
          <a:lstStyle/>
          <a:p>
            <a:pPr>
              <a:defRPr/>
            </a:pPr>
            <a:r>
              <a:rPr lang="en-US" dirty="0"/>
              <a:t>L Wong                                           INFO 5126</a:t>
            </a:r>
          </a:p>
        </p:txBody>
      </p:sp>
    </p:spTree>
    <p:extLst>
      <p:ext uri="{BB962C8B-B14F-4D97-AF65-F5344CB8AC3E}">
        <p14:creationId xmlns:p14="http://schemas.microsoft.com/office/powerpoint/2010/main" val="143436611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DB57B-9B7E-52A0-7829-2C901BADC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52938-E653-1F8A-D47E-C1C3A07531E2}"/>
              </a:ext>
            </a:extLst>
          </p:cNvPr>
          <p:cNvSpPr>
            <a:spLocks noGrp="1"/>
          </p:cNvSpPr>
          <p:nvPr>
            <p:ph type="title"/>
          </p:nvPr>
        </p:nvSpPr>
        <p:spPr/>
        <p:txBody>
          <a:bodyPr/>
          <a:lstStyle/>
          <a:p>
            <a:r>
              <a:rPr lang="en-CA" dirty="0"/>
              <a:t>Link to AI and ML-Kit overview</a:t>
            </a:r>
          </a:p>
        </p:txBody>
      </p:sp>
      <p:sp>
        <p:nvSpPr>
          <p:cNvPr id="3" name="Content Placeholder 2">
            <a:extLst>
              <a:ext uri="{FF2B5EF4-FFF2-40B4-BE49-F238E27FC236}">
                <a16:creationId xmlns:a16="http://schemas.microsoft.com/office/drawing/2014/main" id="{D80ED43D-A0AB-19CC-D24E-F9D53C07E8CE}"/>
              </a:ext>
            </a:extLst>
          </p:cNvPr>
          <p:cNvSpPr>
            <a:spLocks noGrp="1"/>
          </p:cNvSpPr>
          <p:nvPr>
            <p:ph idx="1"/>
          </p:nvPr>
        </p:nvSpPr>
        <p:spPr>
          <a:xfrm>
            <a:off x="228600" y="1905000"/>
            <a:ext cx="11734800" cy="4267200"/>
          </a:xfrm>
        </p:spPr>
        <p:txBody>
          <a:bodyPr/>
          <a:lstStyle/>
          <a:p>
            <a:pPr marL="0" indent="0">
              <a:buNone/>
            </a:pPr>
            <a:r>
              <a:rPr lang="en-CA" dirty="0">
                <a:hlinkClick r:id="rId2"/>
              </a:rPr>
              <a:t>https://developer.android.com/ai/overview</a:t>
            </a:r>
            <a:endParaRPr lang="en-CA" dirty="0"/>
          </a:p>
          <a:p>
            <a:pPr marL="0" indent="0">
              <a:buNone/>
            </a:pPr>
            <a:endParaRPr lang="en-CA" dirty="0"/>
          </a:p>
          <a:p>
            <a:pPr marL="0" indent="0">
              <a:buNone/>
            </a:pPr>
            <a:r>
              <a:rPr lang="en-CA" dirty="0">
                <a:hlinkClick r:id="rId3"/>
              </a:rPr>
              <a:t>https://developers.google.com/ml-kit</a:t>
            </a:r>
            <a:endParaRPr lang="en-CA" dirty="0"/>
          </a:p>
          <a:p>
            <a:pPr marL="0" indent="0">
              <a:buNone/>
            </a:pPr>
            <a:endParaRPr lang="en-CA" dirty="0"/>
          </a:p>
          <a:p>
            <a:pPr marL="0" indent="0">
              <a:buNone/>
            </a:pPr>
            <a:endParaRPr lang="en-CA" dirty="0"/>
          </a:p>
          <a:p>
            <a:pPr marL="0" indent="0">
              <a:buNone/>
            </a:pPr>
            <a:endParaRPr lang="en-CA" dirty="0"/>
          </a:p>
        </p:txBody>
      </p:sp>
      <p:sp>
        <p:nvSpPr>
          <p:cNvPr id="4" name="Footer Placeholder 3">
            <a:extLst>
              <a:ext uri="{FF2B5EF4-FFF2-40B4-BE49-F238E27FC236}">
                <a16:creationId xmlns:a16="http://schemas.microsoft.com/office/drawing/2014/main" id="{499FDA37-6266-1B4D-0E34-1013F67D0240}"/>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780123514"/>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9B397-89D4-5817-61AB-4F3D9F890CF7}"/>
              </a:ext>
            </a:extLst>
          </p:cNvPr>
          <p:cNvSpPr>
            <a:spLocks noGrp="1"/>
          </p:cNvSpPr>
          <p:nvPr>
            <p:ph type="title"/>
          </p:nvPr>
        </p:nvSpPr>
        <p:spPr/>
        <p:txBody>
          <a:bodyPr/>
          <a:lstStyle/>
          <a:p>
            <a:r>
              <a:rPr lang="en-CA" dirty="0"/>
              <a:t>Text Recognition v2</a:t>
            </a:r>
          </a:p>
        </p:txBody>
      </p:sp>
      <p:sp>
        <p:nvSpPr>
          <p:cNvPr id="3" name="Content Placeholder 2">
            <a:extLst>
              <a:ext uri="{FF2B5EF4-FFF2-40B4-BE49-F238E27FC236}">
                <a16:creationId xmlns:a16="http://schemas.microsoft.com/office/drawing/2014/main" id="{DFAB3276-D248-95BA-5A52-9C17538A96E5}"/>
              </a:ext>
            </a:extLst>
          </p:cNvPr>
          <p:cNvSpPr>
            <a:spLocks noGrp="1"/>
          </p:cNvSpPr>
          <p:nvPr>
            <p:ph idx="1"/>
          </p:nvPr>
        </p:nvSpPr>
        <p:spPr/>
        <p:txBody>
          <a:bodyPr/>
          <a:lstStyle/>
          <a:p>
            <a:pPr marL="0" indent="0">
              <a:buNone/>
            </a:pPr>
            <a:r>
              <a:rPr lang="en-CA" dirty="0">
                <a:hlinkClick r:id="rId2"/>
              </a:rPr>
              <a:t>https://developers.google.com/ml-kit/vision/text-recognition</a:t>
            </a:r>
            <a:endParaRPr lang="en-CA" dirty="0"/>
          </a:p>
          <a:p>
            <a:r>
              <a:rPr lang="en-CA" dirty="0"/>
              <a:t>The ML Kit Text Recognition v2 API can recognize text in different languages.   It can also be use to automate data entry such as processing credit cards, receipts and business cards</a:t>
            </a:r>
          </a:p>
          <a:p>
            <a:r>
              <a:rPr lang="en-CA" dirty="0"/>
              <a:t>Detects text in images or videos</a:t>
            </a:r>
          </a:p>
        </p:txBody>
      </p:sp>
      <p:sp>
        <p:nvSpPr>
          <p:cNvPr id="4" name="Footer Placeholder 3">
            <a:extLst>
              <a:ext uri="{FF2B5EF4-FFF2-40B4-BE49-F238E27FC236}">
                <a16:creationId xmlns:a16="http://schemas.microsoft.com/office/drawing/2014/main" id="{0840FF7E-8D00-3238-D9D4-C8BD0CF5BC83}"/>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206525406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7461A-CCD6-9287-58E3-C684EEC0B4B3}"/>
              </a:ext>
            </a:extLst>
          </p:cNvPr>
          <p:cNvSpPr>
            <a:spLocks noGrp="1"/>
          </p:cNvSpPr>
          <p:nvPr>
            <p:ph type="title"/>
          </p:nvPr>
        </p:nvSpPr>
        <p:spPr/>
        <p:txBody>
          <a:bodyPr/>
          <a:lstStyle/>
          <a:p>
            <a:r>
              <a:rPr lang="en-CA" dirty="0"/>
              <a:t>OCR API is available unbundled or bundled</a:t>
            </a:r>
          </a:p>
        </p:txBody>
      </p:sp>
      <p:pic>
        <p:nvPicPr>
          <p:cNvPr id="6" name="Content Placeholder 5" descr="OCR API's bundled vs unbundled">
            <a:extLst>
              <a:ext uri="{FF2B5EF4-FFF2-40B4-BE49-F238E27FC236}">
                <a16:creationId xmlns:a16="http://schemas.microsoft.com/office/drawing/2014/main" id="{3338B08C-4AAB-6015-4A7D-A8634574EC6C}"/>
              </a:ext>
            </a:extLst>
          </p:cNvPr>
          <p:cNvPicPr>
            <a:picLocks noGrp="1" noChangeAspect="1"/>
          </p:cNvPicPr>
          <p:nvPr>
            <p:ph idx="1"/>
          </p:nvPr>
        </p:nvPicPr>
        <p:blipFill>
          <a:blip r:embed="rId2"/>
          <a:stretch>
            <a:fillRect/>
          </a:stretch>
        </p:blipFill>
        <p:spPr bwMode="auto">
          <a:xfrm>
            <a:off x="1422400" y="1676400"/>
            <a:ext cx="7979866" cy="4495800"/>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2F74F8E9-F958-85A7-C23B-59B85B4F56F2}"/>
              </a:ext>
            </a:extLst>
          </p:cNvPr>
          <p:cNvSpPr>
            <a:spLocks noGrp="1"/>
          </p:cNvSpPr>
          <p:nvPr>
            <p:ph type="ftr" sz="quarter" idx="11"/>
          </p:nvPr>
        </p:nvSpPr>
        <p:spPr/>
        <p:txBody>
          <a:bodyPr/>
          <a:lstStyle/>
          <a:p>
            <a:pPr>
              <a:defRPr/>
            </a:pPr>
            <a:r>
              <a:rPr lang="en-US"/>
              <a:t>L Wong                                           INFO 5126</a:t>
            </a:r>
          </a:p>
        </p:txBody>
      </p:sp>
      <p:sp>
        <p:nvSpPr>
          <p:cNvPr id="7" name="TextBox 6">
            <a:extLst>
              <a:ext uri="{FF2B5EF4-FFF2-40B4-BE49-F238E27FC236}">
                <a16:creationId xmlns:a16="http://schemas.microsoft.com/office/drawing/2014/main" id="{DA92540D-507E-B1D5-61CE-4702DBED9D51}"/>
              </a:ext>
            </a:extLst>
          </p:cNvPr>
          <p:cNvSpPr txBox="1"/>
          <p:nvPr/>
        </p:nvSpPr>
        <p:spPr>
          <a:xfrm>
            <a:off x="9664700" y="2209800"/>
            <a:ext cx="2209800" cy="1754326"/>
          </a:xfrm>
          <a:prstGeom prst="rect">
            <a:avLst/>
          </a:prstGeom>
          <a:noFill/>
        </p:spPr>
        <p:txBody>
          <a:bodyPr wrap="square" rtlCol="0">
            <a:spAutoFit/>
          </a:bodyPr>
          <a:lstStyle/>
          <a:p>
            <a:r>
              <a:rPr lang="en-CA" dirty="0"/>
              <a:t>Note: unbundled must be downloaded before use and bundled increases the app size</a:t>
            </a:r>
          </a:p>
        </p:txBody>
      </p:sp>
    </p:spTree>
    <p:extLst>
      <p:ext uri="{BB962C8B-B14F-4D97-AF65-F5344CB8AC3E}">
        <p14:creationId xmlns:p14="http://schemas.microsoft.com/office/powerpoint/2010/main" val="85584912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D3315-D799-4519-615F-F9E75AC21F2B}"/>
              </a:ext>
            </a:extLst>
          </p:cNvPr>
          <p:cNvSpPr>
            <a:spLocks noGrp="1"/>
          </p:cNvSpPr>
          <p:nvPr>
            <p:ph type="title"/>
          </p:nvPr>
        </p:nvSpPr>
        <p:spPr/>
        <p:txBody>
          <a:bodyPr/>
          <a:lstStyle/>
          <a:p>
            <a:r>
              <a:rPr lang="en-CA" dirty="0"/>
              <a:t>Text Structure</a:t>
            </a:r>
          </a:p>
        </p:txBody>
      </p:sp>
      <p:pic>
        <p:nvPicPr>
          <p:cNvPr id="6" name="Content Placeholder 5" descr="Text Structure of the OCR results">
            <a:extLst>
              <a:ext uri="{FF2B5EF4-FFF2-40B4-BE49-F238E27FC236}">
                <a16:creationId xmlns:a16="http://schemas.microsoft.com/office/drawing/2014/main" id="{F4014E88-7A2A-71F0-2CC7-24793AFC7275}"/>
              </a:ext>
            </a:extLst>
          </p:cNvPr>
          <p:cNvPicPr>
            <a:picLocks noGrp="1" noChangeAspect="1"/>
          </p:cNvPicPr>
          <p:nvPr>
            <p:ph idx="1"/>
          </p:nvPr>
        </p:nvPicPr>
        <p:blipFill>
          <a:blip r:embed="rId2"/>
          <a:stretch>
            <a:fillRect/>
          </a:stretch>
        </p:blipFill>
        <p:spPr bwMode="auto">
          <a:xfrm>
            <a:off x="1066800" y="1524000"/>
            <a:ext cx="10657808" cy="4495800"/>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813C73C8-6571-D3E2-EE1B-AD2F29A88A40}"/>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295886808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2110-93B7-15B6-73F1-247B6F689CFB}"/>
              </a:ext>
            </a:extLst>
          </p:cNvPr>
          <p:cNvSpPr>
            <a:spLocks noGrp="1"/>
          </p:cNvSpPr>
          <p:nvPr>
            <p:ph type="title"/>
          </p:nvPr>
        </p:nvSpPr>
        <p:spPr/>
        <p:txBody>
          <a:bodyPr/>
          <a:lstStyle/>
          <a:p>
            <a:r>
              <a:rPr lang="en-CA" dirty="0"/>
              <a:t>OCR Android Studio Setup</a:t>
            </a:r>
          </a:p>
        </p:txBody>
      </p:sp>
      <p:sp>
        <p:nvSpPr>
          <p:cNvPr id="3" name="Content Placeholder 2">
            <a:extLst>
              <a:ext uri="{FF2B5EF4-FFF2-40B4-BE49-F238E27FC236}">
                <a16:creationId xmlns:a16="http://schemas.microsoft.com/office/drawing/2014/main" id="{A956FF66-AB90-646E-FE86-8B1256D75C8D}"/>
              </a:ext>
            </a:extLst>
          </p:cNvPr>
          <p:cNvSpPr>
            <a:spLocks noGrp="1"/>
          </p:cNvSpPr>
          <p:nvPr>
            <p:ph idx="1"/>
          </p:nvPr>
        </p:nvSpPr>
        <p:spPr/>
        <p:txBody>
          <a:bodyPr/>
          <a:lstStyle/>
          <a:p>
            <a:r>
              <a:rPr lang="en-CA" dirty="0"/>
              <a:t>Project level </a:t>
            </a:r>
            <a:r>
              <a:rPr lang="en-CA" dirty="0" err="1"/>
              <a:t>build.gradle</a:t>
            </a:r>
            <a:r>
              <a:rPr lang="en-CA" dirty="0"/>
              <a:t> file to import the appropriate dependency (bundled or unbundled)</a:t>
            </a:r>
          </a:p>
          <a:p>
            <a:r>
              <a:rPr lang="en-CA" dirty="0"/>
              <a:t>Android Manifest file</a:t>
            </a:r>
          </a:p>
          <a:p>
            <a:pPr lvl="1"/>
            <a:r>
              <a:rPr lang="en-CA" dirty="0"/>
              <a:t>If choosing unbundled, you can set the meta-data for this application to download the dependency upon download.   If you don’t set this, the </a:t>
            </a:r>
            <a:r>
              <a:rPr lang="en-CA" dirty="0" err="1"/>
              <a:t>douwnload</a:t>
            </a:r>
            <a:r>
              <a:rPr lang="en-CA" dirty="0"/>
              <a:t> will happen the first time you run the scanner.</a:t>
            </a:r>
          </a:p>
        </p:txBody>
      </p:sp>
      <p:sp>
        <p:nvSpPr>
          <p:cNvPr id="4" name="Footer Placeholder 3">
            <a:extLst>
              <a:ext uri="{FF2B5EF4-FFF2-40B4-BE49-F238E27FC236}">
                <a16:creationId xmlns:a16="http://schemas.microsoft.com/office/drawing/2014/main" id="{B21C3560-D102-E7E4-2C5E-EF534BB3E922}"/>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165975924"/>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64259-35D7-BB6C-4A61-1AA4F7746937}"/>
              </a:ext>
            </a:extLst>
          </p:cNvPr>
          <p:cNvSpPr>
            <a:spLocks noGrp="1"/>
          </p:cNvSpPr>
          <p:nvPr>
            <p:ph type="title"/>
          </p:nvPr>
        </p:nvSpPr>
        <p:spPr/>
        <p:txBody>
          <a:bodyPr/>
          <a:lstStyle/>
          <a:p>
            <a:r>
              <a:rPr lang="en-CA" dirty="0"/>
              <a:t>OCR Code behind</a:t>
            </a:r>
          </a:p>
        </p:txBody>
      </p:sp>
      <p:sp>
        <p:nvSpPr>
          <p:cNvPr id="3" name="Content Placeholder 2">
            <a:extLst>
              <a:ext uri="{FF2B5EF4-FFF2-40B4-BE49-F238E27FC236}">
                <a16:creationId xmlns:a16="http://schemas.microsoft.com/office/drawing/2014/main" id="{6F6E2FD8-3FA8-FBAE-8D0D-09221EAB7064}"/>
              </a:ext>
            </a:extLst>
          </p:cNvPr>
          <p:cNvSpPr>
            <a:spLocks noGrp="1"/>
          </p:cNvSpPr>
          <p:nvPr>
            <p:ph idx="1"/>
          </p:nvPr>
        </p:nvSpPr>
        <p:spPr/>
        <p:txBody>
          <a:bodyPr/>
          <a:lstStyle/>
          <a:p>
            <a:pPr marL="514350" indent="-514350">
              <a:buFont typeface="+mj-lt"/>
              <a:buAutoNum type="arabicPeriod"/>
            </a:pPr>
            <a:r>
              <a:rPr lang="en-CA" dirty="0"/>
              <a:t>Create an instance of the </a:t>
            </a:r>
            <a:r>
              <a:rPr lang="en-CA" dirty="0" err="1"/>
              <a:t>TextRecognizer</a:t>
            </a:r>
            <a:endParaRPr lang="en-CA" dirty="0"/>
          </a:p>
          <a:p>
            <a:pPr marL="514350" indent="-514350">
              <a:buFont typeface="+mj-lt"/>
              <a:buAutoNum type="arabicPeriod"/>
            </a:pPr>
            <a:r>
              <a:rPr lang="en-CA" dirty="0"/>
              <a:t>Prepare the input image</a:t>
            </a:r>
          </a:p>
          <a:p>
            <a:pPr marL="514350" indent="-514350">
              <a:buFont typeface="+mj-lt"/>
              <a:buAutoNum type="arabicPeriod"/>
            </a:pPr>
            <a:r>
              <a:rPr lang="en-CA" dirty="0"/>
              <a:t>Process the image</a:t>
            </a:r>
          </a:p>
          <a:p>
            <a:pPr marL="514350" indent="-514350">
              <a:buFont typeface="+mj-lt"/>
              <a:buAutoNum type="arabicPeriod"/>
            </a:pPr>
            <a:r>
              <a:rPr lang="en-CA" dirty="0"/>
              <a:t>Extract Text from blocks of recognized text</a:t>
            </a:r>
          </a:p>
        </p:txBody>
      </p:sp>
      <p:sp>
        <p:nvSpPr>
          <p:cNvPr id="4" name="Footer Placeholder 3">
            <a:extLst>
              <a:ext uri="{FF2B5EF4-FFF2-40B4-BE49-F238E27FC236}">
                <a16:creationId xmlns:a16="http://schemas.microsoft.com/office/drawing/2014/main" id="{B85E2153-ACC0-FF08-3F4A-F1A19C5D3D98}"/>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68306828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F8E709-0B16-3B6A-85D5-7CAF0E2D8931}"/>
              </a:ext>
            </a:extLst>
          </p:cNvPr>
          <p:cNvSpPr>
            <a:spLocks noGrp="1"/>
          </p:cNvSpPr>
          <p:nvPr>
            <p:ph type="title"/>
          </p:nvPr>
        </p:nvSpPr>
        <p:spPr/>
        <p:txBody>
          <a:bodyPr/>
          <a:lstStyle/>
          <a:p>
            <a:r>
              <a:rPr lang="en-CA" dirty="0"/>
              <a:t>Link to </a:t>
            </a:r>
            <a:r>
              <a:rPr lang="en-CA" dirty="0" err="1"/>
              <a:t>Codelab</a:t>
            </a:r>
            <a:r>
              <a:rPr lang="en-CA" dirty="0"/>
              <a:t> for Text Recognition</a:t>
            </a:r>
          </a:p>
        </p:txBody>
      </p:sp>
      <p:sp>
        <p:nvSpPr>
          <p:cNvPr id="3" name="Content Placeholder 2">
            <a:extLst>
              <a:ext uri="{FF2B5EF4-FFF2-40B4-BE49-F238E27FC236}">
                <a16:creationId xmlns:a16="http://schemas.microsoft.com/office/drawing/2014/main" id="{F750CEDD-61F8-7D6A-4053-49A40730A8CD}"/>
              </a:ext>
            </a:extLst>
          </p:cNvPr>
          <p:cNvSpPr>
            <a:spLocks noGrp="1"/>
          </p:cNvSpPr>
          <p:nvPr>
            <p:ph idx="1"/>
          </p:nvPr>
        </p:nvSpPr>
        <p:spPr>
          <a:xfrm>
            <a:off x="228600" y="1905000"/>
            <a:ext cx="11734800" cy="4267200"/>
          </a:xfrm>
        </p:spPr>
        <p:txBody>
          <a:bodyPr/>
          <a:lstStyle/>
          <a:p>
            <a:pPr marL="0" indent="0">
              <a:buNone/>
            </a:pPr>
            <a:r>
              <a:rPr lang="en-CA" dirty="0" err="1"/>
              <a:t>Codelab</a:t>
            </a:r>
            <a:r>
              <a:rPr lang="en-CA" dirty="0"/>
              <a:t> for Recognizing Text and Facial features</a:t>
            </a:r>
          </a:p>
          <a:p>
            <a:pPr marL="0" indent="0">
              <a:buNone/>
            </a:pPr>
            <a:r>
              <a:rPr lang="en-CA" dirty="0">
                <a:hlinkClick r:id="rId2"/>
              </a:rPr>
              <a:t>https://codelabs.developers.google.com/codelabs/mlkit-android</a:t>
            </a:r>
            <a:endParaRPr lang="en-CA" dirty="0"/>
          </a:p>
          <a:p>
            <a:pPr marL="0" indent="0">
              <a:buNone/>
            </a:pPr>
            <a:endParaRPr lang="en-CA" dirty="0"/>
          </a:p>
          <a:p>
            <a:pPr marL="0" indent="0">
              <a:buNone/>
            </a:pPr>
            <a:endParaRPr lang="en-CA" dirty="0"/>
          </a:p>
        </p:txBody>
      </p:sp>
      <p:sp>
        <p:nvSpPr>
          <p:cNvPr id="4" name="Footer Placeholder 3">
            <a:extLst>
              <a:ext uri="{FF2B5EF4-FFF2-40B4-BE49-F238E27FC236}">
                <a16:creationId xmlns:a16="http://schemas.microsoft.com/office/drawing/2014/main" id="{48B4B8AC-BE79-E539-D9E9-F504557EA4EC}"/>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38056514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6050F-E8DE-5A26-B278-2D512C209735}"/>
              </a:ext>
            </a:extLst>
          </p:cNvPr>
          <p:cNvSpPr>
            <a:spLocks noGrp="1"/>
          </p:cNvSpPr>
          <p:nvPr>
            <p:ph type="title"/>
          </p:nvPr>
        </p:nvSpPr>
        <p:spPr/>
        <p:txBody>
          <a:bodyPr/>
          <a:lstStyle/>
          <a:p>
            <a:r>
              <a:rPr lang="en-CA" dirty="0"/>
              <a:t>Barcode Scanner</a:t>
            </a:r>
          </a:p>
        </p:txBody>
      </p:sp>
      <p:sp>
        <p:nvSpPr>
          <p:cNvPr id="3" name="Content Placeholder 2">
            <a:extLst>
              <a:ext uri="{FF2B5EF4-FFF2-40B4-BE49-F238E27FC236}">
                <a16:creationId xmlns:a16="http://schemas.microsoft.com/office/drawing/2014/main" id="{0F60490F-51AC-A539-8C5F-E21EC94AEE17}"/>
              </a:ext>
            </a:extLst>
          </p:cNvPr>
          <p:cNvSpPr>
            <a:spLocks noGrp="1"/>
          </p:cNvSpPr>
          <p:nvPr>
            <p:ph idx="1"/>
          </p:nvPr>
        </p:nvSpPr>
        <p:spPr/>
        <p:txBody>
          <a:bodyPr/>
          <a:lstStyle/>
          <a:p>
            <a:r>
              <a:rPr lang="en-CA" dirty="0">
                <a:hlinkClick r:id="rId2"/>
              </a:rPr>
              <a:t>https://developers.google.com/ml-kit/vision/barcode-scanning/code-scanner</a:t>
            </a:r>
            <a:endParaRPr lang="en-CA" dirty="0"/>
          </a:p>
          <a:p>
            <a:endParaRPr lang="en-CA" dirty="0"/>
          </a:p>
          <a:p>
            <a:r>
              <a:rPr lang="en-CA" dirty="0">
                <a:hlinkClick r:id="rId3"/>
              </a:rPr>
              <a:t>https://developers.google.com/ml-kit/vision/barcode-scanning/android</a:t>
            </a:r>
            <a:endParaRPr lang="en-CA" dirty="0"/>
          </a:p>
          <a:p>
            <a:endParaRPr lang="en-CA" dirty="0"/>
          </a:p>
          <a:p>
            <a:endParaRPr lang="en-CA" dirty="0"/>
          </a:p>
        </p:txBody>
      </p:sp>
      <p:sp>
        <p:nvSpPr>
          <p:cNvPr id="4" name="Footer Placeholder 3">
            <a:extLst>
              <a:ext uri="{FF2B5EF4-FFF2-40B4-BE49-F238E27FC236}">
                <a16:creationId xmlns:a16="http://schemas.microsoft.com/office/drawing/2014/main" id="{7A9D6386-5048-6EC6-2122-5E7D69A66C65}"/>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82057830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A1DCFA-1F24-1FD8-6FEA-11C4E10C0BDA}"/>
              </a:ext>
            </a:extLst>
          </p:cNvPr>
          <p:cNvSpPr>
            <a:spLocks noGrp="1"/>
          </p:cNvSpPr>
          <p:nvPr>
            <p:ph type="title"/>
          </p:nvPr>
        </p:nvSpPr>
        <p:spPr>
          <a:xfrm>
            <a:off x="685800" y="304801"/>
            <a:ext cx="10795000" cy="1431925"/>
          </a:xfrm>
        </p:spPr>
        <p:txBody>
          <a:bodyPr/>
          <a:lstStyle/>
          <a:p>
            <a:r>
              <a:rPr lang="en-CA" dirty="0"/>
              <a:t>Barcode API is available unbundled or bundled</a:t>
            </a:r>
          </a:p>
        </p:txBody>
      </p:sp>
      <p:pic>
        <p:nvPicPr>
          <p:cNvPr id="6" name="Content Placeholder 5" descr="Barcode unbundled vs bundled API">
            <a:extLst>
              <a:ext uri="{FF2B5EF4-FFF2-40B4-BE49-F238E27FC236}">
                <a16:creationId xmlns:a16="http://schemas.microsoft.com/office/drawing/2014/main" id="{4279244F-F4D9-9664-E8FD-08DF064BDD81}"/>
              </a:ext>
            </a:extLst>
          </p:cNvPr>
          <p:cNvPicPr>
            <a:picLocks noGrp="1" noChangeAspect="1"/>
          </p:cNvPicPr>
          <p:nvPr>
            <p:ph idx="1"/>
          </p:nvPr>
        </p:nvPicPr>
        <p:blipFill>
          <a:blip r:embed="rId2"/>
          <a:stretch>
            <a:fillRect/>
          </a:stretch>
        </p:blipFill>
        <p:spPr bwMode="auto">
          <a:xfrm>
            <a:off x="609600" y="2362200"/>
            <a:ext cx="11240316" cy="2853646"/>
          </a:xfrm>
          <a:prstGeom prst="rect">
            <a:avLst/>
          </a:prstGeom>
          <a:noFill/>
          <a:ln w="9525">
            <a:noFill/>
            <a:miter lim="800000"/>
            <a:headEnd/>
            <a:tailEnd/>
          </a:ln>
          <a:effectLst/>
        </p:spPr>
      </p:pic>
      <p:sp>
        <p:nvSpPr>
          <p:cNvPr id="4" name="Footer Placeholder 3">
            <a:extLst>
              <a:ext uri="{FF2B5EF4-FFF2-40B4-BE49-F238E27FC236}">
                <a16:creationId xmlns:a16="http://schemas.microsoft.com/office/drawing/2014/main" id="{8808E67B-CCF6-103D-21DB-2532CF835A24}"/>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118684539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24C06-6D45-F73F-CCD0-6D039AE75E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D71F98-C553-D7F7-C865-94C2F036C4CF}"/>
              </a:ext>
            </a:extLst>
          </p:cNvPr>
          <p:cNvSpPr>
            <a:spLocks noGrp="1"/>
          </p:cNvSpPr>
          <p:nvPr>
            <p:ph type="title"/>
          </p:nvPr>
        </p:nvSpPr>
        <p:spPr/>
        <p:txBody>
          <a:bodyPr/>
          <a:lstStyle/>
          <a:p>
            <a:r>
              <a:rPr lang="en-CA" dirty="0"/>
              <a:t>Barcode Android Studio Setup</a:t>
            </a:r>
          </a:p>
        </p:txBody>
      </p:sp>
      <p:sp>
        <p:nvSpPr>
          <p:cNvPr id="3" name="Content Placeholder 2">
            <a:extLst>
              <a:ext uri="{FF2B5EF4-FFF2-40B4-BE49-F238E27FC236}">
                <a16:creationId xmlns:a16="http://schemas.microsoft.com/office/drawing/2014/main" id="{D4889780-781B-210A-6894-40846F5077E7}"/>
              </a:ext>
            </a:extLst>
          </p:cNvPr>
          <p:cNvSpPr>
            <a:spLocks noGrp="1"/>
          </p:cNvSpPr>
          <p:nvPr>
            <p:ph idx="1"/>
          </p:nvPr>
        </p:nvSpPr>
        <p:spPr/>
        <p:txBody>
          <a:bodyPr/>
          <a:lstStyle/>
          <a:p>
            <a:r>
              <a:rPr lang="en-CA" dirty="0"/>
              <a:t>Project level </a:t>
            </a:r>
            <a:r>
              <a:rPr lang="en-CA" dirty="0" err="1"/>
              <a:t>build.gradle</a:t>
            </a:r>
            <a:r>
              <a:rPr lang="en-CA" dirty="0"/>
              <a:t> file to import the appropriate dependency (bundled or unbundled)</a:t>
            </a:r>
          </a:p>
          <a:p>
            <a:r>
              <a:rPr lang="en-CA" dirty="0"/>
              <a:t>Android Manifest file</a:t>
            </a:r>
          </a:p>
          <a:p>
            <a:pPr lvl="1"/>
            <a:r>
              <a:rPr lang="en-CA" dirty="0"/>
              <a:t>If choosing unbundled, you can set the meta-data for this application to download the dependency upon download.   If you don’t set this, the </a:t>
            </a:r>
            <a:r>
              <a:rPr lang="en-CA" dirty="0" err="1"/>
              <a:t>douwnload</a:t>
            </a:r>
            <a:r>
              <a:rPr lang="en-CA" dirty="0"/>
              <a:t> will happen the first time you run the scanner.</a:t>
            </a:r>
          </a:p>
        </p:txBody>
      </p:sp>
      <p:sp>
        <p:nvSpPr>
          <p:cNvPr id="4" name="Footer Placeholder 3">
            <a:extLst>
              <a:ext uri="{FF2B5EF4-FFF2-40B4-BE49-F238E27FC236}">
                <a16:creationId xmlns:a16="http://schemas.microsoft.com/office/drawing/2014/main" id="{C97789C7-BFEB-44B0-7CCA-B48E002E8F54}"/>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251042766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2CADD-4867-432B-8A5C-5FB15B4BF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FFD31-ABD1-DA4A-EBC4-8129E1DF3ECA}"/>
              </a:ext>
            </a:extLst>
          </p:cNvPr>
          <p:cNvSpPr>
            <a:spLocks noGrp="1"/>
          </p:cNvSpPr>
          <p:nvPr>
            <p:ph type="title"/>
          </p:nvPr>
        </p:nvSpPr>
        <p:spPr/>
        <p:txBody>
          <a:bodyPr/>
          <a:lstStyle/>
          <a:p>
            <a:r>
              <a:rPr lang="en-CA" dirty="0"/>
              <a:t>Barcode Code behind</a:t>
            </a:r>
          </a:p>
        </p:txBody>
      </p:sp>
      <p:sp>
        <p:nvSpPr>
          <p:cNvPr id="3" name="Content Placeholder 2">
            <a:extLst>
              <a:ext uri="{FF2B5EF4-FFF2-40B4-BE49-F238E27FC236}">
                <a16:creationId xmlns:a16="http://schemas.microsoft.com/office/drawing/2014/main" id="{1FB72BC7-6DE6-0FA1-3D7E-170445D111DC}"/>
              </a:ext>
            </a:extLst>
          </p:cNvPr>
          <p:cNvSpPr>
            <a:spLocks noGrp="1"/>
          </p:cNvSpPr>
          <p:nvPr>
            <p:ph idx="1"/>
          </p:nvPr>
        </p:nvSpPr>
        <p:spPr/>
        <p:txBody>
          <a:bodyPr/>
          <a:lstStyle/>
          <a:p>
            <a:pPr marL="514350" indent="-514350">
              <a:buFont typeface="+mj-lt"/>
              <a:buAutoNum type="arabicPeriod"/>
            </a:pPr>
            <a:r>
              <a:rPr lang="en-CA" dirty="0"/>
              <a:t>Configure the Barcode Scanner</a:t>
            </a:r>
          </a:p>
          <a:p>
            <a:pPr marL="514350" indent="-514350">
              <a:buFont typeface="+mj-lt"/>
              <a:buAutoNum type="arabicPeriod"/>
            </a:pPr>
            <a:r>
              <a:rPr lang="en-CA" dirty="0"/>
              <a:t>Prepare the input image</a:t>
            </a:r>
          </a:p>
          <a:p>
            <a:pPr marL="514350" indent="-514350">
              <a:buFont typeface="+mj-lt"/>
              <a:buAutoNum type="arabicPeriod"/>
            </a:pPr>
            <a:r>
              <a:rPr lang="en-CA" dirty="0"/>
              <a:t>Get an instance of </a:t>
            </a:r>
            <a:r>
              <a:rPr lang="en-CA" dirty="0" err="1"/>
              <a:t>BarcodeScanner</a:t>
            </a:r>
            <a:endParaRPr lang="en-CA" dirty="0"/>
          </a:p>
          <a:p>
            <a:pPr marL="514350" indent="-514350">
              <a:buFont typeface="+mj-lt"/>
              <a:buAutoNum type="arabicPeriod"/>
            </a:pPr>
            <a:r>
              <a:rPr lang="en-CA" dirty="0"/>
              <a:t>Process the image</a:t>
            </a:r>
          </a:p>
          <a:p>
            <a:pPr marL="514350" indent="-514350">
              <a:buFont typeface="+mj-lt"/>
              <a:buAutoNum type="arabicPeriod"/>
            </a:pPr>
            <a:r>
              <a:rPr lang="en-CA" dirty="0"/>
              <a:t>Get information from barcodes</a:t>
            </a:r>
          </a:p>
        </p:txBody>
      </p:sp>
      <p:sp>
        <p:nvSpPr>
          <p:cNvPr id="4" name="Footer Placeholder 3">
            <a:extLst>
              <a:ext uri="{FF2B5EF4-FFF2-40B4-BE49-F238E27FC236}">
                <a16:creationId xmlns:a16="http://schemas.microsoft.com/office/drawing/2014/main" id="{521DDB46-11E4-FBDC-9CB9-CFE384FF8D99}"/>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47356276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3594B-0231-5930-E2A0-11BEA8F4824A}"/>
              </a:ext>
            </a:extLst>
          </p:cNvPr>
          <p:cNvSpPr>
            <a:spLocks noGrp="1"/>
          </p:cNvSpPr>
          <p:nvPr>
            <p:ph type="title"/>
          </p:nvPr>
        </p:nvSpPr>
        <p:spPr/>
        <p:txBody>
          <a:bodyPr/>
          <a:lstStyle/>
          <a:p>
            <a:r>
              <a:rPr lang="en-CA" dirty="0"/>
              <a:t>Tips: Use of camera</a:t>
            </a:r>
          </a:p>
        </p:txBody>
      </p:sp>
      <p:sp>
        <p:nvSpPr>
          <p:cNvPr id="3" name="Content Placeholder 2">
            <a:extLst>
              <a:ext uri="{FF2B5EF4-FFF2-40B4-BE49-F238E27FC236}">
                <a16:creationId xmlns:a16="http://schemas.microsoft.com/office/drawing/2014/main" id="{523A0FB8-642A-57CD-45FF-0C51276EFC56}"/>
              </a:ext>
            </a:extLst>
          </p:cNvPr>
          <p:cNvSpPr>
            <a:spLocks noGrp="1"/>
          </p:cNvSpPr>
          <p:nvPr>
            <p:ph idx="1"/>
          </p:nvPr>
        </p:nvSpPr>
        <p:spPr/>
        <p:txBody>
          <a:bodyPr/>
          <a:lstStyle/>
          <a:p>
            <a:r>
              <a:rPr lang="en-CA" dirty="0"/>
              <a:t>In the demo we used images from the assets folder.  However if you are using the phone camera to get the image, you may need to deal with the image orientation based on metadata (e.g. using Exif information) to ensure that the text is correctly oriented during recognition.</a:t>
            </a:r>
          </a:p>
        </p:txBody>
      </p:sp>
      <p:sp>
        <p:nvSpPr>
          <p:cNvPr id="4" name="Footer Placeholder 3">
            <a:extLst>
              <a:ext uri="{FF2B5EF4-FFF2-40B4-BE49-F238E27FC236}">
                <a16:creationId xmlns:a16="http://schemas.microsoft.com/office/drawing/2014/main" id="{A71D201E-F163-AB60-EEA1-E42A6FD3A8B4}"/>
              </a:ext>
            </a:extLst>
          </p:cNvPr>
          <p:cNvSpPr>
            <a:spLocks noGrp="1"/>
          </p:cNvSpPr>
          <p:nvPr>
            <p:ph type="ftr" sz="quarter" idx="11"/>
          </p:nvPr>
        </p:nvSpPr>
        <p:spPr/>
        <p:txBody>
          <a:bodyPr/>
          <a:lstStyle/>
          <a:p>
            <a:pPr>
              <a:defRPr/>
            </a:pPr>
            <a:r>
              <a:rPr lang="en-US"/>
              <a:t>L Wong                                           INFO 5126</a:t>
            </a:r>
          </a:p>
        </p:txBody>
      </p:sp>
    </p:spTree>
    <p:extLst>
      <p:ext uri="{BB962C8B-B14F-4D97-AF65-F5344CB8AC3E}">
        <p14:creationId xmlns:p14="http://schemas.microsoft.com/office/powerpoint/2010/main" val="3273175406"/>
      </p:ext>
    </p:extLst>
  </p:cSld>
  <p:clrMapOvr>
    <a:masterClrMapping/>
  </p:clrMapOvr>
  <p:transition spd="med"/>
</p:sld>
</file>

<file path=ppt/theme/theme1.xml><?xml version="1.0" encoding="utf-8"?>
<a:theme xmlns:a="http://schemas.openxmlformats.org/drawingml/2006/main" name="Shimmer">
  <a:themeElements>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fontScheme name="Shimmer">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Shimmer 1">
        <a:dk1>
          <a:srgbClr val="BD3737"/>
        </a:dk1>
        <a:lt1>
          <a:srgbClr val="FFFFFF"/>
        </a:lt1>
        <a:dk2>
          <a:srgbClr val="721E1E"/>
        </a:dk2>
        <a:lt2>
          <a:srgbClr val="FFCC00"/>
        </a:lt2>
        <a:accent1>
          <a:srgbClr val="FF6600"/>
        </a:accent1>
        <a:accent2>
          <a:srgbClr val="CC3300"/>
        </a:accent2>
        <a:accent3>
          <a:srgbClr val="BCABAB"/>
        </a:accent3>
        <a:accent4>
          <a:srgbClr val="DADADA"/>
        </a:accent4>
        <a:accent5>
          <a:srgbClr val="FFB8AA"/>
        </a:accent5>
        <a:accent6>
          <a:srgbClr val="B92D00"/>
        </a:accent6>
        <a:hlink>
          <a:srgbClr val="F7CC2F"/>
        </a:hlink>
        <a:folHlink>
          <a:srgbClr val="C7C6B1"/>
        </a:folHlink>
      </a:clrScheme>
      <a:clrMap bg1="dk2" tx1="lt1" bg2="dk1" tx2="lt2" accent1="accent1" accent2="accent2" accent3="accent3" accent4="accent4" accent5="accent5" accent6="accent6" hlink="hlink" folHlink="folHlink"/>
    </a:extraClrScheme>
    <a:extraClrScheme>
      <a:clrScheme name="Shimmer 2">
        <a:dk1>
          <a:srgbClr val="000099"/>
        </a:dk1>
        <a:lt1>
          <a:srgbClr val="FFFFFF"/>
        </a:lt1>
        <a:dk2>
          <a:srgbClr val="000066"/>
        </a:dk2>
        <a:lt2>
          <a:srgbClr val="EAEAEA"/>
        </a:lt2>
        <a:accent1>
          <a:srgbClr val="66CCFF"/>
        </a:accent1>
        <a:accent2>
          <a:srgbClr val="0066FF"/>
        </a:accent2>
        <a:accent3>
          <a:srgbClr val="AAAAB8"/>
        </a:accent3>
        <a:accent4>
          <a:srgbClr val="DADADA"/>
        </a:accent4>
        <a:accent5>
          <a:srgbClr val="B8E2FF"/>
        </a:accent5>
        <a:accent6>
          <a:srgbClr val="005CE7"/>
        </a:accent6>
        <a:hlink>
          <a:srgbClr val="FFFFCC"/>
        </a:hlink>
        <a:folHlink>
          <a:srgbClr val="99CC00"/>
        </a:folHlink>
      </a:clrScheme>
      <a:clrMap bg1="dk2" tx1="lt1" bg2="dk1" tx2="lt2" accent1="accent1" accent2="accent2" accent3="accent3" accent4="accent4" accent5="accent5" accent6="accent6" hlink="hlink" folHlink="folHlink"/>
    </a:extraClrScheme>
    <a:extraClrScheme>
      <a:clrScheme name="Shimmer 3">
        <a:dk1>
          <a:srgbClr val="6600CC"/>
        </a:dk1>
        <a:lt1>
          <a:srgbClr val="FFFFFF"/>
        </a:lt1>
        <a:dk2>
          <a:srgbClr val="4B0096"/>
        </a:dk2>
        <a:lt2>
          <a:srgbClr val="CDD7DF"/>
        </a:lt2>
        <a:accent1>
          <a:srgbClr val="9999FF"/>
        </a:accent1>
        <a:accent2>
          <a:srgbClr val="7850BA"/>
        </a:accent2>
        <a:accent3>
          <a:srgbClr val="B1AAC9"/>
        </a:accent3>
        <a:accent4>
          <a:srgbClr val="DADADA"/>
        </a:accent4>
        <a:accent5>
          <a:srgbClr val="CACAFF"/>
        </a:accent5>
        <a:accent6>
          <a:srgbClr val="6C48A8"/>
        </a:accent6>
        <a:hlink>
          <a:srgbClr val="00CCFF"/>
        </a:hlink>
        <a:folHlink>
          <a:srgbClr val="0796B3"/>
        </a:folHlink>
      </a:clrScheme>
      <a:clrMap bg1="dk2" tx1="lt1" bg2="dk1" tx2="lt2" accent1="accent1" accent2="accent2" accent3="accent3" accent4="accent4" accent5="accent5" accent6="accent6" hlink="hlink" folHlink="folHlink"/>
    </a:extraClrScheme>
    <a:extraClrScheme>
      <a:clrScheme name="Shimmer 4">
        <a:dk1>
          <a:srgbClr val="55863C"/>
        </a:dk1>
        <a:lt1>
          <a:srgbClr val="FFFFFF"/>
        </a:lt1>
        <a:dk2>
          <a:srgbClr val="375F2F"/>
        </a:dk2>
        <a:lt2>
          <a:srgbClr val="D1EFB3"/>
        </a:lt2>
        <a:accent1>
          <a:srgbClr val="00CC66"/>
        </a:accent1>
        <a:accent2>
          <a:srgbClr val="8EAC66"/>
        </a:accent2>
        <a:accent3>
          <a:srgbClr val="AEB6AD"/>
        </a:accent3>
        <a:accent4>
          <a:srgbClr val="DADADA"/>
        </a:accent4>
        <a:accent5>
          <a:srgbClr val="AAE2B8"/>
        </a:accent5>
        <a:accent6>
          <a:srgbClr val="809B5C"/>
        </a:accent6>
        <a:hlink>
          <a:srgbClr val="B4EF7F"/>
        </a:hlink>
        <a:folHlink>
          <a:srgbClr val="F8F6AC"/>
        </a:folHlink>
      </a:clrScheme>
      <a:clrMap bg1="dk2" tx1="lt1" bg2="dk1" tx2="lt2" accent1="accent1" accent2="accent2" accent3="accent3" accent4="accent4" accent5="accent5" accent6="accent6" hlink="hlink" folHlink="folHlink"/>
    </a:extraClrScheme>
    <a:extraClrScheme>
      <a:clrScheme name="Shimmer 5">
        <a:dk1>
          <a:srgbClr val="588073"/>
        </a:dk1>
        <a:lt1>
          <a:srgbClr val="FFFFFF"/>
        </a:lt1>
        <a:dk2>
          <a:srgbClr val="486768"/>
        </a:dk2>
        <a:lt2>
          <a:srgbClr val="DDDDDD"/>
        </a:lt2>
        <a:accent1>
          <a:srgbClr val="33CCCC"/>
        </a:accent1>
        <a:accent2>
          <a:srgbClr val="008871"/>
        </a:accent2>
        <a:accent3>
          <a:srgbClr val="B1B8B9"/>
        </a:accent3>
        <a:accent4>
          <a:srgbClr val="DADADA"/>
        </a:accent4>
        <a:accent5>
          <a:srgbClr val="ADE2E2"/>
        </a:accent5>
        <a:accent6>
          <a:srgbClr val="007B66"/>
        </a:accent6>
        <a:hlink>
          <a:srgbClr val="00CC99"/>
        </a:hlink>
        <a:folHlink>
          <a:srgbClr val="A8A8A8"/>
        </a:folHlink>
      </a:clrScheme>
      <a:clrMap bg1="dk2" tx1="lt1" bg2="dk1" tx2="lt2" accent1="accent1" accent2="accent2" accent3="accent3" accent4="accent4" accent5="accent5" accent6="accent6" hlink="hlink" folHlink="folHlink"/>
    </a:extraClrScheme>
    <a:extraClrScheme>
      <a:clrScheme name="Shimmer 6">
        <a:dk1>
          <a:srgbClr val="6B6C75"/>
        </a:dk1>
        <a:lt1>
          <a:srgbClr val="FFFFFF"/>
        </a:lt1>
        <a:dk2>
          <a:srgbClr val="575863"/>
        </a:dk2>
        <a:lt2>
          <a:srgbClr val="FFFFCC"/>
        </a:lt2>
        <a:accent1>
          <a:srgbClr val="677481"/>
        </a:accent1>
        <a:accent2>
          <a:srgbClr val="697E5E"/>
        </a:accent2>
        <a:accent3>
          <a:srgbClr val="B4B4B7"/>
        </a:accent3>
        <a:accent4>
          <a:srgbClr val="DADADA"/>
        </a:accent4>
        <a:accent5>
          <a:srgbClr val="B8BCC1"/>
        </a:accent5>
        <a:accent6>
          <a:srgbClr val="5E7254"/>
        </a:accent6>
        <a:hlink>
          <a:srgbClr val="E9E77F"/>
        </a:hlink>
        <a:folHlink>
          <a:srgbClr val="D3A44F"/>
        </a:folHlink>
      </a:clrScheme>
      <a:clrMap bg1="dk2" tx1="lt1" bg2="dk1" tx2="lt2" accent1="accent1" accent2="accent2" accent3="accent3" accent4="accent4" accent5="accent5" accent6="accent6" hlink="hlink" folHlink="folHlink"/>
    </a:extraClrScheme>
    <a:extraClrScheme>
      <a:clrScheme name="Shimmer 7">
        <a:dk1>
          <a:srgbClr val="000000"/>
        </a:dk1>
        <a:lt1>
          <a:srgbClr val="C4D6BE"/>
        </a:lt1>
        <a:dk2>
          <a:srgbClr val="339966"/>
        </a:dk2>
        <a:lt2>
          <a:srgbClr val="EFFBF0"/>
        </a:lt2>
        <a:accent1>
          <a:srgbClr val="DDDDDD"/>
        </a:accent1>
        <a:accent2>
          <a:srgbClr val="CCFF99"/>
        </a:accent2>
        <a:accent3>
          <a:srgbClr val="DEE8DB"/>
        </a:accent3>
        <a:accent4>
          <a:srgbClr val="000000"/>
        </a:accent4>
        <a:accent5>
          <a:srgbClr val="EBEBEB"/>
        </a:accent5>
        <a:accent6>
          <a:srgbClr val="B9E78A"/>
        </a:accent6>
        <a:hlink>
          <a:srgbClr val="009900"/>
        </a:hlink>
        <a:folHlink>
          <a:srgbClr val="336600"/>
        </a:folHlink>
      </a:clrScheme>
      <a:clrMap bg1="lt1" tx1="dk1" bg2="lt2" tx2="dk2" accent1="accent1" accent2="accent2" accent3="accent3" accent4="accent4" accent5="accent5" accent6="accent6" hlink="hlink" folHlink="folHlink"/>
    </a:extraClrScheme>
    <a:extraClrScheme>
      <a:clrScheme name="Shimmer 8">
        <a:dk1>
          <a:srgbClr val="000000"/>
        </a:dk1>
        <a:lt1>
          <a:srgbClr val="D6DAE4"/>
        </a:lt1>
        <a:dk2>
          <a:srgbClr val="000099"/>
        </a:dk2>
        <a:lt2>
          <a:srgbClr val="FFFFFF"/>
        </a:lt2>
        <a:accent1>
          <a:srgbClr val="BFDEE3"/>
        </a:accent1>
        <a:accent2>
          <a:srgbClr val="C0C0C0"/>
        </a:accent2>
        <a:accent3>
          <a:srgbClr val="E8EAEF"/>
        </a:accent3>
        <a:accent4>
          <a:srgbClr val="000000"/>
        </a:accent4>
        <a:accent5>
          <a:srgbClr val="DCECEF"/>
        </a:accent5>
        <a:accent6>
          <a:srgbClr val="AEAEAE"/>
        </a:accent6>
        <a:hlink>
          <a:srgbClr val="3333CC"/>
        </a:hlink>
        <a:folHlink>
          <a:srgbClr val="5E93C9"/>
        </a:folHlink>
      </a:clrScheme>
      <a:clrMap bg1="lt1" tx1="dk1" bg2="lt2" tx2="dk2" accent1="accent1" accent2="accent2" accent3="accent3" accent4="accent4" accent5="accent5" accent6="accent6" hlink="hlink" folHlink="folHlink"/>
    </a:extraClrScheme>
    <a:extraClrScheme>
      <a:clrScheme name="Shimmer 9">
        <a:dk1>
          <a:srgbClr val="4A2500"/>
        </a:dk1>
        <a:lt1>
          <a:srgbClr val="C2C0BA"/>
        </a:lt1>
        <a:dk2>
          <a:srgbClr val="788569"/>
        </a:dk2>
        <a:lt2>
          <a:srgbClr val="F4F4EC"/>
        </a:lt2>
        <a:accent1>
          <a:srgbClr val="E1DFC1"/>
        </a:accent1>
        <a:accent2>
          <a:srgbClr val="A5A7AF"/>
        </a:accent2>
        <a:accent3>
          <a:srgbClr val="DDDCD9"/>
        </a:accent3>
        <a:accent4>
          <a:srgbClr val="3E1E00"/>
        </a:accent4>
        <a:accent5>
          <a:srgbClr val="EEECDD"/>
        </a:accent5>
        <a:accent6>
          <a:srgbClr val="95979E"/>
        </a:accent6>
        <a:hlink>
          <a:srgbClr val="9C9800"/>
        </a:hlink>
        <a:folHlink>
          <a:srgbClr val="6666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Shimmer</Template>
  <TotalTime>18157</TotalTime>
  <Words>1171</Words>
  <Application>Microsoft Office PowerPoint</Application>
  <PresentationFormat>Widescreen</PresentationFormat>
  <Paragraphs>101</Paragraphs>
  <Slides>23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Aptos</vt:lpstr>
      <vt:lpstr>Tahoma</vt:lpstr>
      <vt:lpstr>Wingdings</vt:lpstr>
      <vt:lpstr>Shimmer</vt:lpstr>
      <vt:lpstr>AI/ML for Android (Special topic)</vt:lpstr>
      <vt:lpstr>AI and ML on Android Phones</vt:lpstr>
      <vt:lpstr>Gemini Nano</vt:lpstr>
      <vt:lpstr>Gemini Nano Exerimental Access for customized use cases</vt:lpstr>
      <vt:lpstr>Custom Models</vt:lpstr>
      <vt:lpstr>ML Kit</vt:lpstr>
      <vt:lpstr>ML Kit Introduction</vt:lpstr>
      <vt:lpstr>On Device or Cloud</vt:lpstr>
      <vt:lpstr>Guide to AI/ML solutions</vt:lpstr>
      <vt:lpstr>ML Kit – Simplest to use</vt:lpstr>
      <vt:lpstr>Finding the right solution</vt:lpstr>
      <vt:lpstr>Link to AI and ML-Kit overview</vt:lpstr>
      <vt:lpstr>Text Recognition v2</vt:lpstr>
      <vt:lpstr>OCR API is available unbundled or bundled</vt:lpstr>
      <vt:lpstr>Text Structure</vt:lpstr>
      <vt:lpstr>OCR Android Studio Setup</vt:lpstr>
      <vt:lpstr>OCR Code behind</vt:lpstr>
      <vt:lpstr>Link to Codelab for Text Recognition</vt:lpstr>
      <vt:lpstr>Barcode Scanner</vt:lpstr>
      <vt:lpstr>Barcode API is available unbundled or bundled</vt:lpstr>
      <vt:lpstr>Barcode Android Studio Setup</vt:lpstr>
      <vt:lpstr>Barcode Code behind</vt:lpstr>
      <vt:lpstr>Tips: Use of camera</vt:lpstr>
    </vt:vector>
  </TitlesOfParts>
  <Company>Fanshawe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 3097 - Mobile Computing</dc:title>
  <dc:creator>Lianne Wong</dc:creator>
  <cp:lastModifiedBy>Wong, Lianne</cp:lastModifiedBy>
  <cp:revision>176</cp:revision>
  <cp:lastPrinted>1601-01-01T00:00:00Z</cp:lastPrinted>
  <dcterms:created xsi:type="dcterms:W3CDTF">2006-01-09T20:05:33Z</dcterms:created>
  <dcterms:modified xsi:type="dcterms:W3CDTF">2025-09-23T13:04:46Z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TC010900171033</vt:lpwstr>
  </property>
</Properties>
</file>