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36"/>
  </p:notesMasterIdLst>
  <p:sldIdLst>
    <p:sldId id="337" r:id="rId2"/>
    <p:sldId id="632" r:id="rId3"/>
    <p:sldId id="345" r:id="rId4"/>
    <p:sldId id="608" r:id="rId5"/>
    <p:sldId id="343" r:id="rId6"/>
    <p:sldId id="634" r:id="rId7"/>
    <p:sldId id="662" r:id="rId8"/>
    <p:sldId id="664" r:id="rId9"/>
    <p:sldId id="346" r:id="rId10"/>
    <p:sldId id="350" r:id="rId11"/>
    <p:sldId id="351" r:id="rId12"/>
    <p:sldId id="635" r:id="rId13"/>
    <p:sldId id="347" r:id="rId14"/>
    <p:sldId id="287" r:id="rId15"/>
    <p:sldId id="349" r:id="rId16"/>
    <p:sldId id="348" r:id="rId17"/>
    <p:sldId id="344" r:id="rId18"/>
    <p:sldId id="353" r:id="rId19"/>
    <p:sldId id="292" r:id="rId20"/>
    <p:sldId id="352" r:id="rId21"/>
    <p:sldId id="354" r:id="rId22"/>
    <p:sldId id="665" r:id="rId23"/>
    <p:sldId id="636" r:id="rId24"/>
    <p:sldId id="612" r:id="rId25"/>
    <p:sldId id="623" r:id="rId26"/>
    <p:sldId id="622" r:id="rId27"/>
    <p:sldId id="630" r:id="rId28"/>
    <p:sldId id="625" r:id="rId29"/>
    <p:sldId id="624" r:id="rId30"/>
    <p:sldId id="626" r:id="rId31"/>
    <p:sldId id="627" r:id="rId32"/>
    <p:sldId id="628" r:id="rId33"/>
    <p:sldId id="666" r:id="rId34"/>
    <p:sldId id="66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72"/>
    <p:restoredTop sz="31982" autoAdjust="0"/>
  </p:normalViewPr>
  <p:slideViewPr>
    <p:cSldViewPr>
      <p:cViewPr varScale="1">
        <p:scale>
          <a:sx n="39" d="100"/>
          <a:sy n="39" d="100"/>
        </p:scale>
        <p:origin x="2458" y="4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86CE69-9B83-4BFC-967F-F01EDBEF49C8}" type="datetimeFigureOut">
              <a:rPr lang="en-CA" smtClean="0"/>
              <a:t>2025-09-27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7F05A-124D-4761-92CF-CA0E7A978E73}" type="slidenum">
              <a:rPr lang="en-CA" smtClean="0"/>
              <a:t>‹#›</a:t>
            </a:fld>
            <a:endParaRPr lang="en-CA"/>
          </a:p>
        </p:txBody>
      </p:sp>
    </p:spTree>
    <p:extLst>
      <p:ext uri="{BB962C8B-B14F-4D97-AF65-F5344CB8AC3E}">
        <p14:creationId xmlns:p14="http://schemas.microsoft.com/office/powerpoint/2010/main" val="1443793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9E7F05A-124D-4761-92CF-CA0E7A978E73}" type="slidenum">
              <a:rPr lang="en-CA" smtClean="0"/>
              <a:t>3</a:t>
            </a:fld>
            <a:endParaRPr lang="en-CA"/>
          </a:p>
        </p:txBody>
      </p:sp>
    </p:spTree>
    <p:extLst>
      <p:ext uri="{BB962C8B-B14F-4D97-AF65-F5344CB8AC3E}">
        <p14:creationId xmlns:p14="http://schemas.microsoft.com/office/powerpoint/2010/main" val="4041184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0">
                      <a:schemeClr val="tx1"/>
                    </a:gs>
                    <a:gs pos="68000">
                      <a:srgbClr val="F1F1F1"/>
                    </a:gs>
                    <a:gs pos="100000">
                      <a:schemeClr val="bg1">
                        <a:lumMod val="11000"/>
                        <a:lumOff val="89000"/>
                      </a:schemeClr>
                    </a:gs>
                  </a:gsLst>
                  <a:lin ang="5400000" scaled="1"/>
                  <a:tileRect/>
                </a:gradFill>
                <a:effectLst>
                  <a:outerShdw blurRad="469900" dist="342900" dir="5400000" sy="-20000" rotWithShape="0">
                    <a:prstClr val="black">
                      <a:alpha val="66000"/>
                    </a:prstClr>
                  </a:outerShdw>
                </a:effectLst>
              </a:defRPr>
            </a:lvl1pPr>
          </a:lstStyle>
          <a:p>
            <a:pPr lvl="0" algn="r"/>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vert="horz" lIns="91440" tIns="45720" rIns="91440" bIns="45720" rtlCol="0"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stStyle>
          <a:p>
            <a:pPr marL="0" lvl="0" indent="0" algn="r">
              <a:buNone/>
            </a:pPr>
            <a:r>
              <a:rPr lang="en-US"/>
              <a:t>Click to edit Master subtitle style</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r>
              <a:rPr lang="en-US" altLang="en-US"/>
              <a:t>L Wong                              INFO 5126</a:t>
            </a:r>
          </a:p>
        </p:txBody>
      </p:sp>
      <p:sp>
        <p:nvSpPr>
          <p:cNvPr id="9" name="Slide Number Placeholder 8"/>
          <p:cNvSpPr>
            <a:spLocks noGrp="1"/>
          </p:cNvSpPr>
          <p:nvPr>
            <p:ph type="sldNum" sz="quarter" idx="12"/>
          </p:nvPr>
        </p:nvSpPr>
        <p:spPr/>
        <p:txBody>
          <a:bodyPr/>
          <a:lstStyle/>
          <a:p>
            <a:pPr>
              <a:defRPr/>
            </a:pPr>
            <a:fld id="{F5E8DA16-FD16-4173-8CC5-9DB57A23929B}" type="slidenum">
              <a:rPr lang="en-US" altLang="en-US" smtClean="0"/>
              <a:pPr>
                <a:defRPr/>
              </a:pPr>
              <a:t>‹#›</a:t>
            </a:fld>
            <a:endParaRPr lang="en-US" altLang="en-US"/>
          </a:p>
        </p:txBody>
      </p:sp>
    </p:spTree>
    <p:extLst>
      <p:ext uri="{BB962C8B-B14F-4D97-AF65-F5344CB8AC3E}">
        <p14:creationId xmlns:p14="http://schemas.microsoft.com/office/powerpoint/2010/main" val="2002874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L Wong                              INFO 5126</a:t>
            </a:r>
          </a:p>
        </p:txBody>
      </p:sp>
      <p:sp>
        <p:nvSpPr>
          <p:cNvPr id="6" name="Slide Number Placeholder 5"/>
          <p:cNvSpPr>
            <a:spLocks noGrp="1"/>
          </p:cNvSpPr>
          <p:nvPr>
            <p:ph type="sldNum" sz="quarter" idx="12"/>
          </p:nvPr>
        </p:nvSpPr>
        <p:spPr/>
        <p:txBody>
          <a:bodyPr/>
          <a:lstStyle/>
          <a:p>
            <a:pPr>
              <a:defRPr/>
            </a:pPr>
            <a:fld id="{9007E8FC-8A49-467F-942D-1712E8535D4B}" type="slidenum">
              <a:rPr lang="en-US" altLang="en-US" smtClean="0"/>
              <a:pPr>
                <a:defRPr/>
              </a:pPr>
              <a:t>‹#›</a:t>
            </a:fld>
            <a:endParaRPr lang="en-US" altLang="en-US"/>
          </a:p>
        </p:txBody>
      </p:sp>
    </p:spTree>
    <p:extLst>
      <p:ext uri="{BB962C8B-B14F-4D97-AF65-F5344CB8AC3E}">
        <p14:creationId xmlns:p14="http://schemas.microsoft.com/office/powerpoint/2010/main" val="1607109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32000"/>
                        <a:lumOff val="68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L Wong                              INFO 5126</a:t>
            </a:r>
          </a:p>
        </p:txBody>
      </p:sp>
      <p:sp>
        <p:nvSpPr>
          <p:cNvPr id="6" name="Slide Number Placeholder 5"/>
          <p:cNvSpPr>
            <a:spLocks noGrp="1"/>
          </p:cNvSpPr>
          <p:nvPr>
            <p:ph type="sldNum" sz="quarter" idx="12"/>
          </p:nvPr>
        </p:nvSpPr>
        <p:spPr/>
        <p:txBody>
          <a:bodyPr/>
          <a:lstStyle/>
          <a:p>
            <a:pPr>
              <a:defRPr/>
            </a:pPr>
            <a:fld id="{2EF41CDF-F84C-41C9-B109-D429D091FEA6}" type="slidenum">
              <a:rPr lang="en-US" altLang="en-US" smtClean="0"/>
              <a:pPr>
                <a:defRPr/>
              </a:pPr>
              <a:t>‹#›</a:t>
            </a:fld>
            <a:endParaRPr lang="en-US" altLang="en-US"/>
          </a:p>
        </p:txBody>
      </p:sp>
    </p:spTree>
    <p:extLst>
      <p:ext uri="{BB962C8B-B14F-4D97-AF65-F5344CB8AC3E}">
        <p14:creationId xmlns:p14="http://schemas.microsoft.com/office/powerpoint/2010/main" val="3745280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5126</a:t>
            </a:r>
          </a:p>
        </p:txBody>
      </p:sp>
      <p:sp>
        <p:nvSpPr>
          <p:cNvPr id="7" name="Slide Number Placeholder 6"/>
          <p:cNvSpPr>
            <a:spLocks noGrp="1"/>
          </p:cNvSpPr>
          <p:nvPr>
            <p:ph type="sldNum" sz="quarter" idx="12"/>
          </p:nvPr>
        </p:nvSpPr>
        <p:spPr/>
        <p:txBody>
          <a:bodyPr/>
          <a:lstStyle/>
          <a:p>
            <a:pPr>
              <a:defRPr/>
            </a:pPr>
            <a:fld id="{198A8C33-874C-4BE2-BAA6-BE93F307D79F}" type="slidenum">
              <a:rPr lang="en-US" altLang="en-US" smtClean="0"/>
              <a:pPr>
                <a:defRPr/>
              </a:pPr>
              <a:t>‹#›</a:t>
            </a:fld>
            <a:endParaRPr lang="en-US" altLang="en-US"/>
          </a:p>
        </p:txBody>
      </p:sp>
    </p:spTree>
    <p:extLst>
      <p:ext uri="{BB962C8B-B14F-4D97-AF65-F5344CB8AC3E}">
        <p14:creationId xmlns:p14="http://schemas.microsoft.com/office/powerpoint/2010/main" val="2662576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r>
              <a:rPr lang="en-US" altLang="en-US"/>
              <a:t>L Wong                              INFO 5126</a:t>
            </a:r>
          </a:p>
        </p:txBody>
      </p:sp>
      <p:sp>
        <p:nvSpPr>
          <p:cNvPr id="9" name="Slide Number Placeholder 8"/>
          <p:cNvSpPr>
            <a:spLocks noGrp="1"/>
          </p:cNvSpPr>
          <p:nvPr>
            <p:ph type="sldNum" sz="quarter" idx="12"/>
          </p:nvPr>
        </p:nvSpPr>
        <p:spPr/>
        <p:txBody>
          <a:bodyPr/>
          <a:lstStyle/>
          <a:p>
            <a:pPr>
              <a:defRPr/>
            </a:pPr>
            <a:fld id="{995A2EA6-624B-4CD5-93C8-EC6078B671C5}" type="slidenum">
              <a:rPr lang="en-US" altLang="en-US" smtClean="0"/>
              <a:pPr>
                <a:defRPr/>
              </a:pPr>
              <a:t>‹#›</a:t>
            </a:fld>
            <a:endParaRPr lang="en-US" altLang="en-US"/>
          </a:p>
        </p:txBody>
      </p:sp>
    </p:spTree>
    <p:extLst>
      <p:ext uri="{BB962C8B-B14F-4D97-AF65-F5344CB8AC3E}">
        <p14:creationId xmlns:p14="http://schemas.microsoft.com/office/powerpoint/2010/main" val="3756437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r>
              <a:rPr lang="en-US" altLang="en-US"/>
              <a:t>L Wong                              INFO 5126</a:t>
            </a:r>
          </a:p>
        </p:txBody>
      </p:sp>
      <p:sp>
        <p:nvSpPr>
          <p:cNvPr id="5" name="Slide Number Placeholder 4"/>
          <p:cNvSpPr>
            <a:spLocks noGrp="1"/>
          </p:cNvSpPr>
          <p:nvPr>
            <p:ph type="sldNum" sz="quarter" idx="12"/>
          </p:nvPr>
        </p:nvSpPr>
        <p:spPr/>
        <p:txBody>
          <a:bodyPr/>
          <a:lstStyle/>
          <a:p>
            <a:pPr>
              <a:defRPr/>
            </a:pPr>
            <a:fld id="{414BA877-4397-495E-9EB4-B8A2977CFF6E}" type="slidenum">
              <a:rPr lang="en-US" altLang="en-US" smtClean="0"/>
              <a:pPr>
                <a:defRPr/>
              </a:pPr>
              <a:t>‹#›</a:t>
            </a:fld>
            <a:endParaRPr lang="en-US" altLang="en-US"/>
          </a:p>
        </p:txBody>
      </p:sp>
    </p:spTree>
    <p:extLst>
      <p:ext uri="{BB962C8B-B14F-4D97-AF65-F5344CB8AC3E}">
        <p14:creationId xmlns:p14="http://schemas.microsoft.com/office/powerpoint/2010/main" val="1233516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r>
              <a:rPr lang="en-US" altLang="en-US"/>
              <a:t>L Wong                              INFO 5126</a:t>
            </a:r>
          </a:p>
        </p:txBody>
      </p:sp>
      <p:sp>
        <p:nvSpPr>
          <p:cNvPr id="4" name="Slide Number Placeholder 3"/>
          <p:cNvSpPr>
            <a:spLocks noGrp="1"/>
          </p:cNvSpPr>
          <p:nvPr>
            <p:ph type="sldNum" sz="quarter" idx="12"/>
          </p:nvPr>
        </p:nvSpPr>
        <p:spPr/>
        <p:txBody>
          <a:bodyPr/>
          <a:lstStyle/>
          <a:p>
            <a:pPr>
              <a:defRPr/>
            </a:pPr>
            <a:fld id="{FE4A31AE-9F69-4386-AF6A-D260991CDCF6}" type="slidenum">
              <a:rPr lang="en-US" altLang="en-US" smtClean="0"/>
              <a:pPr>
                <a:defRPr/>
              </a:pPr>
              <a:t>‹#›</a:t>
            </a:fld>
            <a:endParaRPr lang="en-US" altLang="en-US"/>
          </a:p>
        </p:txBody>
      </p:sp>
    </p:spTree>
    <p:extLst>
      <p:ext uri="{BB962C8B-B14F-4D97-AF65-F5344CB8AC3E}">
        <p14:creationId xmlns:p14="http://schemas.microsoft.com/office/powerpoint/2010/main" val="274864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5126</a:t>
            </a:r>
          </a:p>
        </p:txBody>
      </p:sp>
      <p:sp>
        <p:nvSpPr>
          <p:cNvPr id="7" name="Slide Number Placeholder 6"/>
          <p:cNvSpPr>
            <a:spLocks noGrp="1"/>
          </p:cNvSpPr>
          <p:nvPr>
            <p:ph type="sldNum" sz="quarter" idx="12"/>
          </p:nvPr>
        </p:nvSpPr>
        <p:spPr/>
        <p:txBody>
          <a:bodyPr/>
          <a:lstStyle/>
          <a:p>
            <a:pPr>
              <a:defRPr/>
            </a:pPr>
            <a:fld id="{B02438C5-90CE-46D1-AB56-B592004B368F}" type="slidenum">
              <a:rPr lang="en-US" altLang="en-US" smtClean="0"/>
              <a:pPr>
                <a:defRPr/>
              </a:pPr>
              <a:t>‹#›</a:t>
            </a:fld>
            <a:endParaRPr lang="en-US" altLang="en-US"/>
          </a:p>
        </p:txBody>
      </p:sp>
    </p:spTree>
    <p:extLst>
      <p:ext uri="{BB962C8B-B14F-4D97-AF65-F5344CB8AC3E}">
        <p14:creationId xmlns:p14="http://schemas.microsoft.com/office/powerpoint/2010/main" val="158167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5126</a:t>
            </a:r>
          </a:p>
        </p:txBody>
      </p:sp>
      <p:sp>
        <p:nvSpPr>
          <p:cNvPr id="7" name="Slide Number Placeholder 6"/>
          <p:cNvSpPr>
            <a:spLocks noGrp="1"/>
          </p:cNvSpPr>
          <p:nvPr>
            <p:ph type="sldNum" sz="quarter" idx="12"/>
          </p:nvPr>
        </p:nvSpPr>
        <p:spPr/>
        <p:txBody>
          <a:bodyPr/>
          <a:lstStyle/>
          <a:p>
            <a:pPr>
              <a:defRPr/>
            </a:pPr>
            <a:fld id="{24A90396-179D-4D06-8B01-628F5A0F6023}" type="slidenum">
              <a:rPr lang="en-US" altLang="en-US" smtClean="0"/>
              <a:pPr>
                <a:defRPr/>
              </a:pPr>
              <a:t>‹#›</a:t>
            </a:fld>
            <a:endParaRPr lang="en-US" altLang="en-US"/>
          </a:p>
        </p:txBody>
      </p:sp>
    </p:spTree>
    <p:extLst>
      <p:ext uri="{BB962C8B-B14F-4D97-AF65-F5344CB8AC3E}">
        <p14:creationId xmlns:p14="http://schemas.microsoft.com/office/powerpoint/2010/main" val="2909548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5126</a:t>
            </a:r>
          </a:p>
        </p:txBody>
      </p:sp>
      <p:sp>
        <p:nvSpPr>
          <p:cNvPr id="7" name="Slide Number Placeholder 6"/>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2167468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5126</a:t>
            </a:r>
          </a:p>
        </p:txBody>
      </p:sp>
      <p:sp>
        <p:nvSpPr>
          <p:cNvPr id="7" name="Slide Number Placeholder 6"/>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3996274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5126</a:t>
            </a:r>
          </a:p>
        </p:txBody>
      </p:sp>
      <p:sp>
        <p:nvSpPr>
          <p:cNvPr id="7" name="Slide Number Placeholder 6"/>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22283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L Wong                              INFO 5126</a:t>
            </a:r>
          </a:p>
        </p:txBody>
      </p:sp>
      <p:sp>
        <p:nvSpPr>
          <p:cNvPr id="7" name="Slide Number Placeholder 6"/>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9611585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r>
              <a:rPr lang="en-US" altLang="en-US"/>
              <a:t>L Wong                              INFO 5126</a:t>
            </a:r>
          </a:p>
        </p:txBody>
      </p:sp>
      <p:sp>
        <p:nvSpPr>
          <p:cNvPr id="5" name="Slide Number Placeholder 4"/>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568122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r>
              <a:rPr lang="en-US" altLang="en-US"/>
              <a:t>L Wong                              INFO 5126</a:t>
            </a:r>
          </a:p>
        </p:txBody>
      </p:sp>
      <p:sp>
        <p:nvSpPr>
          <p:cNvPr id="5" name="Slide Number Placeholder 4"/>
          <p:cNvSpPr>
            <a:spLocks noGrp="1"/>
          </p:cNvSpPr>
          <p:nvPr>
            <p:ph type="sldNum" sz="quarter" idx="12"/>
          </p:nvPr>
        </p:nvSpPr>
        <p:spPr/>
        <p:txBody>
          <a:body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371575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L Wong                              INFO 5126</a:t>
            </a:r>
          </a:p>
        </p:txBody>
      </p:sp>
      <p:sp>
        <p:nvSpPr>
          <p:cNvPr id="6" name="Slide Number Placeholder 5"/>
          <p:cNvSpPr>
            <a:spLocks noGrp="1"/>
          </p:cNvSpPr>
          <p:nvPr>
            <p:ph type="sldNum" sz="quarter" idx="12"/>
          </p:nvPr>
        </p:nvSpPr>
        <p:spPr/>
        <p:txBody>
          <a:bodyPr/>
          <a:lstStyle/>
          <a:p>
            <a:pPr>
              <a:defRPr/>
            </a:pPr>
            <a:fld id="{C82A8605-3C4F-48C9-A0F4-8CC7D044C307}" type="slidenum">
              <a:rPr lang="en-US" altLang="en-US" smtClean="0"/>
              <a:pPr>
                <a:defRPr/>
              </a:pPr>
              <a:t>‹#›</a:t>
            </a:fld>
            <a:endParaRPr lang="en-US" altLang="en-US"/>
          </a:p>
        </p:txBody>
      </p:sp>
    </p:spTree>
    <p:extLst>
      <p:ext uri="{BB962C8B-B14F-4D97-AF65-F5344CB8AC3E}">
        <p14:creationId xmlns:p14="http://schemas.microsoft.com/office/powerpoint/2010/main" val="1019622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L Wong                              INFO 5126</a:t>
            </a:r>
          </a:p>
        </p:txBody>
      </p:sp>
      <p:sp>
        <p:nvSpPr>
          <p:cNvPr id="6" name="Slide Number Placeholder 5"/>
          <p:cNvSpPr>
            <a:spLocks noGrp="1"/>
          </p:cNvSpPr>
          <p:nvPr>
            <p:ph type="sldNum" sz="quarter" idx="12"/>
          </p:nvPr>
        </p:nvSpPr>
        <p:spPr/>
        <p:txBody>
          <a:bodyPr/>
          <a:lstStyle/>
          <a:p>
            <a:pPr>
              <a:defRPr/>
            </a:pPr>
            <a:fld id="{75ABCC32-4A67-4B07-BDB9-BB86CED87E93}" type="slidenum">
              <a:rPr lang="en-US" altLang="en-US" smtClean="0"/>
              <a:pPr>
                <a:defRPr/>
              </a:pPr>
              <a:t>‹#›</a:t>
            </a:fld>
            <a:endParaRPr lang="en-US" altLang="en-US"/>
          </a:p>
        </p:txBody>
      </p:sp>
    </p:spTree>
    <p:extLst>
      <p:ext uri="{BB962C8B-B14F-4D97-AF65-F5344CB8AC3E}">
        <p14:creationId xmlns:p14="http://schemas.microsoft.com/office/powerpoint/2010/main" val="1488100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endParaRPr lang="en-U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r>
              <a:rPr lang="en-US" altLang="en-US"/>
              <a:t>L Wong                              INFO 5126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fld id="{51E4AEC1-ED9B-4DE4-984E-96DE4A1D952D}" type="slidenum">
              <a:rPr lang="en-US" altLang="en-US" smtClean="0"/>
              <a:pPr>
                <a:defRPr/>
              </a:pPr>
              <a:t>‹#›</a:t>
            </a:fld>
            <a:endParaRPr lang="en-US" altLang="en-US"/>
          </a:p>
        </p:txBody>
      </p:sp>
    </p:spTree>
    <p:extLst>
      <p:ext uri="{BB962C8B-B14F-4D97-AF65-F5344CB8AC3E}">
        <p14:creationId xmlns:p14="http://schemas.microsoft.com/office/powerpoint/2010/main" val="382494654"/>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hf sldNum="0" hd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13000"/>
                  <a:lumOff val="87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guides.codepath.com/android/using-dialogfragmen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Fragments</a:t>
            </a:r>
            <a:br>
              <a:rPr lang="en-US" dirty="0"/>
            </a:br>
            <a:endParaRPr lang="en-CA" dirty="0"/>
          </a:p>
        </p:txBody>
      </p:sp>
      <p:sp>
        <p:nvSpPr>
          <p:cNvPr id="3" name="Subtitle 2"/>
          <p:cNvSpPr>
            <a:spLocks noGrp="1"/>
          </p:cNvSpPr>
          <p:nvPr>
            <p:ph type="subTitle" idx="1"/>
          </p:nvPr>
        </p:nvSpPr>
        <p:spPr/>
        <p:txBody>
          <a:bodyPr>
            <a:normAutofit fontScale="85000" lnSpcReduction="20000"/>
          </a:bodyPr>
          <a:lstStyle/>
          <a:p>
            <a:r>
              <a:rPr lang="en-US" dirty="0"/>
              <a:t>INFO 5126:</a:t>
            </a:r>
            <a:br>
              <a:rPr lang="en-US" dirty="0"/>
            </a:br>
            <a:r>
              <a:rPr lang="en-US" dirty="0"/>
              <a:t>Mobile Development Advanced</a:t>
            </a:r>
          </a:p>
        </p:txBody>
      </p:sp>
      <p:sp>
        <p:nvSpPr>
          <p:cNvPr id="4" name="Footer Placeholder 3">
            <a:extLst>
              <a:ext uri="{FF2B5EF4-FFF2-40B4-BE49-F238E27FC236}">
                <a16:creationId xmlns:a16="http://schemas.microsoft.com/office/drawing/2014/main" id="{C490C276-14E2-4599-922A-A815C665D3B9}"/>
              </a:ext>
            </a:extLst>
          </p:cNvPr>
          <p:cNvSpPr>
            <a:spLocks noGrp="1"/>
          </p:cNvSpPr>
          <p:nvPr>
            <p:ph type="ftr" sz="quarter" idx="11"/>
          </p:nvPr>
        </p:nvSpPr>
        <p:spPr/>
        <p:txBody>
          <a:bodyPr/>
          <a:lstStyle/>
          <a:p>
            <a:pPr>
              <a:defRPr/>
            </a:pPr>
            <a:r>
              <a:rPr lang="en-US" altLang="en-US" dirty="0"/>
              <a:t>L Wong                              INFO 5126</a:t>
            </a:r>
          </a:p>
        </p:txBody>
      </p:sp>
    </p:spTree>
    <p:extLst>
      <p:ext uri="{BB962C8B-B14F-4D97-AF65-F5344CB8AC3E}">
        <p14:creationId xmlns:p14="http://schemas.microsoft.com/office/powerpoint/2010/main" val="2766594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129C9D13-8BE4-1E46-F90F-0592D0B72F79}"/>
              </a:ext>
            </a:extLst>
          </p:cNvPr>
          <p:cNvSpPr>
            <a:spLocks noGrp="1"/>
          </p:cNvSpPr>
          <p:nvPr>
            <p:ph type="title"/>
          </p:nvPr>
        </p:nvSpPr>
        <p:spPr/>
        <p:txBody>
          <a:bodyPr>
            <a:normAutofit fontScale="90000"/>
          </a:bodyPr>
          <a:lstStyle/>
          <a:p>
            <a:r>
              <a:rPr lang="en-CA" altLang="en-US"/>
              <a:t>Two Ways to </a:t>
            </a:r>
            <a:r>
              <a:rPr lang="en-US" altLang="en-US"/>
              <a:t>Add a Fragment to an Activity</a:t>
            </a:r>
            <a:endParaRPr lang="en-CA" altLang="en-US"/>
          </a:p>
        </p:txBody>
      </p:sp>
      <p:sp>
        <p:nvSpPr>
          <p:cNvPr id="4099" name="Content Placeholder 2">
            <a:extLst>
              <a:ext uri="{FF2B5EF4-FFF2-40B4-BE49-F238E27FC236}">
                <a16:creationId xmlns:a16="http://schemas.microsoft.com/office/drawing/2014/main" id="{AD06BA03-5F93-0494-A982-E8D8B02B3F54}"/>
              </a:ext>
            </a:extLst>
          </p:cNvPr>
          <p:cNvSpPr>
            <a:spLocks noGrp="1"/>
          </p:cNvSpPr>
          <p:nvPr>
            <p:ph idx="1"/>
          </p:nvPr>
        </p:nvSpPr>
        <p:spPr/>
        <p:txBody>
          <a:bodyPr/>
          <a:lstStyle/>
          <a:p>
            <a:r>
              <a:rPr lang="en-CA" altLang="en-US"/>
              <a:t>Static: be part of the UI of an Activity, the Fragment remains on the screen during the entire lifecycle of the Activity. </a:t>
            </a:r>
          </a:p>
          <a:p>
            <a:r>
              <a:rPr lang="en-CA" altLang="en-US"/>
              <a:t>Dynamic: an activity can adds or removes the Fragment dynamically while the Activity is running.</a:t>
            </a:r>
          </a:p>
        </p:txBody>
      </p:sp>
      <p:sp>
        <p:nvSpPr>
          <p:cNvPr id="2" name="Footer Placeholder 1">
            <a:extLst>
              <a:ext uri="{FF2B5EF4-FFF2-40B4-BE49-F238E27FC236}">
                <a16:creationId xmlns:a16="http://schemas.microsoft.com/office/drawing/2014/main" id="{C2D62DE0-A9C1-B0AD-0090-B4D372609A2E}"/>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49097-B74A-45AC-9AD1-52D7A3D924EE}"/>
              </a:ext>
            </a:extLst>
          </p:cNvPr>
          <p:cNvSpPr>
            <a:spLocks noGrp="1"/>
          </p:cNvSpPr>
          <p:nvPr>
            <p:ph type="title"/>
          </p:nvPr>
        </p:nvSpPr>
        <p:spPr/>
        <p:txBody>
          <a:bodyPr/>
          <a:lstStyle/>
          <a:p>
            <a:r>
              <a:rPr lang="en-US" dirty="0"/>
              <a:t>How Fragments are used</a:t>
            </a:r>
            <a:endParaRPr lang="en-CA" dirty="0"/>
          </a:p>
        </p:txBody>
      </p:sp>
      <p:sp>
        <p:nvSpPr>
          <p:cNvPr id="3" name="Content Placeholder 2">
            <a:extLst>
              <a:ext uri="{FF2B5EF4-FFF2-40B4-BE49-F238E27FC236}">
                <a16:creationId xmlns:a16="http://schemas.microsoft.com/office/drawing/2014/main" id="{56CBE4F7-4779-45EB-8880-36BFB33C43FC}"/>
              </a:ext>
            </a:extLst>
          </p:cNvPr>
          <p:cNvSpPr>
            <a:spLocks noGrp="1"/>
          </p:cNvSpPr>
          <p:nvPr>
            <p:ph idx="1"/>
          </p:nvPr>
        </p:nvSpPr>
        <p:spPr/>
        <p:txBody>
          <a:bodyPr/>
          <a:lstStyle/>
          <a:p>
            <a:r>
              <a:rPr lang="en-US" dirty="0"/>
              <a:t>Provide Modularity and Reusability into your activities UI</a:t>
            </a:r>
          </a:p>
          <a:p>
            <a:endParaRPr lang="en-CA" dirty="0"/>
          </a:p>
        </p:txBody>
      </p:sp>
      <p:pic>
        <p:nvPicPr>
          <p:cNvPr id="6" name="Picture 5" descr="Using fragments for different layouts">
            <a:extLst>
              <a:ext uri="{FF2B5EF4-FFF2-40B4-BE49-F238E27FC236}">
                <a16:creationId xmlns:a16="http://schemas.microsoft.com/office/drawing/2014/main" id="{C48EEA14-3B3D-4CF6-8D37-D6AB2906B8CC}"/>
              </a:ext>
            </a:extLst>
          </p:cNvPr>
          <p:cNvPicPr>
            <a:picLocks noChangeAspect="1"/>
          </p:cNvPicPr>
          <p:nvPr/>
        </p:nvPicPr>
        <p:blipFill>
          <a:blip r:embed="rId3"/>
          <a:stretch>
            <a:fillRect/>
          </a:stretch>
        </p:blipFill>
        <p:spPr>
          <a:xfrm>
            <a:off x="2590800" y="2297710"/>
            <a:ext cx="6248400" cy="4104891"/>
          </a:xfrm>
          <a:prstGeom prst="rect">
            <a:avLst/>
          </a:prstGeom>
        </p:spPr>
      </p:pic>
      <p:sp>
        <p:nvSpPr>
          <p:cNvPr id="4" name="Footer Placeholder 3">
            <a:extLst>
              <a:ext uri="{FF2B5EF4-FFF2-40B4-BE49-F238E27FC236}">
                <a16:creationId xmlns:a16="http://schemas.microsoft.com/office/drawing/2014/main" id="{A56B83CF-74CC-4AA7-94F3-6A6C07F71B5D}"/>
              </a:ext>
            </a:extLst>
          </p:cNvPr>
          <p:cNvSpPr>
            <a:spLocks noGrp="1"/>
          </p:cNvSpPr>
          <p:nvPr>
            <p:ph type="ftr" sz="quarter" idx="11"/>
          </p:nvPr>
        </p:nvSpPr>
        <p:spPr/>
        <p:txBody>
          <a:bodyPr/>
          <a:lstStyle/>
          <a:p>
            <a:pPr>
              <a:defRPr/>
            </a:pPr>
            <a:r>
              <a:rPr lang="en-US" altLang="en-US"/>
              <a:t>L Wong                              INFO 5126</a:t>
            </a:r>
          </a:p>
        </p:txBody>
      </p:sp>
    </p:spTree>
    <p:extLst>
      <p:ext uri="{BB962C8B-B14F-4D97-AF65-F5344CB8AC3E}">
        <p14:creationId xmlns:p14="http://schemas.microsoft.com/office/powerpoint/2010/main" val="2172572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13FA239F-83AB-754E-4F7B-DFFB584F7630}"/>
              </a:ext>
            </a:extLst>
          </p:cNvPr>
          <p:cNvSpPr>
            <a:spLocks noGrp="1"/>
          </p:cNvSpPr>
          <p:nvPr>
            <p:ph type="title"/>
          </p:nvPr>
        </p:nvSpPr>
        <p:spPr/>
        <p:txBody>
          <a:bodyPr/>
          <a:lstStyle/>
          <a:p>
            <a:r>
              <a:rPr lang="en-CA" altLang="en-US"/>
              <a:t>Android fragment and Activity</a:t>
            </a:r>
          </a:p>
        </p:txBody>
      </p:sp>
      <p:pic>
        <p:nvPicPr>
          <p:cNvPr id="10243" name="Picture 2" descr="Overview of how an Android fragment is added to an activity.">
            <a:extLst>
              <a:ext uri="{FF2B5EF4-FFF2-40B4-BE49-F238E27FC236}">
                <a16:creationId xmlns:a16="http://schemas.microsoft.com/office/drawing/2014/main" id="{827239DC-C327-BC39-DED7-3BBDEFAEA9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86200" y="1600201"/>
            <a:ext cx="4419600" cy="4525963"/>
          </a:xfrm>
          <a:noFill/>
        </p:spPr>
      </p:pic>
      <p:sp>
        <p:nvSpPr>
          <p:cNvPr id="2" name="Footer Placeholder 1">
            <a:extLst>
              <a:ext uri="{FF2B5EF4-FFF2-40B4-BE49-F238E27FC236}">
                <a16:creationId xmlns:a16="http://schemas.microsoft.com/office/drawing/2014/main" id="{63EE1AC5-D4A5-C634-32B7-129A28DFE2D5}"/>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Fragments</a:t>
            </a:r>
          </a:p>
        </p:txBody>
      </p:sp>
      <p:sp>
        <p:nvSpPr>
          <p:cNvPr id="3" name="Content Placeholder 2"/>
          <p:cNvSpPr>
            <a:spLocks noGrp="1"/>
          </p:cNvSpPr>
          <p:nvPr>
            <p:ph idx="1"/>
          </p:nvPr>
        </p:nvSpPr>
        <p:spPr/>
        <p:txBody>
          <a:bodyPr/>
          <a:lstStyle/>
          <a:p>
            <a:pPr>
              <a:defRPr/>
            </a:pPr>
            <a:r>
              <a:rPr lang="en-US" dirty="0"/>
              <a:t>A fragment represents a reusable portion of your app’s UI</a:t>
            </a:r>
          </a:p>
          <a:p>
            <a:pPr>
              <a:defRPr/>
            </a:pPr>
            <a:r>
              <a:rPr lang="en-US" dirty="0"/>
              <a:t>Has it’s own layout</a:t>
            </a:r>
          </a:p>
          <a:p>
            <a:pPr>
              <a:defRPr/>
            </a:pPr>
            <a:r>
              <a:rPr lang="en-US" dirty="0"/>
              <a:t>Has it’s own lifecycle, but it is always connected to the life cycle of the activity which uses the fragment</a:t>
            </a:r>
          </a:p>
          <a:p>
            <a:pPr>
              <a:defRPr/>
            </a:pPr>
            <a:r>
              <a:rPr lang="en-US" dirty="0"/>
              <a:t>Receives its’ own input events</a:t>
            </a:r>
          </a:p>
          <a:p>
            <a:pPr>
              <a:defRPr/>
            </a:pPr>
            <a:r>
              <a:rPr lang="en-US" dirty="0"/>
              <a:t>You may add or remove the fragment dynamically when the activity is running</a:t>
            </a:r>
          </a:p>
          <a:p>
            <a:pPr>
              <a:defRPr/>
            </a:pPr>
            <a:r>
              <a:rPr lang="en-US" dirty="0"/>
              <a:t>Cannot live on their own, they must be hosted by an activity or another fragment</a:t>
            </a:r>
          </a:p>
        </p:txBody>
      </p:sp>
      <p:sp>
        <p:nvSpPr>
          <p:cNvPr id="4" name="Footer Placeholder 3">
            <a:extLst>
              <a:ext uri="{FF2B5EF4-FFF2-40B4-BE49-F238E27FC236}">
                <a16:creationId xmlns:a16="http://schemas.microsoft.com/office/drawing/2014/main" id="{141768BC-7517-5D59-6179-9BA7E20A8BFD}"/>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B403C3F-8EF7-9EFF-537C-889A733A329C}"/>
              </a:ext>
            </a:extLst>
          </p:cNvPr>
          <p:cNvSpPr>
            <a:spLocks noGrp="1"/>
          </p:cNvSpPr>
          <p:nvPr>
            <p:ph type="title"/>
          </p:nvPr>
        </p:nvSpPr>
        <p:spPr/>
        <p:txBody>
          <a:bodyPr/>
          <a:lstStyle/>
          <a:p>
            <a:r>
              <a:rPr lang="en-CA" altLang="en-US"/>
              <a:t>Benefits of using fragments</a:t>
            </a:r>
          </a:p>
        </p:txBody>
      </p:sp>
      <p:sp>
        <p:nvSpPr>
          <p:cNvPr id="3" name="Content Placeholder 2">
            <a:extLst>
              <a:ext uri="{FF2B5EF4-FFF2-40B4-BE49-F238E27FC236}">
                <a16:creationId xmlns:a16="http://schemas.microsoft.com/office/drawing/2014/main" id="{97FA6D5B-39B7-3C27-4133-3C065719C690}"/>
              </a:ext>
            </a:extLst>
          </p:cNvPr>
          <p:cNvSpPr>
            <a:spLocks noGrp="1"/>
          </p:cNvSpPr>
          <p:nvPr>
            <p:ph idx="1"/>
          </p:nvPr>
        </p:nvSpPr>
        <p:spPr/>
        <p:txBody>
          <a:bodyPr/>
          <a:lstStyle/>
          <a:p>
            <a:pPr marL="457200" indent="-381000">
              <a:spcBef>
                <a:spcPts val="600"/>
              </a:spcBef>
              <a:buClr>
                <a:srgbClr val="000000"/>
              </a:buClr>
              <a:buSzPts val="2400"/>
              <a:buFont typeface="Arial" panose="020B0604020202020204" pitchFamily="34" charset="0"/>
              <a:buChar char="●"/>
              <a:defRPr/>
            </a:pPr>
            <a:r>
              <a:rPr lang="en-CA" dirty="0">
                <a:solidFill>
                  <a:schemeClr val="tx1"/>
                </a:solidFill>
              </a:rPr>
              <a:t>Reuse a </a:t>
            </a:r>
            <a:r>
              <a:rPr lang="en-CA" dirty="0">
                <a:solidFill>
                  <a:schemeClr val="tx1"/>
                </a:solidFill>
                <a:latin typeface="Consolas"/>
                <a:ea typeface="Consolas"/>
                <a:cs typeface="Consolas"/>
                <a:sym typeface="Consolas"/>
              </a:rPr>
              <a:t>Fragment</a:t>
            </a:r>
            <a:r>
              <a:rPr lang="en-CA" dirty="0">
                <a:solidFill>
                  <a:schemeClr val="tx1"/>
                </a:solidFill>
              </a:rPr>
              <a:t> in more than one </a:t>
            </a:r>
            <a:r>
              <a:rPr lang="en-CA" dirty="0">
                <a:solidFill>
                  <a:schemeClr val="tx1"/>
                </a:solidFill>
                <a:latin typeface="Consolas"/>
                <a:ea typeface="Consolas"/>
                <a:cs typeface="Consolas"/>
                <a:sym typeface="Consolas"/>
              </a:rPr>
              <a:t>Activity</a:t>
            </a:r>
          </a:p>
          <a:p>
            <a:pPr marL="457200" indent="-381000">
              <a:buClr>
                <a:srgbClr val="000000"/>
              </a:buClr>
              <a:buSzPts val="2400"/>
              <a:buFont typeface="Arial" panose="020B0604020202020204" pitchFamily="34" charset="0"/>
              <a:buChar char="●"/>
              <a:defRPr/>
            </a:pPr>
            <a:r>
              <a:rPr lang="en-CA" dirty="0">
                <a:solidFill>
                  <a:schemeClr val="tx1"/>
                </a:solidFill>
              </a:rPr>
              <a:t>Add or remove dynamically as needed</a:t>
            </a:r>
          </a:p>
          <a:p>
            <a:pPr marL="457200" indent="-381000">
              <a:buClr>
                <a:srgbClr val="000000"/>
              </a:buClr>
              <a:buSzPts val="2400"/>
              <a:buFont typeface="Arial" panose="020B0604020202020204" pitchFamily="34" charset="0"/>
              <a:buChar char="●"/>
              <a:defRPr/>
            </a:pPr>
            <a:r>
              <a:rPr lang="en-CA" dirty="0">
                <a:solidFill>
                  <a:schemeClr val="tx1"/>
                </a:solidFill>
              </a:rPr>
              <a:t>Integrate a mini-UI within an </a:t>
            </a:r>
            <a:r>
              <a:rPr lang="en-CA" dirty="0">
                <a:solidFill>
                  <a:schemeClr val="tx1"/>
                </a:solidFill>
                <a:latin typeface="Consolas"/>
                <a:ea typeface="Consolas"/>
                <a:cs typeface="Consolas"/>
                <a:sym typeface="Consolas"/>
              </a:rPr>
              <a:t>Activity</a:t>
            </a:r>
          </a:p>
          <a:p>
            <a:pPr marL="457200" indent="-381000">
              <a:buSzPts val="2400"/>
              <a:buFont typeface="Arial" panose="020B0604020202020204" pitchFamily="34" charset="0"/>
              <a:buChar char="●"/>
              <a:defRPr/>
            </a:pPr>
            <a:r>
              <a:rPr lang="en-CA" dirty="0"/>
              <a:t>Retain data instances after a configuration change</a:t>
            </a:r>
          </a:p>
          <a:p>
            <a:pPr marL="457200" indent="-381000">
              <a:buSzPts val="2400"/>
              <a:buFont typeface="Arial" panose="020B0604020202020204" pitchFamily="34" charset="0"/>
              <a:buChar char="●"/>
              <a:defRPr/>
            </a:pPr>
            <a:r>
              <a:rPr lang="en-CA" dirty="0"/>
              <a:t>Represent sections of a layout for different screen sizes </a:t>
            </a:r>
          </a:p>
          <a:p>
            <a:pPr>
              <a:defRPr/>
            </a:pPr>
            <a:endParaRPr lang="en-CA" dirty="0"/>
          </a:p>
        </p:txBody>
      </p:sp>
      <p:sp>
        <p:nvSpPr>
          <p:cNvPr id="2" name="Footer Placeholder 1">
            <a:extLst>
              <a:ext uri="{FF2B5EF4-FFF2-40B4-BE49-F238E27FC236}">
                <a16:creationId xmlns:a16="http://schemas.microsoft.com/office/drawing/2014/main" id="{7B3DF246-17DE-527C-C103-6A02F8382493}"/>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4C7C7-87B5-4BF6-A1AF-7554FB087945}"/>
              </a:ext>
            </a:extLst>
          </p:cNvPr>
          <p:cNvSpPr>
            <a:spLocks noGrp="1"/>
          </p:cNvSpPr>
          <p:nvPr>
            <p:ph type="title"/>
          </p:nvPr>
        </p:nvSpPr>
        <p:spPr/>
        <p:txBody>
          <a:bodyPr/>
          <a:lstStyle/>
          <a:p>
            <a:r>
              <a:rPr lang="en-CA" dirty="0"/>
              <a:t>More Fragment lifecycle </a:t>
            </a:r>
            <a:r>
              <a:rPr lang="en-CA" dirty="0" err="1"/>
              <a:t>callbacks</a:t>
            </a:r>
            <a:endParaRPr lang="en-CA" dirty="0"/>
          </a:p>
        </p:txBody>
      </p:sp>
      <p:sp>
        <p:nvSpPr>
          <p:cNvPr id="3" name="Content Placeholder 2">
            <a:extLst>
              <a:ext uri="{FF2B5EF4-FFF2-40B4-BE49-F238E27FC236}">
                <a16:creationId xmlns:a16="http://schemas.microsoft.com/office/drawing/2014/main" id="{90E5297B-8A78-47D8-B55F-59D068BC2A42}"/>
              </a:ext>
            </a:extLst>
          </p:cNvPr>
          <p:cNvSpPr>
            <a:spLocks noGrp="1"/>
          </p:cNvSpPr>
          <p:nvPr>
            <p:ph idx="1"/>
          </p:nvPr>
        </p:nvSpPr>
        <p:spPr/>
        <p:txBody>
          <a:bodyPr/>
          <a:lstStyle/>
          <a:p>
            <a:r>
              <a:rPr lang="en-CA" dirty="0" err="1"/>
              <a:t>onAttach</a:t>
            </a:r>
            <a:r>
              <a:rPr lang="en-CA" dirty="0"/>
              <a:t>(): Called when Fragment is first attached to Activity</a:t>
            </a:r>
          </a:p>
          <a:p>
            <a:r>
              <a:rPr lang="en-CA" dirty="0" err="1"/>
              <a:t>onPause</a:t>
            </a:r>
            <a:r>
              <a:rPr lang="en-CA" dirty="0"/>
              <a:t>(): Called when Activity is paused </a:t>
            </a:r>
          </a:p>
          <a:p>
            <a:r>
              <a:rPr lang="en-CA" dirty="0" err="1"/>
              <a:t>onResume</a:t>
            </a:r>
            <a:r>
              <a:rPr lang="en-CA" dirty="0"/>
              <a:t>(): Called by Activity to resume a visible Fragment </a:t>
            </a:r>
          </a:p>
          <a:p>
            <a:r>
              <a:rPr lang="en-CA" dirty="0" err="1"/>
              <a:t>onActivityCreated</a:t>
            </a:r>
            <a:r>
              <a:rPr lang="en-CA" dirty="0"/>
              <a:t>(): Called when Activity </a:t>
            </a:r>
            <a:r>
              <a:rPr lang="en-CA" dirty="0" err="1"/>
              <a:t>onCreate</a:t>
            </a:r>
            <a:r>
              <a:rPr lang="en-CA" dirty="0"/>
              <a:t>() method has returned</a:t>
            </a:r>
          </a:p>
          <a:p>
            <a:r>
              <a:rPr lang="en-CA" dirty="0" err="1"/>
              <a:t>onDestroyView</a:t>
            </a:r>
            <a:r>
              <a:rPr lang="en-CA" dirty="0"/>
              <a:t>(): Called when View previously created by </a:t>
            </a:r>
            <a:r>
              <a:rPr lang="en-CA" dirty="0" err="1"/>
              <a:t>onCreateView</a:t>
            </a:r>
            <a:r>
              <a:rPr lang="en-CA" dirty="0"/>
              <a:t>() is detached from Fragment</a:t>
            </a:r>
          </a:p>
          <a:p>
            <a:endParaRPr lang="en-CA" dirty="0"/>
          </a:p>
        </p:txBody>
      </p:sp>
      <p:sp>
        <p:nvSpPr>
          <p:cNvPr id="4" name="Footer Placeholder 3">
            <a:extLst>
              <a:ext uri="{FF2B5EF4-FFF2-40B4-BE49-F238E27FC236}">
                <a16:creationId xmlns:a16="http://schemas.microsoft.com/office/drawing/2014/main" id="{25207340-5305-446D-8799-22CF97A97B31}"/>
              </a:ext>
            </a:extLst>
          </p:cNvPr>
          <p:cNvSpPr>
            <a:spLocks noGrp="1"/>
          </p:cNvSpPr>
          <p:nvPr>
            <p:ph type="ftr" sz="quarter" idx="11"/>
          </p:nvPr>
        </p:nvSpPr>
        <p:spPr/>
        <p:txBody>
          <a:bodyPr/>
          <a:lstStyle/>
          <a:p>
            <a:pPr>
              <a:defRPr/>
            </a:pPr>
            <a:r>
              <a:rPr lang="en-US" altLang="en-US"/>
              <a:t>L Wong/J. Lin                              INFO 6130</a:t>
            </a:r>
          </a:p>
        </p:txBody>
      </p:sp>
    </p:spTree>
    <p:extLst>
      <p:ext uri="{BB962C8B-B14F-4D97-AF65-F5344CB8AC3E}">
        <p14:creationId xmlns:p14="http://schemas.microsoft.com/office/powerpoint/2010/main" val="145625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1AED9-6C82-46F8-8CC6-48ACAE244B2C}"/>
              </a:ext>
            </a:extLst>
          </p:cNvPr>
          <p:cNvSpPr>
            <a:spLocks noGrp="1"/>
          </p:cNvSpPr>
          <p:nvPr>
            <p:ph type="title"/>
          </p:nvPr>
        </p:nvSpPr>
        <p:spPr/>
        <p:txBody>
          <a:bodyPr/>
          <a:lstStyle/>
          <a:p>
            <a:r>
              <a:rPr lang="en-CA" dirty="0"/>
              <a:t>Use </a:t>
            </a:r>
            <a:r>
              <a:rPr lang="en-CA" dirty="0" err="1"/>
              <a:t>onDestroyView</a:t>
            </a:r>
            <a:endParaRPr lang="en-CA" dirty="0"/>
          </a:p>
        </p:txBody>
      </p:sp>
      <p:sp>
        <p:nvSpPr>
          <p:cNvPr id="3" name="Content Placeholder 2">
            <a:extLst>
              <a:ext uri="{FF2B5EF4-FFF2-40B4-BE49-F238E27FC236}">
                <a16:creationId xmlns:a16="http://schemas.microsoft.com/office/drawing/2014/main" id="{BDCC1C10-0E79-4005-8F77-B8C0B330D099}"/>
              </a:ext>
            </a:extLst>
          </p:cNvPr>
          <p:cNvSpPr>
            <a:spLocks noGrp="1"/>
          </p:cNvSpPr>
          <p:nvPr>
            <p:ph idx="1"/>
          </p:nvPr>
        </p:nvSpPr>
        <p:spPr/>
        <p:txBody>
          <a:bodyPr/>
          <a:lstStyle/>
          <a:p>
            <a:pPr marL="0" indent="0">
              <a:buNone/>
            </a:pPr>
            <a:r>
              <a:rPr lang="en-CA" dirty="0"/>
              <a:t>Use </a:t>
            </a:r>
            <a:r>
              <a:rPr lang="en-CA" dirty="0" err="1"/>
              <a:t>onDestroyView</a:t>
            </a:r>
            <a:r>
              <a:rPr lang="en-CA" dirty="0"/>
              <a:t>() to perform action after Fragment is no longer visible</a:t>
            </a:r>
          </a:p>
          <a:p>
            <a:r>
              <a:rPr lang="en-CA" dirty="0"/>
              <a:t>Called after </a:t>
            </a:r>
            <a:r>
              <a:rPr lang="en-CA" dirty="0" err="1"/>
              <a:t>onStop</a:t>
            </a:r>
            <a:r>
              <a:rPr lang="en-CA" dirty="0"/>
              <a:t>() and before </a:t>
            </a:r>
            <a:r>
              <a:rPr lang="en-CA" dirty="0" err="1"/>
              <a:t>onDestroy</a:t>
            </a:r>
            <a:r>
              <a:rPr lang="en-CA" dirty="0"/>
              <a:t>()</a:t>
            </a:r>
          </a:p>
          <a:p>
            <a:r>
              <a:rPr lang="en-CA" dirty="0"/>
              <a:t>View that was created in </a:t>
            </a:r>
            <a:r>
              <a:rPr lang="en-CA" dirty="0" err="1"/>
              <a:t>onCreateView</a:t>
            </a:r>
            <a:r>
              <a:rPr lang="en-CA" dirty="0"/>
              <a:t>() is destroyed</a:t>
            </a:r>
          </a:p>
          <a:p>
            <a:r>
              <a:rPr lang="en-CA" dirty="0"/>
              <a:t>A new View is created next time Fragment needs to be displayed </a:t>
            </a:r>
          </a:p>
          <a:p>
            <a:endParaRPr lang="en-CA" dirty="0"/>
          </a:p>
        </p:txBody>
      </p:sp>
      <p:sp>
        <p:nvSpPr>
          <p:cNvPr id="4" name="Footer Placeholder 3">
            <a:extLst>
              <a:ext uri="{FF2B5EF4-FFF2-40B4-BE49-F238E27FC236}">
                <a16:creationId xmlns:a16="http://schemas.microsoft.com/office/drawing/2014/main" id="{97D5AFF7-2840-4B02-AF9D-1B3857ACA99D}"/>
              </a:ext>
            </a:extLst>
          </p:cNvPr>
          <p:cNvSpPr>
            <a:spLocks noGrp="1"/>
          </p:cNvSpPr>
          <p:nvPr>
            <p:ph type="ftr" sz="quarter" idx="11"/>
          </p:nvPr>
        </p:nvSpPr>
        <p:spPr/>
        <p:txBody>
          <a:bodyPr/>
          <a:lstStyle/>
          <a:p>
            <a:pPr>
              <a:defRPr/>
            </a:pPr>
            <a:r>
              <a:rPr lang="en-US" altLang="en-US"/>
              <a:t>L Wong/J. Lin                              INFO 6130</a:t>
            </a:r>
          </a:p>
        </p:txBody>
      </p:sp>
    </p:spTree>
    <p:extLst>
      <p:ext uri="{BB962C8B-B14F-4D97-AF65-F5344CB8AC3E}">
        <p14:creationId xmlns:p14="http://schemas.microsoft.com/office/powerpoint/2010/main" val="4234749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178E97-9BEA-4A90-B6C7-24BB5ECEFC14}"/>
              </a:ext>
            </a:extLst>
          </p:cNvPr>
          <p:cNvSpPr>
            <a:spLocks noGrp="1"/>
          </p:cNvSpPr>
          <p:nvPr>
            <p:ph type="ctrTitle"/>
          </p:nvPr>
        </p:nvSpPr>
        <p:spPr/>
        <p:txBody>
          <a:bodyPr>
            <a:normAutofit fontScale="90000"/>
          </a:bodyPr>
          <a:lstStyle/>
          <a:p>
            <a:r>
              <a:rPr lang="en-US" dirty="0"/>
              <a:t>Creating a fragment</a:t>
            </a:r>
            <a:br>
              <a:rPr lang="en-CA" dirty="0"/>
            </a:br>
            <a:endParaRPr lang="en-CA" dirty="0"/>
          </a:p>
        </p:txBody>
      </p:sp>
      <p:sp>
        <p:nvSpPr>
          <p:cNvPr id="6" name="Subtitle 5">
            <a:extLst>
              <a:ext uri="{FF2B5EF4-FFF2-40B4-BE49-F238E27FC236}">
                <a16:creationId xmlns:a16="http://schemas.microsoft.com/office/drawing/2014/main" id="{A68F34FB-1AC0-482A-A52F-772257EA1A98}"/>
              </a:ext>
            </a:extLst>
          </p:cNvPr>
          <p:cNvSpPr>
            <a:spLocks noGrp="1"/>
          </p:cNvSpPr>
          <p:nvPr>
            <p:ph type="subTitle" idx="1"/>
          </p:nvPr>
        </p:nvSpPr>
        <p:spPr/>
        <p:txBody>
          <a:bodyPr/>
          <a:lstStyle/>
          <a:p>
            <a:r>
              <a:rPr lang="en-US" dirty="0"/>
              <a:t>Fragments</a:t>
            </a:r>
            <a:endParaRPr lang="en-CA" dirty="0"/>
          </a:p>
        </p:txBody>
      </p:sp>
      <p:sp>
        <p:nvSpPr>
          <p:cNvPr id="4" name="Footer Placeholder 3">
            <a:extLst>
              <a:ext uri="{FF2B5EF4-FFF2-40B4-BE49-F238E27FC236}">
                <a16:creationId xmlns:a16="http://schemas.microsoft.com/office/drawing/2014/main" id="{72D1E64A-4FD1-41CC-B09A-0AE1D1927BDA}"/>
              </a:ext>
            </a:extLst>
          </p:cNvPr>
          <p:cNvSpPr>
            <a:spLocks noGrp="1"/>
          </p:cNvSpPr>
          <p:nvPr>
            <p:ph type="ftr" sz="quarter" idx="11"/>
          </p:nvPr>
        </p:nvSpPr>
        <p:spPr/>
        <p:txBody>
          <a:bodyPr/>
          <a:lstStyle/>
          <a:p>
            <a:pPr>
              <a:defRPr/>
            </a:pPr>
            <a:r>
              <a:rPr lang="en-US" altLang="en-US"/>
              <a:t>L Wong                              INFO 5126</a:t>
            </a:r>
          </a:p>
        </p:txBody>
      </p:sp>
    </p:spTree>
    <p:extLst>
      <p:ext uri="{BB962C8B-B14F-4D97-AF65-F5344CB8AC3E}">
        <p14:creationId xmlns:p14="http://schemas.microsoft.com/office/powerpoint/2010/main" val="202869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5EBB52-17C8-4DC7-8F0A-8867F11ACB6A}"/>
              </a:ext>
            </a:extLst>
          </p:cNvPr>
          <p:cNvSpPr>
            <a:spLocks noGrp="1"/>
          </p:cNvSpPr>
          <p:nvPr>
            <p:ph type="title"/>
          </p:nvPr>
        </p:nvSpPr>
        <p:spPr/>
        <p:txBody>
          <a:bodyPr/>
          <a:lstStyle/>
          <a:p>
            <a:r>
              <a:rPr lang="en-US" dirty="0"/>
              <a:t>Fragment Life Cycle</a:t>
            </a:r>
            <a:endParaRPr lang="en-CA" dirty="0"/>
          </a:p>
        </p:txBody>
      </p:sp>
      <p:pic>
        <p:nvPicPr>
          <p:cNvPr id="8" name="Content Placeholder 7" descr="Lifecycle of a fragment">
            <a:extLst>
              <a:ext uri="{FF2B5EF4-FFF2-40B4-BE49-F238E27FC236}">
                <a16:creationId xmlns:a16="http://schemas.microsoft.com/office/drawing/2014/main" id="{4F47FB69-97B6-47A0-809F-023A191A33D6}"/>
              </a:ext>
            </a:extLst>
          </p:cNvPr>
          <p:cNvPicPr>
            <a:picLocks noGrp="1" noChangeAspect="1"/>
          </p:cNvPicPr>
          <p:nvPr>
            <p:ph idx="1"/>
          </p:nvPr>
        </p:nvPicPr>
        <p:blipFill>
          <a:blip r:embed="rId2"/>
          <a:stretch>
            <a:fillRect/>
          </a:stretch>
        </p:blipFill>
        <p:spPr>
          <a:xfrm>
            <a:off x="1295400" y="1828800"/>
            <a:ext cx="9307508" cy="4158296"/>
          </a:xfrm>
        </p:spPr>
      </p:pic>
      <p:sp>
        <p:nvSpPr>
          <p:cNvPr id="4" name="Footer Placeholder 3">
            <a:extLst>
              <a:ext uri="{FF2B5EF4-FFF2-40B4-BE49-F238E27FC236}">
                <a16:creationId xmlns:a16="http://schemas.microsoft.com/office/drawing/2014/main" id="{DC99EB52-E62C-41C5-9988-E1E3EB830FDC}"/>
              </a:ext>
            </a:extLst>
          </p:cNvPr>
          <p:cNvSpPr>
            <a:spLocks noGrp="1"/>
          </p:cNvSpPr>
          <p:nvPr>
            <p:ph type="ftr" sz="quarter" idx="11"/>
          </p:nvPr>
        </p:nvSpPr>
        <p:spPr/>
        <p:txBody>
          <a:bodyPr/>
          <a:lstStyle/>
          <a:p>
            <a:pPr>
              <a:defRPr/>
            </a:pPr>
            <a:r>
              <a:rPr lang="en-US" altLang="en-US"/>
              <a:t>L Wong                              INFO 5126</a:t>
            </a:r>
          </a:p>
        </p:txBody>
      </p:sp>
    </p:spTree>
    <p:extLst>
      <p:ext uri="{BB962C8B-B14F-4D97-AF65-F5344CB8AC3E}">
        <p14:creationId xmlns:p14="http://schemas.microsoft.com/office/powerpoint/2010/main" val="794517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5AE3-DA14-4F35-8191-3DB822593AA5}"/>
              </a:ext>
            </a:extLst>
          </p:cNvPr>
          <p:cNvSpPr>
            <a:spLocks noGrp="1"/>
          </p:cNvSpPr>
          <p:nvPr>
            <p:ph type="title"/>
          </p:nvPr>
        </p:nvSpPr>
        <p:spPr/>
        <p:txBody>
          <a:bodyPr/>
          <a:lstStyle/>
          <a:p>
            <a:r>
              <a:rPr lang="en-US" dirty="0"/>
              <a:t>Fragment Lifecycle</a:t>
            </a:r>
            <a:endParaRPr lang="en-CA" dirty="0"/>
          </a:p>
        </p:txBody>
      </p:sp>
      <p:pic>
        <p:nvPicPr>
          <p:cNvPr id="6" name="Content Placeholder 5" descr="LIfecycle of a fragment">
            <a:extLst>
              <a:ext uri="{FF2B5EF4-FFF2-40B4-BE49-F238E27FC236}">
                <a16:creationId xmlns:a16="http://schemas.microsoft.com/office/drawing/2014/main" id="{D5F9532F-53B7-4275-96E3-F07C901A277E}"/>
              </a:ext>
            </a:extLst>
          </p:cNvPr>
          <p:cNvPicPr>
            <a:picLocks noGrp="1" noChangeAspect="1"/>
          </p:cNvPicPr>
          <p:nvPr>
            <p:ph idx="1"/>
          </p:nvPr>
        </p:nvPicPr>
        <p:blipFill>
          <a:blip r:embed="rId2"/>
          <a:stretch>
            <a:fillRect/>
          </a:stretch>
        </p:blipFill>
        <p:spPr>
          <a:xfrm>
            <a:off x="7162800" y="136525"/>
            <a:ext cx="4953000" cy="6619009"/>
          </a:xfrm>
        </p:spPr>
      </p:pic>
      <p:sp>
        <p:nvSpPr>
          <p:cNvPr id="4" name="Footer Placeholder 3">
            <a:extLst>
              <a:ext uri="{FF2B5EF4-FFF2-40B4-BE49-F238E27FC236}">
                <a16:creationId xmlns:a16="http://schemas.microsoft.com/office/drawing/2014/main" id="{A21E06C4-AAEC-4B4B-9EA7-2697178836A4}"/>
              </a:ext>
              <a:ext uri="{C183D7F6-B498-43B3-948B-1728B52AA6E4}">
                <adec:decorative xmlns:adec="http://schemas.microsoft.com/office/drawing/2017/decorative" val="1"/>
              </a:ext>
            </a:extLst>
          </p:cNvPr>
          <p:cNvSpPr>
            <a:spLocks noGrp="1"/>
          </p:cNvSpPr>
          <p:nvPr>
            <p:ph type="ftr" sz="quarter" idx="11"/>
          </p:nvPr>
        </p:nvSpPr>
        <p:spPr/>
        <p:txBody>
          <a:bodyPr/>
          <a:lstStyle/>
          <a:p>
            <a:pPr>
              <a:defRPr/>
            </a:pPr>
            <a:r>
              <a:rPr lang="en-US" altLang="en-US"/>
              <a:t>L Wong                              INFO 5126</a:t>
            </a:r>
          </a:p>
        </p:txBody>
      </p:sp>
    </p:spTree>
    <p:extLst>
      <p:ext uri="{BB962C8B-B14F-4D97-AF65-F5344CB8AC3E}">
        <p14:creationId xmlns:p14="http://schemas.microsoft.com/office/powerpoint/2010/main" val="3420320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D2956A98-0C56-FC39-E6DD-22862D0F298B}"/>
              </a:ext>
            </a:extLst>
          </p:cNvPr>
          <p:cNvSpPr>
            <a:spLocks noGrp="1"/>
          </p:cNvSpPr>
          <p:nvPr>
            <p:ph type="title"/>
          </p:nvPr>
        </p:nvSpPr>
        <p:spPr/>
        <p:txBody>
          <a:bodyPr/>
          <a:lstStyle/>
          <a:p>
            <a:r>
              <a:rPr lang="en-CA" altLang="en-US"/>
              <a:t>Steps to using a fragment</a:t>
            </a:r>
          </a:p>
        </p:txBody>
      </p:sp>
      <p:sp>
        <p:nvSpPr>
          <p:cNvPr id="7171" name="Content Placeholder 2">
            <a:extLst>
              <a:ext uri="{FF2B5EF4-FFF2-40B4-BE49-F238E27FC236}">
                <a16:creationId xmlns:a16="http://schemas.microsoft.com/office/drawing/2014/main" id="{D0BF29F1-9080-BC20-C41B-46F986CC867A}"/>
              </a:ext>
            </a:extLst>
          </p:cNvPr>
          <p:cNvSpPr>
            <a:spLocks noGrp="1"/>
          </p:cNvSpPr>
          <p:nvPr>
            <p:ph idx="1"/>
          </p:nvPr>
        </p:nvSpPr>
        <p:spPr/>
        <p:txBody>
          <a:bodyPr/>
          <a:lstStyle/>
          <a:p>
            <a:pPr marL="457200" indent="-381000">
              <a:spcBef>
                <a:spcPts val="600"/>
              </a:spcBef>
              <a:buClr>
                <a:srgbClr val="000000"/>
              </a:buClr>
              <a:buSzPts val="2400"/>
              <a:buFont typeface="Arial" panose="020B0604020202020204" pitchFamily="34" charset="0"/>
              <a:buAutoNum type="arabicPeriod"/>
            </a:pPr>
            <a:r>
              <a:rPr lang="en-CA" altLang="en-US" dirty="0">
                <a:solidFill>
                  <a:schemeClr val="tx1"/>
                </a:solidFill>
              </a:rPr>
              <a:t>Create a subclass of </a:t>
            </a:r>
            <a:r>
              <a:rPr lang="en-CA" altLang="en-US" dirty="0">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Fragment</a:t>
            </a:r>
          </a:p>
          <a:p>
            <a:pPr marL="457200" indent="-381000">
              <a:buClr>
                <a:srgbClr val="000000"/>
              </a:buClr>
              <a:buSzPts val="2400"/>
              <a:buFont typeface="Arial" panose="020B0604020202020204" pitchFamily="34" charset="0"/>
              <a:buAutoNum type="arabicPeriod"/>
            </a:pPr>
            <a:r>
              <a:rPr lang="en-CA" altLang="en-US" dirty="0">
                <a:solidFill>
                  <a:schemeClr val="tx1"/>
                </a:solidFill>
              </a:rPr>
              <a:t>Create a layout for the </a:t>
            </a:r>
            <a:r>
              <a:rPr lang="en-CA" altLang="en-US" dirty="0">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Fragment</a:t>
            </a:r>
          </a:p>
          <a:p>
            <a:pPr marL="914400" lvl="1" indent="-381000">
              <a:buClr>
                <a:srgbClr val="000000"/>
              </a:buClr>
              <a:buSzPts val="2400"/>
              <a:buFont typeface="Arial" panose="020B0604020202020204" pitchFamily="34" charset="0"/>
              <a:buAutoNum type="arabicPeriod"/>
            </a:pPr>
            <a:r>
              <a:rPr lang="en-CA" altLang="en-US" dirty="0">
                <a:solidFill>
                  <a:schemeClr val="tx1"/>
                </a:solidFill>
              </a:rPr>
              <a:t>Use </a:t>
            </a:r>
            <a:r>
              <a:rPr lang="en-CA" altLang="en-US" dirty="0" err="1">
                <a:solidFill>
                  <a:schemeClr val="tx1"/>
                </a:solidFill>
              </a:rPr>
              <a:t>FragmentContainerView</a:t>
            </a:r>
            <a:r>
              <a:rPr lang="en-CA" altLang="en-US" dirty="0">
                <a:solidFill>
                  <a:schemeClr val="tx1"/>
                </a:solidFill>
              </a:rPr>
              <a:t> in the layout</a:t>
            </a:r>
          </a:p>
          <a:p>
            <a:pPr marL="457200" indent="-381000">
              <a:buClr>
                <a:srgbClr val="000000"/>
              </a:buClr>
              <a:buSzPts val="2400"/>
              <a:buFont typeface="Arial" panose="020B0604020202020204" pitchFamily="34" charset="0"/>
              <a:buAutoNum type="arabicPeriod"/>
            </a:pPr>
            <a:r>
              <a:rPr lang="en-CA" altLang="en-US" dirty="0">
                <a:solidFill>
                  <a:schemeClr val="tx1"/>
                </a:solidFill>
              </a:rPr>
              <a:t>Add </a:t>
            </a:r>
            <a:r>
              <a:rPr lang="en-CA" altLang="en-US" dirty="0">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Fragment</a:t>
            </a:r>
            <a:r>
              <a:rPr lang="en-CA" altLang="en-US" dirty="0">
                <a:solidFill>
                  <a:schemeClr val="tx1"/>
                </a:solidFill>
              </a:rPr>
              <a:t> to a host </a:t>
            </a:r>
            <a:r>
              <a:rPr lang="en-CA" altLang="en-US" dirty="0">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Activity</a:t>
            </a:r>
          </a:p>
          <a:p>
            <a:pPr marL="914400" lvl="1" indent="-381000">
              <a:spcBef>
                <a:spcPts val="1000"/>
              </a:spcBef>
              <a:buClr>
                <a:srgbClr val="000000"/>
              </a:buClr>
              <a:buSzPts val="2400"/>
              <a:buFont typeface="Arial" panose="020B0604020202020204" pitchFamily="34" charset="0"/>
              <a:buChar char="○"/>
            </a:pPr>
            <a:r>
              <a:rPr lang="en-CA" altLang="en-US" dirty="0">
                <a:solidFill>
                  <a:schemeClr val="tx1"/>
                </a:solidFill>
              </a:rPr>
              <a:t>Statically in layout</a:t>
            </a:r>
          </a:p>
          <a:p>
            <a:pPr marL="914400" lvl="1" indent="-381000">
              <a:spcBef>
                <a:spcPct val="0"/>
              </a:spcBef>
              <a:buClr>
                <a:srgbClr val="000000"/>
              </a:buClr>
              <a:buSzPts val="2400"/>
              <a:buFont typeface="Arial" panose="020B0604020202020204" pitchFamily="34" charset="0"/>
              <a:buChar char="○"/>
            </a:pPr>
            <a:r>
              <a:rPr lang="en-CA" altLang="en-US" dirty="0">
                <a:solidFill>
                  <a:schemeClr val="tx1"/>
                </a:solidFill>
              </a:rPr>
              <a:t>Dynamically using fragment transactions</a:t>
            </a:r>
          </a:p>
          <a:p>
            <a:pPr marL="914400" lvl="1" indent="-381000">
              <a:spcBef>
                <a:spcPct val="0"/>
              </a:spcBef>
              <a:buClr>
                <a:srgbClr val="000000"/>
              </a:buClr>
              <a:buSzPts val="2400"/>
              <a:buFont typeface="Arial" panose="020B0604020202020204" pitchFamily="34" charset="0"/>
              <a:buChar char="○"/>
            </a:pPr>
            <a:endParaRPr lang="en-CA" altLang="en-US" dirty="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2" name="Footer Placeholder 1">
            <a:extLst>
              <a:ext uri="{FF2B5EF4-FFF2-40B4-BE49-F238E27FC236}">
                <a16:creationId xmlns:a16="http://schemas.microsoft.com/office/drawing/2014/main" id="{ADAC17A3-4DE6-F5A5-BB5F-0273659FBEE6}"/>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4544CB-DEA6-4047-91EA-9B2D78714F06}"/>
              </a:ext>
            </a:extLst>
          </p:cNvPr>
          <p:cNvSpPr>
            <a:spLocks noGrp="1"/>
          </p:cNvSpPr>
          <p:nvPr>
            <p:ph type="title"/>
          </p:nvPr>
        </p:nvSpPr>
        <p:spPr/>
        <p:txBody>
          <a:bodyPr/>
          <a:lstStyle/>
          <a:p>
            <a:r>
              <a:rPr lang="en-US" dirty="0"/>
              <a:t>Creating new Fragments</a:t>
            </a:r>
            <a:endParaRPr lang="en-CA" dirty="0"/>
          </a:p>
        </p:txBody>
      </p:sp>
      <p:sp>
        <p:nvSpPr>
          <p:cNvPr id="6" name="Content Placeholder 5">
            <a:extLst>
              <a:ext uri="{FF2B5EF4-FFF2-40B4-BE49-F238E27FC236}">
                <a16:creationId xmlns:a16="http://schemas.microsoft.com/office/drawing/2014/main" id="{CCD999E2-51CF-4F97-821B-C67F1309FCB0}"/>
              </a:ext>
            </a:extLst>
          </p:cNvPr>
          <p:cNvSpPr>
            <a:spLocks noGrp="1"/>
          </p:cNvSpPr>
          <p:nvPr>
            <p:ph idx="1"/>
          </p:nvPr>
        </p:nvSpPr>
        <p:spPr/>
        <p:txBody>
          <a:bodyPr/>
          <a:lstStyle/>
          <a:p>
            <a:pPr>
              <a:buFont typeface="Arial" panose="020B0604020202020204" pitchFamily="34" charset="0"/>
              <a:buChar char="•"/>
              <a:defRPr/>
            </a:pPr>
            <a:r>
              <a:rPr lang="en-US" dirty="0">
                <a:effectLst/>
              </a:rPr>
              <a:t>Like an </a:t>
            </a:r>
            <a:r>
              <a:rPr lang="en-US" dirty="0"/>
              <a:t>Activity, each </a:t>
            </a:r>
            <a:r>
              <a:rPr lang="en-US" dirty="0">
                <a:effectLst/>
              </a:rPr>
              <a:t>fragment</a:t>
            </a:r>
            <a:r>
              <a:rPr lang="en-US" dirty="0"/>
              <a:t> has</a:t>
            </a:r>
            <a:endParaRPr lang="en-US" dirty="0">
              <a:effectLst/>
            </a:endParaRPr>
          </a:p>
          <a:p>
            <a:pPr lvl="1">
              <a:buFont typeface="Arial" panose="020B0604020202020204" pitchFamily="34" charset="0"/>
              <a:buChar char="•"/>
              <a:defRPr/>
            </a:pPr>
            <a:r>
              <a:rPr lang="en-US" dirty="0">
                <a:effectLst/>
              </a:rPr>
              <a:t>A xml file defines the layout</a:t>
            </a:r>
          </a:p>
          <a:p>
            <a:pPr lvl="1">
              <a:buFont typeface="Arial" panose="020B0604020202020204" pitchFamily="34" charset="0"/>
              <a:buChar char="•"/>
              <a:defRPr/>
            </a:pPr>
            <a:r>
              <a:rPr lang="en-US" dirty="0">
                <a:effectLst/>
              </a:rPr>
              <a:t>A corresponding </a:t>
            </a:r>
            <a:r>
              <a:rPr lang="en-US" dirty="0" err="1">
                <a:effectLst/>
              </a:rPr>
              <a:t>kotlin</a:t>
            </a:r>
            <a:r>
              <a:rPr lang="en-US" dirty="0">
                <a:effectLst/>
              </a:rPr>
              <a:t>/java file</a:t>
            </a:r>
          </a:p>
          <a:p>
            <a:endParaRPr lang="en-CA" dirty="0"/>
          </a:p>
          <a:p>
            <a:r>
              <a:rPr lang="en-CA" dirty="0"/>
              <a:t>File-New-Fragment-Blank Fragment</a:t>
            </a:r>
          </a:p>
        </p:txBody>
      </p:sp>
      <p:sp>
        <p:nvSpPr>
          <p:cNvPr id="4" name="Footer Placeholder 3">
            <a:extLst>
              <a:ext uri="{FF2B5EF4-FFF2-40B4-BE49-F238E27FC236}">
                <a16:creationId xmlns:a16="http://schemas.microsoft.com/office/drawing/2014/main" id="{FDFCA39B-7F5B-4CC9-AD8C-D0B1ABAD3BDE}"/>
              </a:ext>
            </a:extLst>
          </p:cNvPr>
          <p:cNvSpPr>
            <a:spLocks noGrp="1"/>
          </p:cNvSpPr>
          <p:nvPr>
            <p:ph type="ftr" sz="quarter" idx="11"/>
          </p:nvPr>
        </p:nvSpPr>
        <p:spPr/>
        <p:txBody>
          <a:bodyPr/>
          <a:lstStyle/>
          <a:p>
            <a:pPr>
              <a:defRPr/>
            </a:pPr>
            <a:r>
              <a:rPr lang="en-US" altLang="en-US"/>
              <a:t>L Wong                              INFO 5126</a:t>
            </a:r>
          </a:p>
        </p:txBody>
      </p:sp>
    </p:spTree>
    <p:extLst>
      <p:ext uri="{BB962C8B-B14F-4D97-AF65-F5344CB8AC3E}">
        <p14:creationId xmlns:p14="http://schemas.microsoft.com/office/powerpoint/2010/main" val="205823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4000" dirty="0"/>
              <a:t>Add your fragment to your activity in xml</a:t>
            </a:r>
          </a:p>
        </p:txBody>
      </p:sp>
      <p:sp>
        <p:nvSpPr>
          <p:cNvPr id="7171" name="Content Placeholder 2"/>
          <p:cNvSpPr>
            <a:spLocks noGrp="1"/>
          </p:cNvSpPr>
          <p:nvPr>
            <p:ph idx="1"/>
          </p:nvPr>
        </p:nvSpPr>
        <p:spPr/>
        <p:txBody>
          <a:bodyPr/>
          <a:lstStyle/>
          <a:p>
            <a:pPr marL="514350" indent="-514350">
              <a:buFont typeface="Tahoma" panose="020B0604030504040204" pitchFamily="34" charset="0"/>
              <a:buAutoNum type="arabicPeriod"/>
            </a:pPr>
            <a:r>
              <a:rPr lang="en-US" altLang="en-US" dirty="0">
                <a:effectLst/>
              </a:rPr>
              <a:t>In activity_main.xml go to common-fragment container view.  Drag and drop the fragment onto the activity </a:t>
            </a:r>
          </a:p>
          <a:p>
            <a:pPr marL="514350" indent="-514350">
              <a:buFont typeface="Tahoma" panose="020B0604030504040204" pitchFamily="34" charset="0"/>
              <a:buAutoNum type="arabicPeriod"/>
            </a:pPr>
            <a:r>
              <a:rPr lang="en-US" altLang="en-US" dirty="0">
                <a:effectLst/>
              </a:rPr>
              <a:t>When you insert the fragment container view, you will attach it to your fragment that you just created</a:t>
            </a:r>
          </a:p>
        </p:txBody>
      </p:sp>
      <p:sp>
        <p:nvSpPr>
          <p:cNvPr id="3" name="Footer Placeholder 2">
            <a:extLst>
              <a:ext uri="{FF2B5EF4-FFF2-40B4-BE49-F238E27FC236}">
                <a16:creationId xmlns:a16="http://schemas.microsoft.com/office/drawing/2014/main" id="{8A65F9D1-9009-A167-A7A9-BC00020A7FC2}"/>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178E97-9BEA-4A90-B6C7-24BB5ECEFC14}"/>
              </a:ext>
            </a:extLst>
          </p:cNvPr>
          <p:cNvSpPr>
            <a:spLocks noGrp="1"/>
          </p:cNvSpPr>
          <p:nvPr>
            <p:ph type="ctrTitle"/>
          </p:nvPr>
        </p:nvSpPr>
        <p:spPr/>
        <p:txBody>
          <a:bodyPr>
            <a:normAutofit fontScale="90000"/>
          </a:bodyPr>
          <a:lstStyle/>
          <a:p>
            <a:r>
              <a:rPr lang="en-US" dirty="0"/>
              <a:t>Fragment communication</a:t>
            </a:r>
            <a:br>
              <a:rPr lang="en-CA" dirty="0"/>
            </a:br>
            <a:endParaRPr lang="en-CA" dirty="0"/>
          </a:p>
        </p:txBody>
      </p:sp>
      <p:sp>
        <p:nvSpPr>
          <p:cNvPr id="6" name="Subtitle 5">
            <a:extLst>
              <a:ext uri="{FF2B5EF4-FFF2-40B4-BE49-F238E27FC236}">
                <a16:creationId xmlns:a16="http://schemas.microsoft.com/office/drawing/2014/main" id="{A68F34FB-1AC0-482A-A52F-772257EA1A98}"/>
              </a:ext>
            </a:extLst>
          </p:cNvPr>
          <p:cNvSpPr>
            <a:spLocks noGrp="1"/>
          </p:cNvSpPr>
          <p:nvPr>
            <p:ph type="subTitle" idx="1"/>
          </p:nvPr>
        </p:nvSpPr>
        <p:spPr/>
        <p:txBody>
          <a:bodyPr/>
          <a:lstStyle/>
          <a:p>
            <a:r>
              <a:rPr lang="en-US" dirty="0"/>
              <a:t>Fragments</a:t>
            </a:r>
            <a:endParaRPr lang="en-CA" dirty="0"/>
          </a:p>
        </p:txBody>
      </p:sp>
      <p:sp>
        <p:nvSpPr>
          <p:cNvPr id="4" name="Footer Placeholder 3">
            <a:extLst>
              <a:ext uri="{FF2B5EF4-FFF2-40B4-BE49-F238E27FC236}">
                <a16:creationId xmlns:a16="http://schemas.microsoft.com/office/drawing/2014/main" id="{72D1E64A-4FD1-41CC-B09A-0AE1D1927BDA}"/>
              </a:ext>
            </a:extLst>
          </p:cNvPr>
          <p:cNvSpPr>
            <a:spLocks noGrp="1"/>
          </p:cNvSpPr>
          <p:nvPr>
            <p:ph type="ftr" sz="quarter" idx="11"/>
          </p:nvPr>
        </p:nvSpPr>
        <p:spPr/>
        <p:txBody>
          <a:bodyPr/>
          <a:lstStyle/>
          <a:p>
            <a:pPr>
              <a:defRPr/>
            </a:pPr>
            <a:r>
              <a:rPr lang="en-US" altLang="en-US"/>
              <a:t>L Wong                              INFO 5126</a:t>
            </a:r>
          </a:p>
        </p:txBody>
      </p:sp>
    </p:spTree>
    <p:extLst>
      <p:ext uri="{BB962C8B-B14F-4D97-AF65-F5344CB8AC3E}">
        <p14:creationId xmlns:p14="http://schemas.microsoft.com/office/powerpoint/2010/main" val="2998030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659E2-56D4-46D9-BFFB-F3C9431AD2B5}"/>
              </a:ext>
            </a:extLst>
          </p:cNvPr>
          <p:cNvSpPr>
            <a:spLocks noGrp="1"/>
          </p:cNvSpPr>
          <p:nvPr>
            <p:ph type="title"/>
          </p:nvPr>
        </p:nvSpPr>
        <p:spPr/>
        <p:txBody>
          <a:bodyPr/>
          <a:lstStyle/>
          <a:p>
            <a:r>
              <a:rPr lang="en-US" dirty="0"/>
              <a:t>Fragment communication</a:t>
            </a:r>
            <a:endParaRPr lang="en-CA" dirty="0"/>
          </a:p>
        </p:txBody>
      </p:sp>
      <p:sp>
        <p:nvSpPr>
          <p:cNvPr id="3" name="Content Placeholder 2">
            <a:extLst>
              <a:ext uri="{FF2B5EF4-FFF2-40B4-BE49-F238E27FC236}">
                <a16:creationId xmlns:a16="http://schemas.microsoft.com/office/drawing/2014/main" id="{6CC2BA75-50B9-4D75-8725-2D185B7C57FB}"/>
              </a:ext>
            </a:extLst>
          </p:cNvPr>
          <p:cNvSpPr>
            <a:spLocks noGrp="1"/>
          </p:cNvSpPr>
          <p:nvPr>
            <p:ph idx="1"/>
          </p:nvPr>
        </p:nvSpPr>
        <p:spPr/>
        <p:txBody>
          <a:bodyPr/>
          <a:lstStyle/>
          <a:p>
            <a:r>
              <a:rPr lang="en-US" dirty="0"/>
              <a:t>If you have multiple fragments, they should not communicate directly with each other.   Instead, communication between fragments are done via the host activity</a:t>
            </a:r>
          </a:p>
          <a:p>
            <a:r>
              <a:rPr lang="en-US" dirty="0"/>
              <a:t>Remember to be fully aware of where each UI component is when referring to them.</a:t>
            </a:r>
          </a:p>
          <a:p>
            <a:pPr lvl="1"/>
            <a:r>
              <a:rPr lang="en-US" dirty="0"/>
              <a:t>The main activity can directly reference fragments UI components within them</a:t>
            </a:r>
          </a:p>
          <a:p>
            <a:pPr lvl="1"/>
            <a:r>
              <a:rPr lang="en-US" dirty="0"/>
              <a:t>The fragment can </a:t>
            </a:r>
            <a:r>
              <a:rPr lang="en-US" b="1" u="sng" dirty="0"/>
              <a:t>NOT</a:t>
            </a:r>
            <a:r>
              <a:rPr lang="en-US" dirty="0"/>
              <a:t> directly reference the activities UI components</a:t>
            </a:r>
            <a:endParaRPr lang="en-CA" dirty="0"/>
          </a:p>
        </p:txBody>
      </p:sp>
      <p:sp>
        <p:nvSpPr>
          <p:cNvPr id="4" name="Footer Placeholder 3">
            <a:extLst>
              <a:ext uri="{FF2B5EF4-FFF2-40B4-BE49-F238E27FC236}">
                <a16:creationId xmlns:a16="http://schemas.microsoft.com/office/drawing/2014/main" id="{674B4A31-2E25-4FD4-BFFF-71234BC874AC}"/>
              </a:ext>
            </a:extLst>
          </p:cNvPr>
          <p:cNvSpPr>
            <a:spLocks noGrp="1"/>
          </p:cNvSpPr>
          <p:nvPr>
            <p:ph type="ftr" sz="quarter" idx="11"/>
          </p:nvPr>
        </p:nvSpPr>
        <p:spPr/>
        <p:txBody>
          <a:bodyPr/>
          <a:lstStyle/>
          <a:p>
            <a:pPr>
              <a:defRPr/>
            </a:pPr>
            <a:r>
              <a:rPr lang="en-US" altLang="en-US"/>
              <a:t>L Wong                              INFO 5126</a:t>
            </a:r>
          </a:p>
        </p:txBody>
      </p:sp>
    </p:spTree>
    <p:extLst>
      <p:ext uri="{BB962C8B-B14F-4D97-AF65-F5344CB8AC3E}">
        <p14:creationId xmlns:p14="http://schemas.microsoft.com/office/powerpoint/2010/main" val="1900376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1"/>
            <a:ext cx="11277600" cy="1431925"/>
          </a:xfrm>
        </p:spPr>
        <p:txBody>
          <a:bodyPr/>
          <a:lstStyle/>
          <a:p>
            <a:pPr>
              <a:defRPr/>
            </a:pPr>
            <a:r>
              <a:rPr lang="en-US" sz="3200" dirty="0"/>
              <a:t>Fragment communication with the activity holding it</a:t>
            </a:r>
          </a:p>
        </p:txBody>
      </p:sp>
      <p:sp>
        <p:nvSpPr>
          <p:cNvPr id="3" name="Content Placeholder 2"/>
          <p:cNvSpPr>
            <a:spLocks noGrp="1"/>
          </p:cNvSpPr>
          <p:nvPr>
            <p:ph idx="1"/>
          </p:nvPr>
        </p:nvSpPr>
        <p:spPr/>
        <p:txBody>
          <a:bodyPr>
            <a:normAutofit/>
          </a:bodyPr>
          <a:lstStyle/>
          <a:p>
            <a:pPr marL="0" indent="0">
              <a:buNone/>
              <a:defRPr/>
            </a:pPr>
            <a:r>
              <a:rPr lang="en-US" dirty="0"/>
              <a:t>The activity holding the fragment may be obtained by</a:t>
            </a:r>
          </a:p>
          <a:p>
            <a:pPr marL="0" indent="0">
              <a:buNone/>
              <a:defRPr/>
            </a:pPr>
            <a:r>
              <a:rPr lang="en-US" dirty="0"/>
              <a:t>	(activity as? MainActivity)</a:t>
            </a:r>
          </a:p>
          <a:p>
            <a:pPr>
              <a:defRPr/>
            </a:pPr>
            <a:r>
              <a:rPr lang="en-US" dirty="0"/>
              <a:t>To call a function in the MainActivity named </a:t>
            </a:r>
            <a:r>
              <a:rPr lang="en-US" dirty="0" err="1"/>
              <a:t>receiveData</a:t>
            </a:r>
            <a:endParaRPr lang="en-US" dirty="0"/>
          </a:p>
          <a:p>
            <a:pPr marL="457200" lvl="1" indent="0">
              <a:buNone/>
              <a:defRPr/>
            </a:pPr>
            <a:r>
              <a:rPr lang="en-CA" dirty="0"/>
              <a:t>(</a:t>
            </a:r>
            <a:r>
              <a:rPr lang="en-CA" i="1" dirty="0"/>
              <a:t>activity </a:t>
            </a:r>
            <a:r>
              <a:rPr lang="en-CA" dirty="0"/>
              <a:t>as? MainActivity)?.</a:t>
            </a:r>
            <a:r>
              <a:rPr lang="en-CA" dirty="0" err="1"/>
              <a:t>receiveData</a:t>
            </a:r>
            <a:r>
              <a:rPr lang="en-CA" dirty="0"/>
              <a:t>(</a:t>
            </a:r>
            <a:r>
              <a:rPr lang="en-CA" dirty="0" err="1"/>
              <a:t>emailItem</a:t>
            </a:r>
            <a:r>
              <a:rPr lang="en-CA" dirty="0"/>
              <a:t>)</a:t>
            </a:r>
          </a:p>
          <a:p>
            <a:pPr>
              <a:defRPr/>
            </a:pPr>
            <a:endParaRPr lang="en-US" dirty="0"/>
          </a:p>
        </p:txBody>
      </p:sp>
      <p:sp>
        <p:nvSpPr>
          <p:cNvPr id="4" name="Footer Placeholder 3">
            <a:extLst>
              <a:ext uri="{FF2B5EF4-FFF2-40B4-BE49-F238E27FC236}">
                <a16:creationId xmlns:a16="http://schemas.microsoft.com/office/drawing/2014/main" id="{1E4D76A8-CEAB-06AC-BFC5-6EF544FF64A6}"/>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178E97-9BEA-4A90-B6C7-24BB5ECEFC14}"/>
              </a:ext>
            </a:extLst>
          </p:cNvPr>
          <p:cNvSpPr>
            <a:spLocks noGrp="1"/>
          </p:cNvSpPr>
          <p:nvPr>
            <p:ph type="ctrTitle"/>
          </p:nvPr>
        </p:nvSpPr>
        <p:spPr>
          <a:xfrm>
            <a:off x="861158" y="3968226"/>
            <a:ext cx="9144000" cy="1641490"/>
          </a:xfrm>
        </p:spPr>
        <p:txBody>
          <a:bodyPr>
            <a:normAutofit fontScale="90000"/>
          </a:bodyPr>
          <a:lstStyle/>
          <a:p>
            <a:r>
              <a:rPr lang="en-US" dirty="0"/>
              <a:t>Managing Fragments </a:t>
            </a:r>
            <a:br>
              <a:rPr lang="en-US" dirty="0"/>
            </a:br>
            <a:r>
              <a:rPr lang="en-US" dirty="0"/>
              <a:t>dynamically</a:t>
            </a:r>
            <a:br>
              <a:rPr lang="en-CA" dirty="0"/>
            </a:br>
            <a:endParaRPr lang="en-CA" dirty="0"/>
          </a:p>
        </p:txBody>
      </p:sp>
      <p:sp>
        <p:nvSpPr>
          <p:cNvPr id="6" name="Subtitle 5">
            <a:extLst>
              <a:ext uri="{FF2B5EF4-FFF2-40B4-BE49-F238E27FC236}">
                <a16:creationId xmlns:a16="http://schemas.microsoft.com/office/drawing/2014/main" id="{A68F34FB-1AC0-482A-A52F-772257EA1A98}"/>
              </a:ext>
            </a:extLst>
          </p:cNvPr>
          <p:cNvSpPr>
            <a:spLocks noGrp="1"/>
          </p:cNvSpPr>
          <p:nvPr>
            <p:ph type="subTitle" idx="1"/>
          </p:nvPr>
        </p:nvSpPr>
        <p:spPr>
          <a:xfrm>
            <a:off x="877723" y="3207575"/>
            <a:ext cx="9144000" cy="754025"/>
          </a:xfrm>
        </p:spPr>
        <p:txBody>
          <a:bodyPr/>
          <a:lstStyle/>
          <a:p>
            <a:r>
              <a:rPr lang="en-US" dirty="0"/>
              <a:t>Fragments</a:t>
            </a:r>
            <a:endParaRPr lang="en-CA" dirty="0"/>
          </a:p>
        </p:txBody>
      </p:sp>
      <p:sp>
        <p:nvSpPr>
          <p:cNvPr id="4" name="Footer Placeholder 3">
            <a:extLst>
              <a:ext uri="{FF2B5EF4-FFF2-40B4-BE49-F238E27FC236}">
                <a16:creationId xmlns:a16="http://schemas.microsoft.com/office/drawing/2014/main" id="{72D1E64A-4FD1-41CC-B09A-0AE1D1927BDA}"/>
              </a:ext>
            </a:extLst>
          </p:cNvPr>
          <p:cNvSpPr>
            <a:spLocks noGrp="1"/>
          </p:cNvSpPr>
          <p:nvPr>
            <p:ph type="ftr" sz="quarter" idx="11"/>
          </p:nvPr>
        </p:nvSpPr>
        <p:spPr/>
        <p:txBody>
          <a:bodyPr/>
          <a:lstStyle/>
          <a:p>
            <a:pPr>
              <a:defRPr/>
            </a:pPr>
            <a:r>
              <a:rPr lang="en-US" altLang="en-US"/>
              <a:t>L Wong                              INFO 5126</a:t>
            </a:r>
          </a:p>
        </p:txBody>
      </p:sp>
    </p:spTree>
    <p:extLst>
      <p:ext uri="{BB962C8B-B14F-4D97-AF65-F5344CB8AC3E}">
        <p14:creationId xmlns:p14="http://schemas.microsoft.com/office/powerpoint/2010/main" val="1835370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a:t>Adding and Removing Fragments dynamically</a:t>
            </a:r>
          </a:p>
        </p:txBody>
      </p:sp>
      <p:sp>
        <p:nvSpPr>
          <p:cNvPr id="3" name="Content Placeholder 2"/>
          <p:cNvSpPr>
            <a:spLocks noGrp="1"/>
          </p:cNvSpPr>
          <p:nvPr>
            <p:ph idx="1"/>
          </p:nvPr>
        </p:nvSpPr>
        <p:spPr/>
        <p:txBody>
          <a:bodyPr/>
          <a:lstStyle/>
          <a:p>
            <a:pPr>
              <a:defRPr/>
            </a:pPr>
            <a:r>
              <a:rPr lang="en-US" dirty="0"/>
              <a:t>The </a:t>
            </a:r>
            <a:r>
              <a:rPr lang="en-US" dirty="0" err="1"/>
              <a:t>FragmentManager</a:t>
            </a:r>
            <a:r>
              <a:rPr lang="en-US" dirty="0"/>
              <a:t> class allows you to add, remove, and replace fragments in the layout of the activity</a:t>
            </a:r>
          </a:p>
          <a:p>
            <a:pPr lvl="1">
              <a:defRPr/>
            </a:pPr>
            <a:r>
              <a:rPr lang="en-US" dirty="0" err="1"/>
              <a:t>getSupportFragmentManager</a:t>
            </a:r>
            <a:r>
              <a:rPr lang="en-US" dirty="0"/>
              <a:t>() will get an instance of the </a:t>
            </a:r>
            <a:r>
              <a:rPr lang="en-US" dirty="0" err="1"/>
              <a:t>FragmentManager</a:t>
            </a:r>
            <a:r>
              <a:rPr lang="en-US" dirty="0"/>
              <a:t> or just use </a:t>
            </a:r>
            <a:r>
              <a:rPr lang="en-US" dirty="0" err="1"/>
              <a:t>supportFragmentManager</a:t>
            </a:r>
            <a:endParaRPr lang="en-US" dirty="0"/>
          </a:p>
          <a:p>
            <a:pPr>
              <a:defRPr/>
            </a:pPr>
            <a:r>
              <a:rPr lang="en-US" dirty="0"/>
              <a:t>The </a:t>
            </a:r>
            <a:r>
              <a:rPr lang="en-US" dirty="0" err="1"/>
              <a:t>FragmentTransaction</a:t>
            </a:r>
            <a:r>
              <a:rPr lang="en-US" dirty="0"/>
              <a:t> class performs the transactions</a:t>
            </a:r>
          </a:p>
          <a:p>
            <a:pPr>
              <a:defRPr/>
            </a:pPr>
            <a:r>
              <a:rPr lang="en-US" dirty="0"/>
              <a:t>Use the </a:t>
            </a:r>
            <a:r>
              <a:rPr lang="en-US" dirty="0" err="1"/>
              <a:t>FragmentTransaction</a:t>
            </a:r>
            <a:r>
              <a:rPr lang="en-US" dirty="0"/>
              <a:t> to add, replace, or remove fragments</a:t>
            </a:r>
          </a:p>
          <a:p>
            <a:pPr>
              <a:defRPr/>
            </a:pPr>
            <a:r>
              <a:rPr lang="en-US" dirty="0"/>
              <a:t>To modify the fragments in an activity, you typically define a </a:t>
            </a:r>
            <a:r>
              <a:rPr lang="en-US" dirty="0" err="1"/>
              <a:t>FragmentContainer</a:t>
            </a:r>
            <a:r>
              <a:rPr lang="en-US" dirty="0"/>
              <a:t> within the activity</a:t>
            </a:r>
          </a:p>
        </p:txBody>
      </p:sp>
      <p:sp>
        <p:nvSpPr>
          <p:cNvPr id="4" name="Footer Placeholder 3">
            <a:extLst>
              <a:ext uri="{FF2B5EF4-FFF2-40B4-BE49-F238E27FC236}">
                <a16:creationId xmlns:a16="http://schemas.microsoft.com/office/drawing/2014/main" id="{E1C8E5F4-B817-F1B6-DD6C-36BC32F7D55F}"/>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F1A93-887D-4B83-9EA0-8B466A565B57}"/>
              </a:ext>
            </a:extLst>
          </p:cNvPr>
          <p:cNvSpPr>
            <a:spLocks noGrp="1"/>
          </p:cNvSpPr>
          <p:nvPr>
            <p:ph type="title"/>
          </p:nvPr>
        </p:nvSpPr>
        <p:spPr>
          <a:xfrm>
            <a:off x="228600" y="365125"/>
            <a:ext cx="11125200" cy="1325563"/>
          </a:xfrm>
        </p:spPr>
        <p:txBody>
          <a:bodyPr>
            <a:normAutofit fontScale="90000"/>
          </a:bodyPr>
          <a:lstStyle/>
          <a:p>
            <a:r>
              <a:rPr lang="en-US" dirty="0"/>
              <a:t>Each host has its own </a:t>
            </a:r>
            <a:r>
              <a:rPr lang="en-US" dirty="0" err="1"/>
              <a:t>FragmentManager</a:t>
            </a:r>
            <a:endParaRPr lang="en-CA" dirty="0"/>
          </a:p>
        </p:txBody>
      </p:sp>
      <p:pic>
        <p:nvPicPr>
          <p:cNvPr id="6" name="Content Placeholder 5" descr="Fragment Manager">
            <a:extLst>
              <a:ext uri="{FF2B5EF4-FFF2-40B4-BE49-F238E27FC236}">
                <a16:creationId xmlns:a16="http://schemas.microsoft.com/office/drawing/2014/main" id="{266CAED0-EB6C-4947-BE80-BCCB858312DE}"/>
              </a:ext>
            </a:extLst>
          </p:cNvPr>
          <p:cNvPicPr>
            <a:picLocks noGrp="1" noChangeAspect="1"/>
          </p:cNvPicPr>
          <p:nvPr>
            <p:ph idx="1"/>
          </p:nvPr>
        </p:nvPicPr>
        <p:blipFill>
          <a:blip r:embed="rId2"/>
          <a:stretch>
            <a:fillRect/>
          </a:stretch>
        </p:blipFill>
        <p:spPr>
          <a:xfrm>
            <a:off x="2057400" y="1836503"/>
            <a:ext cx="8727150" cy="4519847"/>
          </a:xfrm>
        </p:spPr>
      </p:pic>
      <p:sp>
        <p:nvSpPr>
          <p:cNvPr id="4" name="Footer Placeholder 3">
            <a:extLst>
              <a:ext uri="{FF2B5EF4-FFF2-40B4-BE49-F238E27FC236}">
                <a16:creationId xmlns:a16="http://schemas.microsoft.com/office/drawing/2014/main" id="{F5C153C0-423A-446D-851C-86E92CA381DE}"/>
              </a:ext>
            </a:extLst>
          </p:cNvPr>
          <p:cNvSpPr>
            <a:spLocks noGrp="1"/>
          </p:cNvSpPr>
          <p:nvPr>
            <p:ph type="ftr" sz="quarter" idx="11"/>
          </p:nvPr>
        </p:nvSpPr>
        <p:spPr/>
        <p:txBody>
          <a:bodyPr/>
          <a:lstStyle/>
          <a:p>
            <a:pPr>
              <a:defRPr/>
            </a:pPr>
            <a:r>
              <a:rPr lang="en-US" altLang="en-US"/>
              <a:t>L Wong                              INFO 5126</a:t>
            </a:r>
          </a:p>
        </p:txBody>
      </p:sp>
    </p:spTree>
    <p:extLst>
      <p:ext uri="{BB962C8B-B14F-4D97-AF65-F5344CB8AC3E}">
        <p14:creationId xmlns:p14="http://schemas.microsoft.com/office/powerpoint/2010/main" val="1799577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857A2-E9CF-4CCE-B63A-A41EF4567034}"/>
              </a:ext>
            </a:extLst>
          </p:cNvPr>
          <p:cNvSpPr>
            <a:spLocks noGrp="1"/>
          </p:cNvSpPr>
          <p:nvPr>
            <p:ph type="title"/>
          </p:nvPr>
        </p:nvSpPr>
        <p:spPr>
          <a:xfrm>
            <a:off x="76200" y="685800"/>
            <a:ext cx="12268200" cy="1006475"/>
          </a:xfrm>
        </p:spPr>
        <p:txBody>
          <a:bodyPr>
            <a:normAutofit fontScale="90000"/>
          </a:bodyPr>
          <a:lstStyle/>
          <a:p>
            <a:r>
              <a:rPr lang="en-CA" dirty="0"/>
              <a:t>Sample code to handle the </a:t>
            </a:r>
            <a:r>
              <a:rPr lang="en-CA" dirty="0" err="1"/>
              <a:t>fragmentManagers</a:t>
            </a:r>
            <a:r>
              <a:rPr lang="en-CA" dirty="0"/>
              <a:t> transactions</a:t>
            </a:r>
            <a:br>
              <a:rPr lang="en-CA" dirty="0"/>
            </a:br>
            <a:endParaRPr lang="en-CA" dirty="0"/>
          </a:p>
        </p:txBody>
      </p:sp>
      <p:sp>
        <p:nvSpPr>
          <p:cNvPr id="3" name="Content Placeholder 2">
            <a:extLst>
              <a:ext uri="{FF2B5EF4-FFF2-40B4-BE49-F238E27FC236}">
                <a16:creationId xmlns:a16="http://schemas.microsoft.com/office/drawing/2014/main" id="{B9195D37-AB49-4B9D-B142-2DA248A67122}"/>
              </a:ext>
            </a:extLst>
          </p:cNvPr>
          <p:cNvSpPr>
            <a:spLocks noGrp="1"/>
          </p:cNvSpPr>
          <p:nvPr>
            <p:ph idx="1"/>
          </p:nvPr>
        </p:nvSpPr>
        <p:spPr>
          <a:xfrm>
            <a:off x="152400" y="1825624"/>
            <a:ext cx="12039600" cy="4575175"/>
          </a:xfrm>
        </p:spPr>
        <p:txBody>
          <a:bodyPr>
            <a:normAutofit fontScale="92500" lnSpcReduction="20000"/>
          </a:bodyPr>
          <a:lstStyle/>
          <a:p>
            <a:pPr marL="0" indent="0">
              <a:buNone/>
            </a:pPr>
            <a:r>
              <a:rPr lang="en-CA" dirty="0"/>
              <a:t>inline fun </a:t>
            </a:r>
            <a:r>
              <a:rPr lang="en-CA" dirty="0" err="1"/>
              <a:t>FragmentManager.inTransaction</a:t>
            </a:r>
            <a:r>
              <a:rPr lang="en-CA" dirty="0"/>
              <a:t>(</a:t>
            </a:r>
            <a:r>
              <a:rPr lang="en-CA" dirty="0" err="1"/>
              <a:t>func</a:t>
            </a:r>
            <a:r>
              <a:rPr lang="en-CA" dirty="0"/>
              <a:t>: </a:t>
            </a:r>
            <a:r>
              <a:rPr lang="en-CA" dirty="0" err="1"/>
              <a:t>FragmentTransaction</a:t>
            </a:r>
            <a:r>
              <a:rPr lang="en-CA" dirty="0"/>
              <a:t>.() -&gt; Unit) {</a:t>
            </a:r>
          </a:p>
          <a:p>
            <a:pPr marL="0" indent="0">
              <a:buNone/>
            </a:pPr>
            <a:r>
              <a:rPr lang="en-CA" dirty="0"/>
              <a:t>        </a:t>
            </a:r>
            <a:r>
              <a:rPr lang="en-CA" dirty="0" err="1"/>
              <a:t>val</a:t>
            </a:r>
            <a:r>
              <a:rPr lang="en-CA" dirty="0"/>
              <a:t> </a:t>
            </a:r>
            <a:r>
              <a:rPr lang="en-CA" dirty="0" err="1"/>
              <a:t>fragmentTransaction</a:t>
            </a:r>
            <a:r>
              <a:rPr lang="en-CA" dirty="0"/>
              <a:t> = </a:t>
            </a:r>
            <a:r>
              <a:rPr lang="en-CA" dirty="0" err="1"/>
              <a:t>beginTransaction</a:t>
            </a:r>
            <a:r>
              <a:rPr lang="en-CA" dirty="0"/>
              <a:t>()</a:t>
            </a:r>
          </a:p>
          <a:p>
            <a:pPr marL="0" indent="0">
              <a:buNone/>
            </a:pPr>
            <a:r>
              <a:rPr lang="en-CA" dirty="0"/>
              <a:t>        </a:t>
            </a:r>
            <a:r>
              <a:rPr lang="en-CA" dirty="0" err="1"/>
              <a:t>fragmentTransaction.func</a:t>
            </a:r>
            <a:r>
              <a:rPr lang="en-CA" dirty="0"/>
              <a:t>()</a:t>
            </a:r>
          </a:p>
          <a:p>
            <a:pPr marL="0" indent="0">
              <a:buNone/>
            </a:pPr>
            <a:r>
              <a:rPr lang="en-CA" dirty="0"/>
              <a:t>        </a:t>
            </a:r>
            <a:r>
              <a:rPr lang="en-CA" dirty="0" err="1"/>
              <a:t>fragmentTransaction.commit</a:t>
            </a:r>
            <a:r>
              <a:rPr lang="en-CA" dirty="0"/>
              <a:t>()</a:t>
            </a:r>
          </a:p>
          <a:p>
            <a:pPr marL="0" indent="0">
              <a:buNone/>
            </a:pPr>
            <a:r>
              <a:rPr lang="en-CA" dirty="0"/>
              <a:t>}</a:t>
            </a:r>
          </a:p>
          <a:p>
            <a:pPr marL="0" indent="0">
              <a:buNone/>
            </a:pPr>
            <a:endParaRPr lang="en-CA" dirty="0"/>
          </a:p>
          <a:p>
            <a:pPr marL="0" indent="0">
              <a:buNone/>
            </a:pPr>
            <a:r>
              <a:rPr lang="en-CA" dirty="0"/>
              <a:t>// create a new instance of the fragment</a:t>
            </a:r>
          </a:p>
          <a:p>
            <a:pPr marL="0" indent="0">
              <a:buNone/>
            </a:pPr>
            <a:r>
              <a:rPr lang="en-CA" dirty="0" err="1"/>
              <a:t>val</a:t>
            </a:r>
            <a:r>
              <a:rPr lang="en-CA" dirty="0"/>
              <a:t> fragment = </a:t>
            </a:r>
            <a:r>
              <a:rPr lang="en-CA" dirty="0" err="1"/>
              <a:t>NavigateFragment</a:t>
            </a:r>
            <a:r>
              <a:rPr lang="en-CA" dirty="0"/>
              <a:t>()</a:t>
            </a:r>
          </a:p>
          <a:p>
            <a:pPr marL="0" indent="0">
              <a:buNone/>
            </a:pPr>
            <a:r>
              <a:rPr lang="en-CA" dirty="0"/>
              <a:t>// add the fragment to the fragment container</a:t>
            </a:r>
          </a:p>
          <a:p>
            <a:pPr marL="0" indent="0">
              <a:buNone/>
            </a:pPr>
            <a:r>
              <a:rPr lang="en-CA" dirty="0" err="1"/>
              <a:t>supportFragmentManager.inTransaction</a:t>
            </a:r>
            <a:r>
              <a:rPr lang="en-CA" dirty="0"/>
              <a:t> { add(</a:t>
            </a:r>
            <a:r>
              <a:rPr lang="en-CA" dirty="0" err="1"/>
              <a:t>R.id.fragmentContainerViewMainNav</a:t>
            </a:r>
            <a:r>
              <a:rPr lang="en-CA" dirty="0"/>
              <a:t>, fragment) }</a:t>
            </a:r>
          </a:p>
        </p:txBody>
      </p:sp>
      <p:sp>
        <p:nvSpPr>
          <p:cNvPr id="4" name="Footer Placeholder 3">
            <a:extLst>
              <a:ext uri="{FF2B5EF4-FFF2-40B4-BE49-F238E27FC236}">
                <a16:creationId xmlns:a16="http://schemas.microsoft.com/office/drawing/2014/main" id="{79A334E1-C926-49F1-89C5-84DC8A88C888}"/>
              </a:ext>
            </a:extLst>
          </p:cNvPr>
          <p:cNvSpPr>
            <a:spLocks noGrp="1"/>
          </p:cNvSpPr>
          <p:nvPr>
            <p:ph type="ftr" sz="quarter" idx="11"/>
          </p:nvPr>
        </p:nvSpPr>
        <p:spPr/>
        <p:txBody>
          <a:bodyPr/>
          <a:lstStyle/>
          <a:p>
            <a:pPr>
              <a:defRPr/>
            </a:pPr>
            <a:r>
              <a:rPr lang="en-US" altLang="en-US"/>
              <a:t>L Wong                              INFO 5126</a:t>
            </a:r>
          </a:p>
        </p:txBody>
      </p:sp>
    </p:spTree>
    <p:extLst>
      <p:ext uri="{BB962C8B-B14F-4D97-AF65-F5344CB8AC3E}">
        <p14:creationId xmlns:p14="http://schemas.microsoft.com/office/powerpoint/2010/main" val="3902385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CDB1B-BD2C-3D99-5A82-CB6E662BAFA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BD8DCF7-175D-2DF7-4002-92EB77D30B7B}"/>
              </a:ext>
            </a:extLst>
          </p:cNvPr>
          <p:cNvSpPr>
            <a:spLocks noGrp="1"/>
          </p:cNvSpPr>
          <p:nvPr>
            <p:ph type="ctrTitle"/>
          </p:nvPr>
        </p:nvSpPr>
        <p:spPr>
          <a:xfrm>
            <a:off x="837967" y="3984791"/>
            <a:ext cx="9144000" cy="1641490"/>
          </a:xfrm>
        </p:spPr>
        <p:txBody>
          <a:bodyPr>
            <a:normAutofit fontScale="90000"/>
          </a:bodyPr>
          <a:lstStyle/>
          <a:p>
            <a:r>
              <a:rPr lang="en-US" dirty="0"/>
              <a:t>Specific Fragment </a:t>
            </a:r>
            <a:br>
              <a:rPr lang="en-US" dirty="0"/>
            </a:br>
            <a:r>
              <a:rPr lang="en-US" dirty="0"/>
              <a:t>Subclasses</a:t>
            </a:r>
            <a:br>
              <a:rPr lang="en-CA" dirty="0"/>
            </a:br>
            <a:endParaRPr lang="en-CA" dirty="0"/>
          </a:p>
        </p:txBody>
      </p:sp>
      <p:sp>
        <p:nvSpPr>
          <p:cNvPr id="6" name="Subtitle 5">
            <a:extLst>
              <a:ext uri="{FF2B5EF4-FFF2-40B4-BE49-F238E27FC236}">
                <a16:creationId xmlns:a16="http://schemas.microsoft.com/office/drawing/2014/main" id="{BB0E2AFE-CCB9-3047-84DB-2022BC21884A}"/>
              </a:ext>
            </a:extLst>
          </p:cNvPr>
          <p:cNvSpPr>
            <a:spLocks noGrp="1"/>
          </p:cNvSpPr>
          <p:nvPr>
            <p:ph type="subTitle" idx="1"/>
          </p:nvPr>
        </p:nvSpPr>
        <p:spPr>
          <a:xfrm>
            <a:off x="837967" y="3207575"/>
            <a:ext cx="9144000" cy="754025"/>
          </a:xfrm>
        </p:spPr>
        <p:txBody>
          <a:bodyPr/>
          <a:lstStyle/>
          <a:p>
            <a:r>
              <a:rPr lang="en-US" dirty="0"/>
              <a:t>Fragments</a:t>
            </a:r>
            <a:endParaRPr lang="en-CA" dirty="0"/>
          </a:p>
        </p:txBody>
      </p:sp>
      <p:sp>
        <p:nvSpPr>
          <p:cNvPr id="4" name="Footer Placeholder 3">
            <a:extLst>
              <a:ext uri="{FF2B5EF4-FFF2-40B4-BE49-F238E27FC236}">
                <a16:creationId xmlns:a16="http://schemas.microsoft.com/office/drawing/2014/main" id="{6E4A119A-400F-97DC-0E91-EB29ADCB5344}"/>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a:ln>
                  <a:noFill/>
                </a:ln>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ffectLst/>
                <a:uLnTx/>
                <a:uFillTx/>
                <a:latin typeface="Corbel" panose="020B0503020204020204"/>
                <a:ea typeface="+mn-ea"/>
                <a:cs typeface="+mn-cs"/>
              </a:rPr>
              <a:t>L Wong                              INFO 5126</a:t>
            </a:r>
          </a:p>
        </p:txBody>
      </p:sp>
    </p:spTree>
    <p:extLst>
      <p:ext uri="{BB962C8B-B14F-4D97-AF65-F5344CB8AC3E}">
        <p14:creationId xmlns:p14="http://schemas.microsoft.com/office/powerpoint/2010/main" val="634468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34521838-1B7A-A266-165B-60A2F3A3FA97}"/>
              </a:ext>
            </a:extLst>
          </p:cNvPr>
          <p:cNvSpPr>
            <a:spLocks noGrp="1"/>
          </p:cNvSpPr>
          <p:nvPr>
            <p:ph type="title"/>
          </p:nvPr>
        </p:nvSpPr>
        <p:spPr/>
        <p:txBody>
          <a:bodyPr/>
          <a:lstStyle/>
          <a:p>
            <a:r>
              <a:rPr lang="en-US" altLang="en-US"/>
              <a:t>Extend the Fragment class</a:t>
            </a:r>
            <a:endParaRPr lang="en-CA" altLang="en-US"/>
          </a:p>
        </p:txBody>
      </p:sp>
      <p:sp>
        <p:nvSpPr>
          <p:cNvPr id="8195" name="Content Placeholder 2">
            <a:extLst>
              <a:ext uri="{FF2B5EF4-FFF2-40B4-BE49-F238E27FC236}">
                <a16:creationId xmlns:a16="http://schemas.microsoft.com/office/drawing/2014/main" id="{27A258B3-6932-355A-6232-E75F868D4E54}"/>
              </a:ext>
            </a:extLst>
          </p:cNvPr>
          <p:cNvSpPr>
            <a:spLocks noGrp="1"/>
          </p:cNvSpPr>
          <p:nvPr>
            <p:ph idx="1"/>
          </p:nvPr>
        </p:nvSpPr>
        <p:spPr/>
        <p:txBody>
          <a:bodyPr/>
          <a:lstStyle/>
          <a:p>
            <a:pPr marL="457200" indent="-381000">
              <a:spcBef>
                <a:spcPts val="600"/>
              </a:spcBef>
              <a:buClr>
                <a:srgbClr val="000000"/>
              </a:buClr>
              <a:buSzPts val="2400"/>
              <a:buFont typeface="Arial" panose="020B0604020202020204" pitchFamily="34" charset="0"/>
              <a:buChar char="●"/>
            </a:pPr>
            <a:r>
              <a:rPr lang="en-CA" altLang="en-US" dirty="0">
                <a:solidFill>
                  <a:schemeClr val="tx1"/>
                </a:solidFill>
              </a:rPr>
              <a:t>Extend </a:t>
            </a:r>
            <a:r>
              <a:rPr lang="en-CA" altLang="en-US" dirty="0">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Fragment</a:t>
            </a:r>
            <a:r>
              <a:rPr lang="en-CA" altLang="en-US" dirty="0">
                <a:solidFill>
                  <a:schemeClr val="tx1"/>
                </a:solidFill>
              </a:rPr>
              <a:t> class</a:t>
            </a:r>
          </a:p>
          <a:p>
            <a:pPr marL="914400" lvl="1" indent="-381000">
              <a:spcBef>
                <a:spcPts val="600"/>
              </a:spcBef>
              <a:buClr>
                <a:srgbClr val="000000"/>
              </a:buClr>
              <a:buSzPts val="2400"/>
              <a:buFont typeface="Arial" panose="020B0604020202020204" pitchFamily="34" charset="0"/>
              <a:buChar char="○"/>
            </a:pPr>
            <a:r>
              <a:rPr lang="en-CA" altLang="en-US" dirty="0">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public class </a:t>
            </a:r>
            <a:r>
              <a:rPr lang="en-CA" altLang="en-US" dirty="0" err="1">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SimpleFragment</a:t>
            </a:r>
            <a:r>
              <a:rPr lang="en-CA" altLang="en-US" dirty="0">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extends Fragment</a:t>
            </a:r>
            <a:endParaRPr lang="en-CA" altLang="en-US" dirty="0">
              <a:solidFill>
                <a:schemeClr val="tx1"/>
              </a:solidFill>
            </a:endParaRPr>
          </a:p>
          <a:p>
            <a:pPr marL="457200" indent="-381000">
              <a:buClr>
                <a:srgbClr val="000000"/>
              </a:buClr>
              <a:buSzPts val="2400"/>
              <a:buFont typeface="Arial" panose="020B0604020202020204" pitchFamily="34" charset="0"/>
              <a:buChar char="●"/>
            </a:pPr>
            <a:r>
              <a:rPr lang="en-CA" altLang="en-US" dirty="0">
                <a:solidFill>
                  <a:schemeClr val="tx1"/>
                </a:solidFill>
              </a:rPr>
              <a:t>Extend specific </a:t>
            </a:r>
            <a:r>
              <a:rPr lang="en-CA" altLang="en-US" dirty="0">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Fragment</a:t>
            </a:r>
            <a:r>
              <a:rPr lang="en-CA" altLang="en-US" dirty="0">
                <a:solidFill>
                  <a:schemeClr val="tx1"/>
                </a:solidFill>
              </a:rPr>
              <a:t> subclass:</a:t>
            </a:r>
          </a:p>
          <a:p>
            <a:pPr marL="914400" lvl="1" indent="-381000">
              <a:lnSpc>
                <a:spcPct val="105000"/>
              </a:lnSpc>
              <a:spcBef>
                <a:spcPct val="0"/>
              </a:spcBef>
              <a:buClr>
                <a:srgbClr val="000000"/>
              </a:buClr>
              <a:buSzPts val="2000"/>
              <a:buFont typeface="Roboto" panose="02000000000000000000" pitchFamily="2" charset="0"/>
              <a:buChar char="○"/>
            </a:pPr>
            <a:r>
              <a:rPr lang="en-CA" altLang="en-US" dirty="0" err="1">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DialogFragment</a:t>
            </a:r>
            <a:r>
              <a:rPr lang="en-CA" altLang="en-US" dirty="0">
                <a:solidFill>
                  <a:schemeClr val="tx1"/>
                </a:solidFill>
              </a:rPr>
              <a:t>: Floating dialog (examples: date and time pickers).  It displays a dialog but inside a Fragment.</a:t>
            </a:r>
          </a:p>
          <a:p>
            <a:pPr marL="914400" lvl="1" indent="-381000">
              <a:lnSpc>
                <a:spcPct val="105000"/>
              </a:lnSpc>
              <a:spcBef>
                <a:spcPct val="0"/>
              </a:spcBef>
              <a:buClr>
                <a:srgbClr val="000000"/>
              </a:buClr>
              <a:buSzPts val="2000"/>
              <a:buFont typeface="Roboto" panose="02000000000000000000" pitchFamily="2" charset="0"/>
              <a:buChar char="○"/>
            </a:pPr>
            <a:r>
              <a:rPr lang="en-CA" altLang="en-US" dirty="0" err="1">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ListFragment</a:t>
            </a:r>
            <a:r>
              <a:rPr lang="en-CA" altLang="en-US" dirty="0">
                <a:solidFill>
                  <a:schemeClr val="tx1"/>
                </a:solidFill>
              </a:rPr>
              <a:t>: List of items managed by adapter </a:t>
            </a:r>
          </a:p>
          <a:p>
            <a:pPr marL="914400" lvl="1" indent="-381000">
              <a:lnSpc>
                <a:spcPct val="105000"/>
              </a:lnSpc>
              <a:spcBef>
                <a:spcPct val="0"/>
              </a:spcBef>
              <a:buClr>
                <a:srgbClr val="000000"/>
              </a:buClr>
              <a:buSzPts val="2000"/>
              <a:buFont typeface="Roboto" panose="02000000000000000000" pitchFamily="2" charset="0"/>
              <a:buChar char="○"/>
            </a:pPr>
            <a:r>
              <a:rPr lang="en-CA" altLang="en-US" dirty="0" err="1">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PreferenceFragment</a:t>
            </a:r>
            <a:r>
              <a:rPr lang="en-CA" altLang="en-US" dirty="0">
                <a:solidFill>
                  <a:schemeClr val="tx1"/>
                </a:solidFill>
              </a:rPr>
              <a:t>: Hierarchy of </a:t>
            </a:r>
            <a:r>
              <a:rPr lang="en-CA" altLang="en-US" dirty="0">
                <a:solidFill>
                  <a:schemeClr val="tx1"/>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Preference</a:t>
            </a:r>
            <a:r>
              <a:rPr lang="en-CA" altLang="en-US" dirty="0">
                <a:solidFill>
                  <a:schemeClr val="tx1"/>
                </a:solidFill>
              </a:rPr>
              <a:t> objects (useful for Settings)</a:t>
            </a:r>
            <a:endParaRPr lang="en-CA" altLang="en-US" sz="2000" dirty="0">
              <a:solidFill>
                <a:schemeClr val="tx1"/>
              </a:solidFill>
              <a:latin typeface="Arial" panose="020B0604020202020204" pitchFamily="34" charset="0"/>
              <a:cs typeface="Arial" panose="020B0604020202020204" pitchFamily="34" charset="0"/>
              <a:sym typeface="Arial" panose="020B0604020202020204" pitchFamily="34" charset="0"/>
            </a:endParaRPr>
          </a:p>
          <a:p>
            <a:pPr marL="457200" indent="-381000"/>
            <a:endParaRPr lang="en-CA" altLang="en-US" dirty="0"/>
          </a:p>
        </p:txBody>
      </p:sp>
      <p:sp>
        <p:nvSpPr>
          <p:cNvPr id="2" name="Footer Placeholder 1">
            <a:extLst>
              <a:ext uri="{FF2B5EF4-FFF2-40B4-BE49-F238E27FC236}">
                <a16:creationId xmlns:a16="http://schemas.microsoft.com/office/drawing/2014/main" id="{9C8CAA15-CB55-4AD2-FC34-64CC30FD9C69}"/>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C4F15492-F9A9-7C53-F8FE-6909B3403317}"/>
              </a:ext>
            </a:extLst>
          </p:cNvPr>
          <p:cNvSpPr>
            <a:spLocks noGrp="1"/>
          </p:cNvSpPr>
          <p:nvPr>
            <p:ph type="title"/>
          </p:nvPr>
        </p:nvSpPr>
        <p:spPr/>
        <p:txBody>
          <a:bodyPr/>
          <a:lstStyle/>
          <a:p>
            <a:r>
              <a:rPr lang="en-CA" altLang="en-US"/>
              <a:t>Subclasses of Fragment</a:t>
            </a:r>
          </a:p>
        </p:txBody>
      </p:sp>
      <p:sp>
        <p:nvSpPr>
          <p:cNvPr id="11267" name="Content Placeholder 2">
            <a:extLst>
              <a:ext uri="{FF2B5EF4-FFF2-40B4-BE49-F238E27FC236}">
                <a16:creationId xmlns:a16="http://schemas.microsoft.com/office/drawing/2014/main" id="{8AC5AAD9-7B51-EAA0-D121-35853D623E8E}"/>
              </a:ext>
            </a:extLst>
          </p:cNvPr>
          <p:cNvSpPr>
            <a:spLocks noGrp="1"/>
          </p:cNvSpPr>
          <p:nvPr>
            <p:ph idx="1"/>
          </p:nvPr>
        </p:nvSpPr>
        <p:spPr/>
        <p:txBody>
          <a:bodyPr/>
          <a:lstStyle/>
          <a:p>
            <a:r>
              <a:rPr lang="en-CA" altLang="en-US" u="sng"/>
              <a:t>DialogFrament</a:t>
            </a:r>
            <a:r>
              <a:rPr lang="en-CA" altLang="en-US"/>
              <a:t>: displays a floating dialog.  A good alternative to using the dialog helper methods in the Activity class.</a:t>
            </a:r>
          </a:p>
          <a:p>
            <a:r>
              <a:rPr lang="en-CA" altLang="en-US" u="sng"/>
              <a:t>ListFragment</a:t>
            </a:r>
            <a:r>
              <a:rPr lang="en-CA" altLang="en-US"/>
              <a:t>: displays a list of items that are managed by an adapter, similar to ListActivity.</a:t>
            </a:r>
          </a:p>
          <a:p>
            <a:r>
              <a:rPr lang="en-CA" altLang="en-US" u="sng"/>
              <a:t>PreferenceFragmentCompat</a:t>
            </a:r>
            <a:r>
              <a:rPr lang="en-CA" altLang="en-US"/>
              <a:t>: displays a hierarchy of Preference objects as a list.  This is used to create a settings screen for the application.</a:t>
            </a:r>
          </a:p>
        </p:txBody>
      </p:sp>
      <p:sp>
        <p:nvSpPr>
          <p:cNvPr id="2" name="Footer Placeholder 1">
            <a:extLst>
              <a:ext uri="{FF2B5EF4-FFF2-40B4-BE49-F238E27FC236}">
                <a16:creationId xmlns:a16="http://schemas.microsoft.com/office/drawing/2014/main" id="{42A15B8A-5D4F-7A85-7BC8-D04D717EDDA4}"/>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F35D190-4468-1061-0DC9-0EC87FC1B108}"/>
              </a:ext>
            </a:extLst>
          </p:cNvPr>
          <p:cNvSpPr>
            <a:spLocks noGrp="1"/>
          </p:cNvSpPr>
          <p:nvPr>
            <p:ph type="title"/>
          </p:nvPr>
        </p:nvSpPr>
        <p:spPr/>
        <p:txBody>
          <a:bodyPr/>
          <a:lstStyle/>
          <a:p>
            <a:r>
              <a:rPr lang="en-CA" altLang="en-US"/>
              <a:t>DialogFragment</a:t>
            </a:r>
          </a:p>
        </p:txBody>
      </p:sp>
      <p:sp>
        <p:nvSpPr>
          <p:cNvPr id="3" name="Content Placeholder 2">
            <a:extLst>
              <a:ext uri="{FF2B5EF4-FFF2-40B4-BE49-F238E27FC236}">
                <a16:creationId xmlns:a16="http://schemas.microsoft.com/office/drawing/2014/main" id="{ADA01369-503B-FCCC-F7E6-959EF6A79B34}"/>
              </a:ext>
            </a:extLst>
          </p:cNvPr>
          <p:cNvSpPr>
            <a:spLocks noGrp="1"/>
          </p:cNvSpPr>
          <p:nvPr>
            <p:ph idx="1"/>
          </p:nvPr>
        </p:nvSpPr>
        <p:spPr/>
        <p:txBody>
          <a:bodyPr>
            <a:normAutofit fontScale="62500" lnSpcReduction="20000"/>
          </a:bodyPr>
          <a:lstStyle/>
          <a:p>
            <a:pPr>
              <a:defRPr/>
            </a:pPr>
            <a:r>
              <a:rPr lang="en-CA" dirty="0" err="1"/>
              <a:t>DialogFragment</a:t>
            </a:r>
            <a:r>
              <a:rPr lang="en-CA" dirty="0"/>
              <a:t> is a specialized Fragment used when you want to display an overlay modal window within an activity that floats on top of the rest of the content.</a:t>
            </a:r>
          </a:p>
          <a:p>
            <a:pPr>
              <a:defRPr/>
            </a:pPr>
            <a:r>
              <a:rPr lang="en-CA" dirty="0"/>
              <a:t>This is typically used for displaying an alert dialog, a confirm dialog, or prompting the user for information within an overlay without having to switch to another Activity.</a:t>
            </a:r>
          </a:p>
          <a:p>
            <a:pPr>
              <a:defRPr/>
            </a:pPr>
            <a:r>
              <a:rPr lang="en-CA" dirty="0"/>
              <a:t>A </a:t>
            </a:r>
            <a:r>
              <a:rPr lang="en-CA" dirty="0" err="1"/>
              <a:t>DialogFragment</a:t>
            </a:r>
            <a:r>
              <a:rPr lang="en-CA" dirty="0"/>
              <a:t> is pretty similar to a Dialog, it is just wrapped inside a fragment.</a:t>
            </a:r>
          </a:p>
          <a:p>
            <a:pPr>
              <a:defRPr/>
            </a:pPr>
            <a:r>
              <a:rPr lang="en-CA" dirty="0"/>
              <a:t>A </a:t>
            </a:r>
            <a:r>
              <a:rPr lang="en-CA" dirty="0" err="1"/>
              <a:t>DialogFragment</a:t>
            </a:r>
            <a:r>
              <a:rPr lang="en-CA" dirty="0"/>
              <a:t> is a fragment that displays a dialog window, floating on top of its activity's window. This fragment contains a Dialog object, which it displays as appropriate based on the fragment's state. Control of the dialog (deciding when to show, hide, dismiss it) should be done through the API here, not with direct calls on the dialog.</a:t>
            </a:r>
          </a:p>
          <a:p>
            <a:pPr>
              <a:defRPr/>
            </a:pPr>
            <a:r>
              <a:rPr lang="en-CA" dirty="0" err="1"/>
              <a:t>DialogFragment</a:t>
            </a:r>
            <a:r>
              <a:rPr lang="en-CA" dirty="0"/>
              <a:t> is a fragment. So what can a fragment provide you while other objects can't?</a:t>
            </a:r>
          </a:p>
          <a:p>
            <a:pPr marL="0" indent="0">
              <a:buNone/>
              <a:defRPr/>
            </a:pPr>
            <a:r>
              <a:rPr lang="en-CA" dirty="0"/>
              <a:t>It's the lifecycle </a:t>
            </a:r>
            <a:r>
              <a:rPr lang="en-CA" dirty="0" err="1"/>
              <a:t>callbacks</a:t>
            </a:r>
            <a:r>
              <a:rPr lang="en-CA" dirty="0"/>
              <a:t>.</a:t>
            </a:r>
          </a:p>
          <a:p>
            <a:pPr>
              <a:defRPr/>
            </a:pPr>
            <a:r>
              <a:rPr lang="en-CA" dirty="0"/>
              <a:t>Several built-in </a:t>
            </a:r>
            <a:r>
              <a:rPr lang="en-CA" dirty="0" err="1"/>
              <a:t>Diaglog</a:t>
            </a:r>
            <a:r>
              <a:rPr lang="en-CA" dirty="0"/>
              <a:t> types</a:t>
            </a:r>
          </a:p>
          <a:p>
            <a:pPr lvl="1">
              <a:defRPr/>
            </a:pPr>
            <a:r>
              <a:rPr lang="en-CA" dirty="0" err="1"/>
              <a:t>AlertDialog</a:t>
            </a:r>
            <a:endParaRPr lang="en-CA" dirty="0"/>
          </a:p>
          <a:p>
            <a:pPr lvl="1">
              <a:defRPr/>
            </a:pPr>
            <a:r>
              <a:rPr lang="en-CA" dirty="0" err="1"/>
              <a:t>ProgressDialog</a:t>
            </a:r>
            <a:endParaRPr lang="en-CA" dirty="0"/>
          </a:p>
          <a:p>
            <a:pPr lvl="1">
              <a:defRPr/>
            </a:pPr>
            <a:r>
              <a:rPr lang="en-CA" dirty="0" err="1"/>
              <a:t>TimePickerDialog</a:t>
            </a:r>
            <a:r>
              <a:rPr lang="en-CA" dirty="0"/>
              <a:t> – allows a user to select a time</a:t>
            </a:r>
          </a:p>
          <a:p>
            <a:pPr lvl="1">
              <a:defRPr/>
            </a:pPr>
            <a:r>
              <a:rPr lang="en-CA" dirty="0" err="1"/>
              <a:t>DatePickerDialog</a:t>
            </a:r>
            <a:endParaRPr lang="en-CA" dirty="0"/>
          </a:p>
          <a:p>
            <a:pPr marL="457200" lvl="1" indent="0">
              <a:buNone/>
              <a:defRPr/>
            </a:pPr>
            <a:r>
              <a:rPr lang="en-CA" dirty="0">
                <a:hlinkClick r:id="rId2"/>
              </a:rPr>
              <a:t>https://guides.codepath.com/android/using-dialogfragment</a:t>
            </a:r>
            <a:r>
              <a:rPr lang="en-CA" dirty="0"/>
              <a:t> </a:t>
            </a:r>
          </a:p>
        </p:txBody>
      </p:sp>
      <p:sp>
        <p:nvSpPr>
          <p:cNvPr id="2" name="Footer Placeholder 1">
            <a:extLst>
              <a:ext uri="{FF2B5EF4-FFF2-40B4-BE49-F238E27FC236}">
                <a16:creationId xmlns:a16="http://schemas.microsoft.com/office/drawing/2014/main" id="{C36C6C8D-5DD2-D726-EBA9-870F16552FA4}"/>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B50BC26C-9EA6-DDC7-6FCF-115505BEB767}"/>
              </a:ext>
            </a:extLst>
          </p:cNvPr>
          <p:cNvSpPr>
            <a:spLocks noGrp="1"/>
          </p:cNvSpPr>
          <p:nvPr>
            <p:ph type="title"/>
          </p:nvPr>
        </p:nvSpPr>
        <p:spPr/>
        <p:txBody>
          <a:bodyPr/>
          <a:lstStyle/>
          <a:p>
            <a:r>
              <a:rPr lang="en-CA" altLang="en-US"/>
              <a:t>DialogFrament </a:t>
            </a:r>
          </a:p>
        </p:txBody>
      </p:sp>
      <p:sp>
        <p:nvSpPr>
          <p:cNvPr id="13315" name="Content Placeholder 4">
            <a:extLst>
              <a:ext uri="{FF2B5EF4-FFF2-40B4-BE49-F238E27FC236}">
                <a16:creationId xmlns:a16="http://schemas.microsoft.com/office/drawing/2014/main" id="{0897C580-8E9F-C6A7-5878-B81447C9FB81}"/>
              </a:ext>
            </a:extLst>
          </p:cNvPr>
          <p:cNvSpPr>
            <a:spLocks noGrp="1"/>
          </p:cNvSpPr>
          <p:nvPr>
            <p:ph idx="1"/>
          </p:nvPr>
        </p:nvSpPr>
        <p:spPr/>
        <p:txBody>
          <a:bodyPr/>
          <a:lstStyle/>
          <a:p>
            <a:endParaRPr lang="en-CA" altLang="en-US"/>
          </a:p>
        </p:txBody>
      </p:sp>
      <p:pic>
        <p:nvPicPr>
          <p:cNvPr id="13316" name="Picture 4" descr="Material Dialog">
            <a:extLst>
              <a:ext uri="{FF2B5EF4-FFF2-40B4-BE49-F238E27FC236}">
                <a16:creationId xmlns:a16="http://schemas.microsoft.com/office/drawing/2014/main" id="{9ACE5F8E-9D2E-9874-2130-B842415643C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7175" y="1522414"/>
            <a:ext cx="9144000" cy="468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a:extLst>
              <a:ext uri="{FF2B5EF4-FFF2-40B4-BE49-F238E27FC236}">
                <a16:creationId xmlns:a16="http://schemas.microsoft.com/office/drawing/2014/main" id="{849B7C0A-5016-7728-7C08-2E3ADEE524D1}"/>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A79829D-9870-6C0B-8637-D8CFF9E874A5}"/>
              </a:ext>
            </a:extLst>
          </p:cNvPr>
          <p:cNvSpPr>
            <a:spLocks noGrp="1"/>
          </p:cNvSpPr>
          <p:nvPr>
            <p:ph type="title"/>
          </p:nvPr>
        </p:nvSpPr>
        <p:spPr/>
        <p:txBody>
          <a:bodyPr/>
          <a:lstStyle/>
          <a:p>
            <a:r>
              <a:rPr lang="en-CA" altLang="en-US"/>
              <a:t>Usage of DialogFragment</a:t>
            </a:r>
          </a:p>
        </p:txBody>
      </p:sp>
      <p:sp>
        <p:nvSpPr>
          <p:cNvPr id="14339" name="Content Placeholder 2">
            <a:extLst>
              <a:ext uri="{FF2B5EF4-FFF2-40B4-BE49-F238E27FC236}">
                <a16:creationId xmlns:a16="http://schemas.microsoft.com/office/drawing/2014/main" id="{E46CE52A-E35D-F863-91EC-61F99112DD4F}"/>
              </a:ext>
            </a:extLst>
          </p:cNvPr>
          <p:cNvSpPr>
            <a:spLocks noGrp="1"/>
          </p:cNvSpPr>
          <p:nvPr>
            <p:ph idx="1"/>
          </p:nvPr>
        </p:nvSpPr>
        <p:spPr/>
        <p:txBody>
          <a:bodyPr/>
          <a:lstStyle/>
          <a:p>
            <a:r>
              <a:rPr lang="en-CA" altLang="en-US"/>
              <a:t>Two way to implement DialogFragment:</a:t>
            </a:r>
          </a:p>
          <a:p>
            <a:pPr lvl="1"/>
            <a:r>
              <a:rPr lang="en-CA" altLang="en-US"/>
              <a:t>The onCreateView method: when the entire view of the dialog is going to be defined via custom xml </a:t>
            </a:r>
          </a:p>
          <a:p>
            <a:pPr lvl="1"/>
            <a:r>
              <a:rPr lang="en-CA" altLang="en-US"/>
              <a:t>The onCreateDialog method: when you just need to construct and configure a standard Dialog class (such as AlertDialog) to display.</a:t>
            </a:r>
          </a:p>
          <a:p>
            <a:r>
              <a:rPr lang="en-CA" altLang="en-US"/>
              <a:t>Import android.fragment.app, not android.app</a:t>
            </a:r>
          </a:p>
        </p:txBody>
      </p:sp>
      <p:sp>
        <p:nvSpPr>
          <p:cNvPr id="2" name="Footer Placeholder 1">
            <a:extLst>
              <a:ext uri="{FF2B5EF4-FFF2-40B4-BE49-F238E27FC236}">
                <a16:creationId xmlns:a16="http://schemas.microsoft.com/office/drawing/2014/main" id="{EBEFD134-BBD8-2939-3D62-0BAE128E508A}"/>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C4C49B3-2022-D735-4804-D83085D7DB8F}"/>
              </a:ext>
            </a:extLst>
          </p:cNvPr>
          <p:cNvSpPr>
            <a:spLocks noGrp="1"/>
          </p:cNvSpPr>
          <p:nvPr>
            <p:ph type="title"/>
          </p:nvPr>
        </p:nvSpPr>
        <p:spPr/>
        <p:txBody>
          <a:bodyPr/>
          <a:lstStyle/>
          <a:p>
            <a:r>
              <a:rPr lang="en-CA" altLang="en-US"/>
              <a:t>DialogFragment (continued)</a:t>
            </a:r>
          </a:p>
        </p:txBody>
      </p:sp>
      <p:pic>
        <p:nvPicPr>
          <p:cNvPr id="15363" name="Picture 2" descr="Dialog Fragment Calendar">
            <a:extLst>
              <a:ext uri="{FF2B5EF4-FFF2-40B4-BE49-F238E27FC236}">
                <a16:creationId xmlns:a16="http://schemas.microsoft.com/office/drawing/2014/main" id="{C1553CA7-21C0-91E2-B819-3411F61DDA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1" y="1524000"/>
            <a:ext cx="2233613"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4" descr="Another dialog fragment example">
            <a:extLst>
              <a:ext uri="{FF2B5EF4-FFF2-40B4-BE49-F238E27FC236}">
                <a16:creationId xmlns:a16="http://schemas.microsoft.com/office/drawing/2014/main" id="{0E5CA6A9-22C8-458F-2DF9-49E3FB6F12E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943600" y="1584325"/>
            <a:ext cx="2362200" cy="4203700"/>
          </a:xfrm>
          <a:noFill/>
        </p:spPr>
      </p:pic>
      <p:sp>
        <p:nvSpPr>
          <p:cNvPr id="2" name="Footer Placeholder 1">
            <a:extLst>
              <a:ext uri="{FF2B5EF4-FFF2-40B4-BE49-F238E27FC236}">
                <a16:creationId xmlns:a16="http://schemas.microsoft.com/office/drawing/2014/main" id="{9E6AC142-102D-54C8-6EAB-813AE95AD9BF}"/>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3E745C8A-7E93-BF5F-7B03-30FBA1C23603}"/>
              </a:ext>
            </a:extLst>
          </p:cNvPr>
          <p:cNvSpPr>
            <a:spLocks noGrp="1"/>
          </p:cNvSpPr>
          <p:nvPr>
            <p:ph type="title"/>
          </p:nvPr>
        </p:nvSpPr>
        <p:spPr/>
        <p:txBody>
          <a:bodyPr/>
          <a:lstStyle/>
          <a:p>
            <a:r>
              <a:rPr lang="en-CA" altLang="en-US"/>
              <a:t>ListFragment</a:t>
            </a:r>
          </a:p>
        </p:txBody>
      </p:sp>
      <p:sp>
        <p:nvSpPr>
          <p:cNvPr id="3" name="Content Placeholder 2">
            <a:extLst>
              <a:ext uri="{FF2B5EF4-FFF2-40B4-BE49-F238E27FC236}">
                <a16:creationId xmlns:a16="http://schemas.microsoft.com/office/drawing/2014/main" id="{9E41C6F1-5B81-F945-C32E-A5D3E66C4583}"/>
              </a:ext>
            </a:extLst>
          </p:cNvPr>
          <p:cNvSpPr>
            <a:spLocks noGrp="1"/>
          </p:cNvSpPr>
          <p:nvPr>
            <p:ph idx="1"/>
          </p:nvPr>
        </p:nvSpPr>
        <p:spPr/>
        <p:txBody>
          <a:bodyPr>
            <a:normAutofit/>
          </a:bodyPr>
          <a:lstStyle/>
          <a:p>
            <a:pPr>
              <a:defRPr/>
            </a:pPr>
            <a:r>
              <a:rPr lang="en-CA" dirty="0"/>
              <a:t>A fragment that displays a list of items by binding to a data source such as an array or Cursor, and exposes event handlers when the user selects an item.</a:t>
            </a:r>
          </a:p>
          <a:p>
            <a:pPr>
              <a:defRPr/>
            </a:pPr>
            <a:endParaRPr lang="en-CA" dirty="0"/>
          </a:p>
          <a:p>
            <a:pPr>
              <a:defRPr/>
            </a:pPr>
            <a:r>
              <a:rPr lang="en-CA" dirty="0" err="1"/>
              <a:t>ListFragment</a:t>
            </a:r>
            <a:r>
              <a:rPr lang="en-CA" dirty="0"/>
              <a:t> hosts a </a:t>
            </a:r>
            <a:r>
              <a:rPr lang="en-CA" dirty="0" err="1"/>
              <a:t>ListView</a:t>
            </a:r>
            <a:r>
              <a:rPr lang="en-CA" dirty="0"/>
              <a:t> object that can be bound to different data sources, typically either an array or a Cursor holding query results. Binding, screen layout, and row layout are discussed in the following sections.</a:t>
            </a:r>
          </a:p>
        </p:txBody>
      </p:sp>
      <p:sp>
        <p:nvSpPr>
          <p:cNvPr id="2" name="Footer Placeholder 1">
            <a:extLst>
              <a:ext uri="{FF2B5EF4-FFF2-40B4-BE49-F238E27FC236}">
                <a16:creationId xmlns:a16="http://schemas.microsoft.com/office/drawing/2014/main" id="{C9A7491E-5841-0BC3-F922-EDCBDAB3051E}"/>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F7F68C34-44AC-F897-0948-8DB1B9032ECE}"/>
              </a:ext>
            </a:extLst>
          </p:cNvPr>
          <p:cNvSpPr>
            <a:spLocks noGrp="1"/>
          </p:cNvSpPr>
          <p:nvPr>
            <p:ph type="title"/>
          </p:nvPr>
        </p:nvSpPr>
        <p:spPr/>
        <p:txBody>
          <a:bodyPr/>
          <a:lstStyle/>
          <a:p>
            <a:r>
              <a:rPr lang="en-CA" altLang="en-US" dirty="0" err="1"/>
              <a:t>ListFragment</a:t>
            </a:r>
            <a:r>
              <a:rPr lang="en-CA" altLang="en-US" dirty="0"/>
              <a:t> Image</a:t>
            </a:r>
          </a:p>
        </p:txBody>
      </p:sp>
      <p:pic>
        <p:nvPicPr>
          <p:cNvPr id="17411" name="Picture 4" descr="List Fragment Image">
            <a:extLst>
              <a:ext uri="{FF2B5EF4-FFF2-40B4-BE49-F238E27FC236}">
                <a16:creationId xmlns:a16="http://schemas.microsoft.com/office/drawing/2014/main" id="{BAE0C608-23A9-B420-3D85-83EA1C642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600200"/>
            <a:ext cx="38100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a:extLst>
              <a:ext uri="{FF2B5EF4-FFF2-40B4-BE49-F238E27FC236}">
                <a16:creationId xmlns:a16="http://schemas.microsoft.com/office/drawing/2014/main" id="{9D93F404-71AC-7031-3AEF-7ED55254EFAE}"/>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A3BFE5E1-BFC7-1204-FC18-A175653746E9}"/>
              </a:ext>
            </a:extLst>
          </p:cNvPr>
          <p:cNvSpPr>
            <a:spLocks noGrp="1"/>
          </p:cNvSpPr>
          <p:nvPr>
            <p:ph type="title"/>
          </p:nvPr>
        </p:nvSpPr>
        <p:spPr/>
        <p:txBody>
          <a:bodyPr/>
          <a:lstStyle/>
          <a:p>
            <a:r>
              <a:rPr lang="en-CA" altLang="en-US"/>
              <a:t>PreferenceFragmentCompat</a:t>
            </a:r>
          </a:p>
        </p:txBody>
      </p:sp>
      <p:sp>
        <p:nvSpPr>
          <p:cNvPr id="3" name="Content Placeholder 2">
            <a:extLst>
              <a:ext uri="{FF2B5EF4-FFF2-40B4-BE49-F238E27FC236}">
                <a16:creationId xmlns:a16="http://schemas.microsoft.com/office/drawing/2014/main" id="{62ECB0A7-A9AF-51F3-51FD-C034F3F742A5}"/>
              </a:ext>
            </a:extLst>
          </p:cNvPr>
          <p:cNvSpPr>
            <a:spLocks noGrp="1"/>
          </p:cNvSpPr>
          <p:nvPr>
            <p:ph idx="1"/>
          </p:nvPr>
        </p:nvSpPr>
        <p:spPr/>
        <p:txBody>
          <a:bodyPr>
            <a:normAutofit fontScale="70000" lnSpcReduction="20000"/>
          </a:bodyPr>
          <a:lstStyle/>
          <a:p>
            <a:pPr>
              <a:defRPr/>
            </a:pPr>
            <a:r>
              <a:rPr lang="en-CA"/>
              <a:t>In </a:t>
            </a:r>
            <a:r>
              <a:rPr lang="en-CA" dirty="0"/>
              <a:t>Android apps, there are often settings pages that contain different options the user can tweak. The </a:t>
            </a:r>
            <a:r>
              <a:rPr lang="en-CA" dirty="0" err="1"/>
              <a:t>PreferenceFragment</a:t>
            </a:r>
            <a:r>
              <a:rPr lang="en-CA" dirty="0"/>
              <a:t> and </a:t>
            </a:r>
            <a:r>
              <a:rPr lang="en-CA" dirty="0" err="1"/>
              <a:t>PreferenceFragmentCompat</a:t>
            </a:r>
            <a:r>
              <a:rPr lang="en-CA" dirty="0"/>
              <a:t> contains a hierarchy of preference objects displayed on screen in a list. These preferences will automatically save to </a:t>
            </a:r>
            <a:r>
              <a:rPr lang="en-CA" dirty="0" err="1"/>
              <a:t>SharedPreferences</a:t>
            </a:r>
            <a:r>
              <a:rPr lang="en-CA" dirty="0"/>
              <a:t> as the user interacts with them.</a:t>
            </a:r>
          </a:p>
          <a:p>
            <a:pPr>
              <a:defRPr/>
            </a:pPr>
            <a:r>
              <a:rPr lang="en-CA" dirty="0"/>
              <a:t>A </a:t>
            </a:r>
            <a:r>
              <a:rPr lang="en-CA" dirty="0" err="1"/>
              <a:t>PreferenceFragmentCompat</a:t>
            </a:r>
            <a:r>
              <a:rPr lang="en-CA" dirty="0"/>
              <a:t> is the entry point to using the Preference library. This Fragment displays a hierarchy of Preference objects to the user. It also handles persisting values to the device. To retrieve an instance of </a:t>
            </a:r>
            <a:r>
              <a:rPr lang="en-CA" dirty="0" err="1"/>
              <a:t>SharedPreferences</a:t>
            </a:r>
            <a:r>
              <a:rPr lang="en-CA" dirty="0"/>
              <a:t> that the preference hierarchy in this fragment will use by default, call </a:t>
            </a:r>
            <a:r>
              <a:rPr lang="en-CA" dirty="0" err="1"/>
              <a:t>PreferenceManager.getDefaultSharedPreferences</a:t>
            </a:r>
            <a:r>
              <a:rPr lang="en-CA" dirty="0"/>
              <a:t>(</a:t>
            </a:r>
            <a:r>
              <a:rPr lang="en-CA" dirty="0" err="1"/>
              <a:t>android.content.Context</a:t>
            </a:r>
            <a:r>
              <a:rPr lang="en-CA" dirty="0"/>
              <a:t>) with a context in the same package as this fragment.</a:t>
            </a:r>
          </a:p>
          <a:p>
            <a:pPr>
              <a:defRPr/>
            </a:pPr>
            <a:r>
              <a:rPr lang="en-CA" dirty="0"/>
              <a:t>Main preference types:</a:t>
            </a:r>
          </a:p>
          <a:p>
            <a:pPr lvl="1">
              <a:defRPr/>
            </a:pPr>
            <a:r>
              <a:rPr lang="en-CA" dirty="0" err="1"/>
              <a:t>ListPreference</a:t>
            </a:r>
            <a:r>
              <a:rPr lang="en-CA" dirty="0"/>
              <a:t>: opens dialog with a list of options (see below for defining options); persists a string</a:t>
            </a:r>
          </a:p>
          <a:p>
            <a:pPr lvl="1">
              <a:defRPr/>
            </a:pPr>
            <a:r>
              <a:rPr lang="en-CA" dirty="0" err="1"/>
              <a:t>EditTextPreference</a:t>
            </a:r>
            <a:r>
              <a:rPr lang="en-CA" dirty="0"/>
              <a:t>: opens a dialog with an </a:t>
            </a:r>
            <a:r>
              <a:rPr lang="en-CA" dirty="0" err="1"/>
              <a:t>EditText</a:t>
            </a:r>
            <a:r>
              <a:rPr lang="en-CA" dirty="0"/>
              <a:t> view for typed input; persists a string</a:t>
            </a:r>
          </a:p>
          <a:p>
            <a:pPr lvl="1">
              <a:defRPr/>
            </a:pPr>
            <a:r>
              <a:rPr lang="en-CA" dirty="0" err="1"/>
              <a:t>CheckBoxPreference</a:t>
            </a:r>
            <a:r>
              <a:rPr lang="en-CA" dirty="0"/>
              <a:t>: uses a checkbox to persist a </a:t>
            </a:r>
            <a:r>
              <a:rPr lang="en-CA" dirty="0" err="1"/>
              <a:t>boolean</a:t>
            </a:r>
            <a:r>
              <a:rPr lang="en-CA" dirty="0"/>
              <a:t> (true when checked, false when unchecked)</a:t>
            </a:r>
          </a:p>
          <a:p>
            <a:pPr lvl="1">
              <a:defRPr/>
            </a:pPr>
            <a:r>
              <a:rPr lang="en-CA" dirty="0" err="1"/>
              <a:t>SwitchPreference</a:t>
            </a:r>
            <a:r>
              <a:rPr lang="en-CA" dirty="0"/>
              <a:t>: uses a switch to persist a </a:t>
            </a:r>
            <a:r>
              <a:rPr lang="en-CA" dirty="0" err="1"/>
              <a:t>boolean</a:t>
            </a:r>
            <a:r>
              <a:rPr lang="en-CA" dirty="0"/>
              <a:t> (true when on, false when off)</a:t>
            </a:r>
          </a:p>
        </p:txBody>
      </p:sp>
      <p:sp>
        <p:nvSpPr>
          <p:cNvPr id="2" name="Footer Placeholder 1">
            <a:extLst>
              <a:ext uri="{FF2B5EF4-FFF2-40B4-BE49-F238E27FC236}">
                <a16:creationId xmlns:a16="http://schemas.microsoft.com/office/drawing/2014/main" id="{B145C340-C07C-DE24-FA19-A53BCDC52ED2}"/>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91CB6EB-C404-9F67-ED85-C681A8F9B36E}"/>
              </a:ext>
            </a:extLst>
          </p:cNvPr>
          <p:cNvSpPr>
            <a:spLocks noGrp="1"/>
          </p:cNvSpPr>
          <p:nvPr>
            <p:ph type="title"/>
          </p:nvPr>
        </p:nvSpPr>
        <p:spPr/>
        <p:txBody>
          <a:bodyPr/>
          <a:lstStyle/>
          <a:p>
            <a:r>
              <a:rPr lang="en-CA" altLang="en-US" dirty="0" err="1"/>
              <a:t>PreferenceFragmentCompat</a:t>
            </a:r>
            <a:r>
              <a:rPr lang="en-CA" altLang="en-US" dirty="0"/>
              <a:t> Image</a:t>
            </a:r>
          </a:p>
        </p:txBody>
      </p:sp>
      <p:pic>
        <p:nvPicPr>
          <p:cNvPr id="19459" name="Picture 2" descr="Settings Screen">
            <a:extLst>
              <a:ext uri="{FF2B5EF4-FFF2-40B4-BE49-F238E27FC236}">
                <a16:creationId xmlns:a16="http://schemas.microsoft.com/office/drawing/2014/main" id="{D67C5F7A-63C0-D372-8386-9A124E6133C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191001" y="1752601"/>
            <a:ext cx="2746375" cy="4525963"/>
          </a:xfrm>
          <a:noFill/>
        </p:spPr>
      </p:pic>
      <p:sp>
        <p:nvSpPr>
          <p:cNvPr id="2" name="Footer Placeholder 1">
            <a:extLst>
              <a:ext uri="{FF2B5EF4-FFF2-40B4-BE49-F238E27FC236}">
                <a16:creationId xmlns:a16="http://schemas.microsoft.com/office/drawing/2014/main" id="{CE0EE4CB-C786-09BF-4F4F-F8215716DD0F}"/>
              </a:ext>
            </a:extLst>
          </p:cNvPr>
          <p:cNvSpPr>
            <a:spLocks noGrp="1"/>
          </p:cNvSpPr>
          <p:nvPr>
            <p:ph type="ftr" sz="quarter" idx="11"/>
          </p:nvPr>
        </p:nvSpPr>
        <p:spPr/>
        <p:txBody>
          <a:bodyPr/>
          <a:lstStyle/>
          <a:p>
            <a:pPr>
              <a:defRPr/>
            </a:pPr>
            <a:r>
              <a:rPr lang="en-US" altLang="en-US"/>
              <a:t>L Wong                              INFO 5126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9FE7E-8E20-9DEC-5B1D-489C5584888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3718D9-3D74-5A78-0B3C-D024A2EBD6AA}"/>
              </a:ext>
            </a:extLst>
          </p:cNvPr>
          <p:cNvSpPr>
            <a:spLocks noGrp="1"/>
          </p:cNvSpPr>
          <p:nvPr>
            <p:ph type="ctrTitle"/>
          </p:nvPr>
        </p:nvSpPr>
        <p:spPr>
          <a:xfrm>
            <a:off x="821402" y="3657600"/>
            <a:ext cx="9144000" cy="1641490"/>
          </a:xfrm>
        </p:spPr>
        <p:txBody>
          <a:bodyPr>
            <a:normAutofit fontScale="90000"/>
          </a:bodyPr>
          <a:lstStyle/>
          <a:p>
            <a:r>
              <a:rPr lang="en-US" dirty="0"/>
              <a:t>Using Back arrows to </a:t>
            </a:r>
            <a:br>
              <a:rPr lang="en-US" dirty="0"/>
            </a:br>
            <a:r>
              <a:rPr lang="en-US" dirty="0"/>
              <a:t>navigate back to home</a:t>
            </a:r>
            <a:br>
              <a:rPr lang="en-CA" dirty="0"/>
            </a:br>
            <a:endParaRPr lang="en-CA" dirty="0"/>
          </a:p>
        </p:txBody>
      </p:sp>
      <p:sp>
        <p:nvSpPr>
          <p:cNvPr id="6" name="Subtitle 5">
            <a:extLst>
              <a:ext uri="{FF2B5EF4-FFF2-40B4-BE49-F238E27FC236}">
                <a16:creationId xmlns:a16="http://schemas.microsoft.com/office/drawing/2014/main" id="{7AAFFB74-8698-3EEC-C325-FA725B1AD460}"/>
              </a:ext>
            </a:extLst>
          </p:cNvPr>
          <p:cNvSpPr>
            <a:spLocks noGrp="1"/>
          </p:cNvSpPr>
          <p:nvPr>
            <p:ph type="subTitle" idx="1"/>
          </p:nvPr>
        </p:nvSpPr>
        <p:spPr>
          <a:xfrm>
            <a:off x="854532" y="2674975"/>
            <a:ext cx="9144000" cy="754025"/>
          </a:xfrm>
        </p:spPr>
        <p:txBody>
          <a:bodyPr/>
          <a:lstStyle/>
          <a:p>
            <a:r>
              <a:rPr lang="en-US" dirty="0"/>
              <a:t>Fragments</a:t>
            </a:r>
            <a:endParaRPr lang="en-CA" dirty="0"/>
          </a:p>
        </p:txBody>
      </p:sp>
      <p:sp>
        <p:nvSpPr>
          <p:cNvPr id="4" name="Footer Placeholder 3">
            <a:extLst>
              <a:ext uri="{FF2B5EF4-FFF2-40B4-BE49-F238E27FC236}">
                <a16:creationId xmlns:a16="http://schemas.microsoft.com/office/drawing/2014/main" id="{577466EC-A2F3-2D92-390E-A527D6AB8A3E}"/>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a:ln>
                  <a:noFill/>
                </a:ln>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ffectLst/>
                <a:uLnTx/>
                <a:uFillTx/>
                <a:latin typeface="Corbel" panose="020B0503020204020204"/>
                <a:ea typeface="+mn-ea"/>
                <a:cs typeface="+mn-cs"/>
              </a:rPr>
              <a:t>L Wong                              INFO 5126</a:t>
            </a:r>
          </a:p>
        </p:txBody>
      </p:sp>
    </p:spTree>
    <p:extLst>
      <p:ext uri="{BB962C8B-B14F-4D97-AF65-F5344CB8AC3E}">
        <p14:creationId xmlns:p14="http://schemas.microsoft.com/office/powerpoint/2010/main" val="2436632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615BB-6F60-449A-A04B-F94E5B61848C}"/>
              </a:ext>
            </a:extLst>
          </p:cNvPr>
          <p:cNvSpPr>
            <a:spLocks noGrp="1"/>
          </p:cNvSpPr>
          <p:nvPr>
            <p:ph type="title"/>
          </p:nvPr>
        </p:nvSpPr>
        <p:spPr/>
        <p:txBody>
          <a:bodyPr>
            <a:normAutofit fontScale="90000"/>
          </a:bodyPr>
          <a:lstStyle/>
          <a:p>
            <a:r>
              <a:rPr lang="en-CA" dirty="0"/>
              <a:t>Back arrow in an activity: Letting the application know the parent activity</a:t>
            </a:r>
          </a:p>
        </p:txBody>
      </p:sp>
      <p:sp>
        <p:nvSpPr>
          <p:cNvPr id="3" name="Content Placeholder 2">
            <a:extLst>
              <a:ext uri="{FF2B5EF4-FFF2-40B4-BE49-F238E27FC236}">
                <a16:creationId xmlns:a16="http://schemas.microsoft.com/office/drawing/2014/main" id="{402E31FD-F0B6-4A9D-A8BD-C85FA56BB2F9}"/>
              </a:ext>
            </a:extLst>
          </p:cNvPr>
          <p:cNvSpPr>
            <a:spLocks noGrp="1"/>
          </p:cNvSpPr>
          <p:nvPr>
            <p:ph idx="1"/>
          </p:nvPr>
        </p:nvSpPr>
        <p:spPr/>
        <p:txBody>
          <a:bodyPr/>
          <a:lstStyle/>
          <a:p>
            <a:r>
              <a:rPr lang="en-CA" dirty="0"/>
              <a:t>Editing the Android Manifest file, you can specify the parent activity.   This will allow for other activities to use the back arrow to return to the parent activity</a:t>
            </a:r>
          </a:p>
          <a:p>
            <a:pPr marL="0" indent="0">
              <a:buNone/>
            </a:pPr>
            <a:r>
              <a:rPr lang="en-CA" dirty="0" err="1"/>
              <a:t>android:parentActivityName</a:t>
            </a:r>
            <a:r>
              <a:rPr lang="en-CA" dirty="0"/>
              <a:t>=".</a:t>
            </a:r>
            <a:r>
              <a:rPr lang="en-CA" dirty="0" err="1"/>
              <a:t>MainActivity</a:t>
            </a:r>
            <a:r>
              <a:rPr lang="en-CA" dirty="0"/>
              <a:t>"&gt;</a:t>
            </a:r>
          </a:p>
          <a:p>
            <a:pPr marL="0" indent="0">
              <a:buNone/>
            </a:pPr>
            <a:r>
              <a:rPr lang="en-CA" dirty="0"/>
              <a:t>            &lt;meta-data</a:t>
            </a:r>
          </a:p>
          <a:p>
            <a:pPr marL="0" indent="0">
              <a:buNone/>
            </a:pPr>
            <a:r>
              <a:rPr lang="en-CA" dirty="0"/>
              <a:t>                </a:t>
            </a:r>
            <a:r>
              <a:rPr lang="en-CA" dirty="0" err="1"/>
              <a:t>android:name</a:t>
            </a:r>
            <a:r>
              <a:rPr lang="en-CA" dirty="0"/>
              <a:t>="</a:t>
            </a:r>
            <a:r>
              <a:rPr lang="en-CA" dirty="0" err="1"/>
              <a:t>android.support.PARENT_ACTIVITY</a:t>
            </a:r>
            <a:r>
              <a:rPr lang="en-CA" dirty="0"/>
              <a:t>"</a:t>
            </a:r>
          </a:p>
          <a:p>
            <a:pPr marL="0" indent="0">
              <a:buNone/>
            </a:pPr>
            <a:r>
              <a:rPr lang="en-CA" dirty="0"/>
              <a:t>                </a:t>
            </a:r>
            <a:r>
              <a:rPr lang="en-CA" dirty="0" err="1"/>
              <a:t>android:value</a:t>
            </a:r>
            <a:r>
              <a:rPr lang="en-CA" dirty="0"/>
              <a:t>=".</a:t>
            </a:r>
            <a:r>
              <a:rPr lang="en-CA" dirty="0" err="1"/>
              <a:t>MainActivity</a:t>
            </a:r>
            <a:r>
              <a:rPr lang="en-CA" dirty="0"/>
              <a:t>"/&gt;</a:t>
            </a:r>
          </a:p>
        </p:txBody>
      </p:sp>
      <p:sp>
        <p:nvSpPr>
          <p:cNvPr id="4" name="Footer Placeholder 3">
            <a:extLst>
              <a:ext uri="{FF2B5EF4-FFF2-40B4-BE49-F238E27FC236}">
                <a16:creationId xmlns:a16="http://schemas.microsoft.com/office/drawing/2014/main" id="{5B9B7D8B-20F2-4D8D-946B-1B8D1D46D442}"/>
              </a:ext>
            </a:extLst>
          </p:cNvPr>
          <p:cNvSpPr>
            <a:spLocks noGrp="1"/>
          </p:cNvSpPr>
          <p:nvPr>
            <p:ph type="ftr" sz="quarter" idx="11"/>
          </p:nvPr>
        </p:nvSpPr>
        <p:spPr/>
        <p:txBody>
          <a:bodyPr/>
          <a:lstStyle/>
          <a:p>
            <a:pPr>
              <a:defRPr/>
            </a:pPr>
            <a:r>
              <a:rPr lang="en-US" altLang="en-US"/>
              <a:t>L Wong/J. Lin                              INFO 6130</a:t>
            </a:r>
          </a:p>
        </p:txBody>
      </p:sp>
    </p:spTree>
    <p:extLst>
      <p:ext uri="{BB962C8B-B14F-4D97-AF65-F5344CB8AC3E}">
        <p14:creationId xmlns:p14="http://schemas.microsoft.com/office/powerpoint/2010/main" val="3637383922"/>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47428100-C732-4B2E-A30A-5273F581A0F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Depth</Template>
  <TotalTime>3784</TotalTime>
  <Words>1567</Words>
  <Application>Microsoft Office PowerPoint</Application>
  <PresentationFormat>Widescreen</PresentationFormat>
  <Paragraphs>174</Paragraphs>
  <Slides>34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Consolas</vt:lpstr>
      <vt:lpstr>Corbel</vt:lpstr>
      <vt:lpstr>Roboto</vt:lpstr>
      <vt:lpstr>Tahoma</vt:lpstr>
      <vt:lpstr>Depth</vt:lpstr>
      <vt:lpstr>Fragments </vt:lpstr>
      <vt:lpstr>Two Ways to Add a Fragment to an Activity</vt:lpstr>
      <vt:lpstr>How Fragments are used</vt:lpstr>
      <vt:lpstr>Android fragment and Activity</vt:lpstr>
      <vt:lpstr>Fragments</vt:lpstr>
      <vt:lpstr>Benefits of using fragments</vt:lpstr>
      <vt:lpstr>More Fragment lifecycle callbacks</vt:lpstr>
      <vt:lpstr>Use onDestroyView</vt:lpstr>
      <vt:lpstr>Creating a fragment </vt:lpstr>
      <vt:lpstr>Fragment Life Cycle</vt:lpstr>
      <vt:lpstr>Fragment Lifecycle</vt:lpstr>
      <vt:lpstr>Steps to using a fragment</vt:lpstr>
      <vt:lpstr>Creating new Fragments</vt:lpstr>
      <vt:lpstr>Add your fragment to your activity in xml</vt:lpstr>
      <vt:lpstr>Fragment communication </vt:lpstr>
      <vt:lpstr>Fragment communication</vt:lpstr>
      <vt:lpstr>Fragment communication with the activity holding it</vt:lpstr>
      <vt:lpstr>Managing Fragments  dynamically </vt:lpstr>
      <vt:lpstr>Adding and Removing Fragments dynamically</vt:lpstr>
      <vt:lpstr>Each host has its own FragmentManager</vt:lpstr>
      <vt:lpstr>Sample code to handle the fragmentManagers transactions </vt:lpstr>
      <vt:lpstr>Specific Fragment  Subclasses </vt:lpstr>
      <vt:lpstr>Extend the Fragment class</vt:lpstr>
      <vt:lpstr>Subclasses of Fragment</vt:lpstr>
      <vt:lpstr>DialogFragment</vt:lpstr>
      <vt:lpstr>DialogFrament </vt:lpstr>
      <vt:lpstr>Usage of DialogFragment</vt:lpstr>
      <vt:lpstr>DialogFragment (continued)</vt:lpstr>
      <vt:lpstr>ListFragment</vt:lpstr>
      <vt:lpstr>ListFragment Image</vt:lpstr>
      <vt:lpstr>PreferenceFragmentCompat</vt:lpstr>
      <vt:lpstr>PreferenceFragmentCompat Image</vt:lpstr>
      <vt:lpstr>Using Back arrows to  navigate back to home </vt:lpstr>
      <vt:lpstr>Back arrow in an activity: Letting the application know the parent 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Herve</dc:creator>
  <cp:lastModifiedBy>Wong, Lianne</cp:lastModifiedBy>
  <cp:revision>622</cp:revision>
  <dcterms:created xsi:type="dcterms:W3CDTF">2014-11-09T01:10:48Z</dcterms:created>
  <dcterms:modified xsi:type="dcterms:W3CDTF">2025-09-28T16:16:56Z</dcterms:modified>
</cp:coreProperties>
</file>