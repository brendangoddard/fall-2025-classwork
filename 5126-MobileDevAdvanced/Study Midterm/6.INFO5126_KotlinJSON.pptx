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89" r:id="rId3"/>
    <p:sldId id="290" r:id="rId4"/>
    <p:sldId id="294" r:id="rId5"/>
    <p:sldId id="291" r:id="rId6"/>
    <p:sldId id="292" r:id="rId7"/>
    <p:sldId id="293" r:id="rId8"/>
    <p:sldId id="295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5" autoAdjust="0"/>
  </p:normalViewPr>
  <p:slideViewPr>
    <p:cSldViewPr>
      <p:cViewPr varScale="1">
        <p:scale>
          <a:sx n="112" d="100"/>
          <a:sy n="112" d="100"/>
        </p:scale>
        <p:origin x="492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6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428 w 5184"/>
                  <a:gd name="T3" fmla="*/ 3159 h 3159"/>
                  <a:gd name="T4" fmla="*/ 5428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86 w 556"/>
                  <a:gd name="T5" fmla="*/ 3159 h 3159"/>
                  <a:gd name="T6" fmla="*/ 58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6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0"/>
                </a:cxn>
                <a:cxn ang="0">
                  <a:pos x="12" y="42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66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66 w 251"/>
                <a:gd name="T7" fmla="*/ 12 h 12"/>
                <a:gd name="T8" fmla="*/ 266 w 251"/>
                <a:gd name="T9" fmla="*/ 0 h 12"/>
                <a:gd name="T10" fmla="*/ 266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38430 w 251"/>
                <a:gd name="T5" fmla="*/ 12 h 12"/>
                <a:gd name="T6" fmla="*/ 38430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1060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422400" y="1997076"/>
            <a:ext cx="9448800" cy="1431925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22400" y="38862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81D62-F355-4919-8001-23F823AF70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29299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A80FA-30CC-4CE4-9723-C8A985F131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35593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E6BA9-4B9B-4E63-A503-411005439F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46552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5F634-1283-4CBD-AD5C-FA71BD0FDD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3908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634E8-CFEB-4CB3-B7AD-61DFD3D02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3705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B1502-B1FE-47FB-8931-892F5A4A8D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82567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23652-9EFD-46C0-9E59-F66A9EBC4C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77053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D6E34-25BB-4A8D-A9B1-0F74589CA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89934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C6670-6047-4544-BCEA-06B389B1DA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41945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37AA9-7D5F-4D7D-A2A7-087ACA5825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5948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6200" y="304800"/>
            <a:ext cx="25146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3406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6D819-B3CA-4126-A3B3-A5BDFC4160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459889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sp>
          <p:nvSpPr>
            <p:cNvPr id="1032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428 w 5184"/>
                <a:gd name="T3" fmla="*/ 3159 h 3159"/>
                <a:gd name="T4" fmla="*/ 5428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33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86 w 556"/>
                <a:gd name="T5" fmla="*/ 3159 h 3159"/>
                <a:gd name="T6" fmla="*/ 58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6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7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9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9579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20"/>
                  </a:cxn>
                  <a:cxn ang="0">
                    <a:pos x="12" y="42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41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38430 w 251"/>
                  <a:gd name="T5" fmla="*/ 12 h 12"/>
                  <a:gd name="T6" fmla="*/ 38430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42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66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66 w 251"/>
                  <a:gd name="T7" fmla="*/ 12 h 12"/>
                  <a:gd name="T8" fmla="*/ 266 w 251"/>
                  <a:gd name="T9" fmla="*/ 0 h 12"/>
                  <a:gd name="T10" fmla="*/ 266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9582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9583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1"/>
            <a:ext cx="100584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9584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981200"/>
            <a:ext cx="10058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9585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86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87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10E46034-4E46-45EC-B3E7-0F93ABC087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29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gson/blob/master/UserGuide.md" TargetMode="External"/><Relationship Id="rId2" Type="http://schemas.openxmlformats.org/officeDocument/2006/relationships/hyperlink" Target="https://github.com/KotlinBy/awesome-kotlin#libraries-frameworks-js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/gs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Kotlin JSON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Info5126 : </a:t>
            </a:r>
          </a:p>
          <a:p>
            <a:pPr eaLnBrk="1" hangingPunct="1">
              <a:defRPr/>
            </a:pPr>
            <a:r>
              <a:rPr lang="en-CA" sz="2800" dirty="0"/>
              <a:t>Mobile Development Advanced</a:t>
            </a:r>
            <a:endParaRPr lang="en-US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4000" dirty="0"/>
              <a:t>Adding JSON to Kotlin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555CFB-FD9F-48F7-8E25-CDF8E2609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736726"/>
            <a:ext cx="10896600" cy="5121274"/>
          </a:xfrm>
        </p:spPr>
        <p:txBody>
          <a:bodyPr/>
          <a:lstStyle/>
          <a:p>
            <a:pPr marL="0" indent="0">
              <a:buNone/>
            </a:pPr>
            <a:r>
              <a:rPr lang="en-CA" b="0" i="0" dirty="0">
                <a:effectLst/>
                <a:latin typeface="-apple-system"/>
              </a:rPr>
              <a:t>There are many libraries to help use JSON in Kotlin</a:t>
            </a:r>
          </a:p>
          <a:p>
            <a:pPr marL="0" indent="0">
              <a:buNone/>
            </a:pPr>
            <a:r>
              <a:rPr lang="en-CA" b="0" i="0" dirty="0">
                <a:effectLst/>
                <a:latin typeface="-apple-system"/>
                <a:hlinkClick r:id="rId2"/>
              </a:rPr>
              <a:t>https://github.com/KotlinBy/awesome-kotlin#libraries-frameworks-json</a:t>
            </a:r>
            <a:endParaRPr lang="en-CA" b="0" i="0" dirty="0">
              <a:effectLst/>
              <a:latin typeface="-apple-system"/>
            </a:endParaRPr>
          </a:p>
          <a:p>
            <a:endParaRPr lang="en-CA" dirty="0"/>
          </a:p>
          <a:p>
            <a:r>
              <a:rPr lang="en-CA" dirty="0"/>
              <a:t>In our case, we will use GSON by Google.</a:t>
            </a:r>
          </a:p>
          <a:p>
            <a:r>
              <a:rPr lang="en-CA" dirty="0"/>
              <a:t>The user guide can be found here: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https://github.com/google/gson/blob/master/UserGuide.md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7108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4000" dirty="0"/>
              <a:t>GSON Setup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555CFB-FD9F-48F7-8E25-CDF8E2609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36726"/>
            <a:ext cx="11125200" cy="5121274"/>
          </a:xfrm>
        </p:spPr>
        <p:txBody>
          <a:bodyPr/>
          <a:lstStyle/>
          <a:p>
            <a:r>
              <a:rPr lang="en-CA" b="0" i="0" dirty="0">
                <a:effectLst/>
                <a:latin typeface="-apple-system"/>
              </a:rPr>
              <a:t>To Gradle : dependencies add the following line.   As of the start of this class, the latest version is 2.11.0</a:t>
            </a:r>
          </a:p>
          <a:p>
            <a:pPr marL="0" indent="0">
              <a:buNone/>
            </a:pPr>
            <a:r>
              <a:rPr lang="en-CA" sz="2400" b="0" i="0" dirty="0">
                <a:effectLst/>
                <a:latin typeface="-apple-system"/>
              </a:rPr>
              <a:t>dependencies {</a:t>
            </a:r>
          </a:p>
          <a:p>
            <a:pPr marL="0" indent="0">
              <a:buNone/>
            </a:pPr>
            <a:r>
              <a:rPr lang="en-CA" sz="2400" dirty="0">
                <a:effectLst/>
                <a:latin typeface="-apple-system"/>
              </a:rPr>
              <a:t>…</a:t>
            </a:r>
            <a:endParaRPr lang="en-CA" sz="2400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CA" sz="2400" b="0" i="0" dirty="0">
                <a:effectLst/>
                <a:latin typeface="-apple-system"/>
              </a:rPr>
              <a:t>    </a:t>
            </a:r>
            <a:r>
              <a:rPr lang="fr-FR" sz="2400" b="0" i="0" dirty="0">
                <a:effectLst/>
                <a:latin typeface="-apple-system"/>
              </a:rPr>
              <a:t> </a:t>
            </a:r>
            <a:r>
              <a:rPr lang="fr-FR" sz="2400" b="0" i="0" dirty="0" err="1">
                <a:effectLst/>
                <a:latin typeface="-apple-system"/>
              </a:rPr>
              <a:t>implementation</a:t>
            </a:r>
            <a:r>
              <a:rPr lang="fr-FR" sz="2400" b="0" i="0" dirty="0">
                <a:effectLst/>
                <a:latin typeface="-apple-system"/>
              </a:rPr>
              <a:t>("com.google.code.gson:gson:2.11.0")</a:t>
            </a:r>
          </a:p>
          <a:p>
            <a:pPr marL="0" indent="0">
              <a:buNone/>
            </a:pPr>
            <a:r>
              <a:rPr lang="en-CA" sz="2400" b="0" i="0" dirty="0">
                <a:effectLst/>
                <a:latin typeface="-apple-system"/>
              </a:rPr>
              <a:t>}</a:t>
            </a:r>
          </a:p>
          <a:p>
            <a:pPr marL="0" indent="0">
              <a:buNone/>
            </a:pPr>
            <a:endParaRPr lang="en-CA" sz="2400" dirty="0">
              <a:effectLst/>
              <a:latin typeface="-apple-system"/>
            </a:endParaRPr>
          </a:p>
          <a:p>
            <a:pPr marL="0" indent="0">
              <a:buNone/>
            </a:pPr>
            <a:endParaRPr lang="en-CA" sz="2400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n-CA" sz="2400" b="0" i="0" dirty="0">
                <a:effectLst/>
                <a:latin typeface="-apple-system"/>
                <a:hlinkClick r:id="rId2"/>
              </a:rPr>
              <a:t>https://</a:t>
            </a:r>
            <a:r>
              <a:rPr lang="en-CA" sz="2400" b="0" i="0" dirty="0" err="1">
                <a:effectLst/>
                <a:latin typeface="-apple-system"/>
                <a:hlinkClick r:id="rId2"/>
              </a:rPr>
              <a:t>github.com</a:t>
            </a:r>
            <a:r>
              <a:rPr lang="en-CA" sz="2400" b="0" i="0" dirty="0">
                <a:effectLst/>
                <a:latin typeface="-apple-system"/>
                <a:hlinkClick r:id="rId2"/>
              </a:rPr>
              <a:t>/google/</a:t>
            </a:r>
            <a:r>
              <a:rPr lang="en-CA" sz="2400" b="0" i="0" dirty="0" err="1">
                <a:effectLst/>
                <a:latin typeface="-apple-system"/>
                <a:hlinkClick r:id="rId2"/>
              </a:rPr>
              <a:t>gson</a:t>
            </a:r>
            <a:endParaRPr lang="en-CA" sz="24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676519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4268-FCCA-4DD9-AD77-E8AEDD76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GSON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A3F6-B265-4224-A6EE-99F19053D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com.google.gson.Gson</a:t>
            </a:r>
            <a:r>
              <a:rPr lang="en-US" sz="2400" dirty="0"/>
              <a:t> package provides </a:t>
            </a:r>
            <a:r>
              <a:rPr lang="en-US" sz="2400" dirty="0" err="1"/>
              <a:t>fromJson</a:t>
            </a:r>
            <a:r>
              <a:rPr lang="en-US" sz="2400" dirty="0"/>
              <a:t>() for deserializing JSON.</a:t>
            </a:r>
          </a:p>
          <a:p>
            <a:endParaRPr lang="en-US" sz="2400" dirty="0"/>
          </a:p>
          <a:p>
            <a:r>
              <a:rPr lang="en-US" sz="2400" dirty="0"/>
              <a:t>public &lt;T&gt; T </a:t>
            </a:r>
            <a:r>
              <a:rPr lang="en-US" sz="2400" dirty="0" err="1"/>
              <a:t>fromJson</a:t>
            </a:r>
            <a:r>
              <a:rPr lang="en-US" sz="2400" dirty="0"/>
              <a:t>​(json, </a:t>
            </a:r>
            <a:r>
              <a:rPr lang="en-US" sz="2400" dirty="0" err="1"/>
              <a:t>classOfT</a:t>
            </a:r>
            <a:r>
              <a:rPr lang="en-US" sz="2400" dirty="0"/>
              <a:t>) throws </a:t>
            </a:r>
            <a:r>
              <a:rPr lang="en-US" sz="2400" dirty="0" err="1"/>
              <a:t>JsonSyntaxException</a:t>
            </a:r>
            <a:endParaRPr lang="en-US" sz="2400" dirty="0"/>
          </a:p>
          <a:p>
            <a:r>
              <a:rPr lang="en-US" sz="2400" dirty="0"/>
              <a:t>public &lt;T&gt; T </a:t>
            </a:r>
            <a:r>
              <a:rPr lang="en-US" sz="2400" dirty="0" err="1"/>
              <a:t>fromJson</a:t>
            </a:r>
            <a:r>
              <a:rPr lang="en-US" sz="2400" dirty="0"/>
              <a:t>​(json, </a:t>
            </a:r>
            <a:r>
              <a:rPr lang="en-US" sz="2400" dirty="0" err="1"/>
              <a:t>typeOfT</a:t>
            </a:r>
            <a:r>
              <a:rPr lang="en-US" sz="2400" dirty="0"/>
              <a:t>) throws </a:t>
            </a:r>
            <a:r>
              <a:rPr lang="en-US" sz="2400" dirty="0" err="1"/>
              <a:t>JsonSyntaxException</a:t>
            </a:r>
            <a:endParaRPr lang="en-US" sz="2400" dirty="0"/>
          </a:p>
          <a:p>
            <a:r>
              <a:rPr lang="en-US" sz="2400" dirty="0"/>
              <a:t>T: type of the desired object</a:t>
            </a:r>
          </a:p>
          <a:p>
            <a:r>
              <a:rPr lang="en-US" sz="2400" dirty="0"/>
              <a:t>json: could be a </a:t>
            </a:r>
            <a:r>
              <a:rPr lang="en-US" sz="2400" dirty="0" err="1"/>
              <a:t>JsonElement</a:t>
            </a:r>
            <a:r>
              <a:rPr lang="en-US" sz="2400" dirty="0"/>
              <a:t> object, a Reader object or a String</a:t>
            </a:r>
          </a:p>
          <a:p>
            <a:r>
              <a:rPr lang="en-US" sz="2400" dirty="0" err="1"/>
              <a:t>classOfT</a:t>
            </a:r>
            <a:r>
              <a:rPr lang="en-US" sz="2400" dirty="0"/>
              <a:t>: class of T</a:t>
            </a:r>
          </a:p>
          <a:p>
            <a:r>
              <a:rPr lang="en-US" sz="2400" dirty="0" err="1"/>
              <a:t>typeOfT</a:t>
            </a:r>
            <a:r>
              <a:rPr lang="en-US" sz="2400" dirty="0"/>
              <a:t>: specific genericized type</a:t>
            </a:r>
          </a:p>
        </p:txBody>
      </p:sp>
    </p:spTree>
    <p:extLst>
      <p:ext uri="{BB962C8B-B14F-4D97-AF65-F5344CB8AC3E}">
        <p14:creationId xmlns:p14="http://schemas.microsoft.com/office/powerpoint/2010/main" val="2964474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545F-BCC3-4026-B750-CB5043CD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1"/>
            <a:ext cx="10185400" cy="838199"/>
          </a:xfrm>
        </p:spPr>
        <p:txBody>
          <a:bodyPr/>
          <a:lstStyle/>
          <a:p>
            <a:r>
              <a:rPr lang="en-US" dirty="0"/>
              <a:t>Use a data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2145E-D421-4F11-A364-78B25226F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71600"/>
            <a:ext cx="11049000" cy="5334000"/>
          </a:xfrm>
        </p:spPr>
        <p:txBody>
          <a:bodyPr/>
          <a:lstStyle/>
          <a:p>
            <a:r>
              <a:rPr lang="en-US" sz="2800" dirty="0"/>
              <a:t>Data classes are classes whose main purpose is to hold data</a:t>
            </a:r>
          </a:p>
          <a:p>
            <a:r>
              <a:rPr lang="en-US" sz="2800" dirty="0"/>
              <a:t>Standard functionality and utility functions are derived</a:t>
            </a:r>
          </a:p>
          <a:p>
            <a:pPr lvl="1"/>
            <a:r>
              <a:rPr lang="en-US" sz="2400" dirty="0"/>
              <a:t>equals()/</a:t>
            </a:r>
            <a:r>
              <a:rPr lang="en-US" sz="2400" dirty="0" err="1"/>
              <a:t>hashCode</a:t>
            </a:r>
            <a:r>
              <a:rPr lang="en-US" sz="2400" dirty="0"/>
              <a:t>() pair</a:t>
            </a:r>
          </a:p>
          <a:p>
            <a:pPr lvl="1"/>
            <a:r>
              <a:rPr lang="en-US" sz="2400" dirty="0" err="1"/>
              <a:t>toString</a:t>
            </a:r>
            <a:r>
              <a:rPr lang="en-US" sz="2400" dirty="0"/>
              <a:t>()</a:t>
            </a:r>
          </a:p>
          <a:p>
            <a:pPr lvl="1"/>
            <a:r>
              <a:rPr lang="en-US" sz="2400" dirty="0" err="1"/>
              <a:t>componentN</a:t>
            </a:r>
            <a:r>
              <a:rPr lang="en-US" sz="2400" dirty="0"/>
              <a:t>() functions corresponding to the properties in the order of declaration</a:t>
            </a:r>
          </a:p>
          <a:p>
            <a:pPr lvl="1"/>
            <a:r>
              <a:rPr lang="en-US" sz="2400" dirty="0"/>
              <a:t>copy()</a:t>
            </a:r>
          </a:p>
          <a:p>
            <a:r>
              <a:rPr lang="en-US" sz="2800" dirty="0"/>
              <a:t>Use @SerializedName(“key_name”) to make data class field names different from the json key names</a:t>
            </a:r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dirty="0"/>
              <a:t>data class Person (var </a:t>
            </a:r>
            <a:r>
              <a:rPr lang="en-US" sz="2800" dirty="0" err="1"/>
              <a:t>age:Int</a:t>
            </a:r>
            <a:r>
              <a:rPr lang="en-US" sz="2800" dirty="0"/>
              <a:t>=0,var </a:t>
            </a:r>
            <a:r>
              <a:rPr lang="en-US" sz="2800" dirty="0" err="1"/>
              <a:t>name:String</a:t>
            </a:r>
            <a:r>
              <a:rPr lang="en-US" sz="2800" dirty="0"/>
              <a:t>?=null){ }</a:t>
            </a:r>
          </a:p>
        </p:txBody>
      </p:sp>
    </p:spTree>
    <p:extLst>
      <p:ext uri="{BB962C8B-B14F-4D97-AF65-F5344CB8AC3E}">
        <p14:creationId xmlns:p14="http://schemas.microsoft.com/office/powerpoint/2010/main" val="38259980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7AE5-4789-4FC8-94F7-FB3B03B9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4801"/>
            <a:ext cx="11252200" cy="1066799"/>
          </a:xfrm>
        </p:spPr>
        <p:txBody>
          <a:bodyPr/>
          <a:lstStyle/>
          <a:p>
            <a:r>
              <a:rPr lang="en-US" dirty="0"/>
              <a:t>Parsing a class object into a json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DB2B9-12B2-494A-A461-1C3A34B6D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jsonString</a:t>
            </a:r>
            <a:r>
              <a:rPr lang="en-US" dirty="0"/>
              <a:t> =</a:t>
            </a:r>
            <a:r>
              <a:rPr lang="en-US" dirty="0" err="1"/>
              <a:t>Gson</a:t>
            </a:r>
            <a:r>
              <a:rPr lang="en-US" dirty="0"/>
              <a:t>().</a:t>
            </a:r>
            <a:r>
              <a:rPr lang="en-US" dirty="0" err="1"/>
              <a:t>toJson</a:t>
            </a:r>
            <a:r>
              <a:rPr lang="en-US" dirty="0"/>
              <a:t>(Person)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a collection use:</a:t>
            </a:r>
          </a:p>
          <a:p>
            <a:pPr marL="0" indent="0">
              <a:buNone/>
            </a:pPr>
            <a:r>
              <a:rPr lang="en-US" dirty="0"/>
              <a:t>var persons: List&lt;Person&gt;</a:t>
            </a:r>
          </a:p>
          <a:p>
            <a:pPr marL="0" indent="0">
              <a:buNone/>
            </a:pPr>
            <a:r>
              <a:rPr lang="en-US" dirty="0"/>
              <a:t>…  // populate the persons list</a:t>
            </a:r>
          </a:p>
          <a:p>
            <a:pPr marL="0" indent="0">
              <a:buNone/>
            </a:pPr>
            <a:r>
              <a:rPr lang="en-US" dirty="0"/>
              <a:t> var </a:t>
            </a:r>
            <a:r>
              <a:rPr lang="en-US" dirty="0" err="1"/>
              <a:t>jsonList</a:t>
            </a:r>
            <a:r>
              <a:rPr lang="en-US" dirty="0"/>
              <a:t> = </a:t>
            </a:r>
            <a:r>
              <a:rPr lang="en-US" dirty="0" err="1"/>
              <a:t>Gson</a:t>
            </a:r>
            <a:r>
              <a:rPr lang="en-US" dirty="0"/>
              <a:t>().</a:t>
            </a:r>
            <a:r>
              <a:rPr lang="en-US" dirty="0" err="1"/>
              <a:t>toJson</a:t>
            </a:r>
            <a:r>
              <a:rPr lang="en-US" dirty="0"/>
              <a:t>(persons)</a:t>
            </a:r>
          </a:p>
        </p:txBody>
      </p:sp>
    </p:spTree>
    <p:extLst>
      <p:ext uri="{BB962C8B-B14F-4D97-AF65-F5344CB8AC3E}">
        <p14:creationId xmlns:p14="http://schemas.microsoft.com/office/powerpoint/2010/main" val="9938580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7AE5-4789-4FC8-94F7-FB3B03B9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a json string into a class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DB2B9-12B2-494A-A461-1C3A34B6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438400"/>
            <a:ext cx="10820400" cy="411479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val</a:t>
            </a:r>
            <a:r>
              <a:rPr lang="en-US" sz="2800" dirty="0"/>
              <a:t> person1 = </a:t>
            </a:r>
            <a:r>
              <a:rPr lang="en-US" sz="2800" dirty="0" err="1"/>
              <a:t>Gson</a:t>
            </a:r>
            <a:r>
              <a:rPr lang="en-US" sz="2800" dirty="0"/>
              <a:t>().</a:t>
            </a:r>
            <a:r>
              <a:rPr lang="en-US" sz="2800" dirty="0" err="1"/>
              <a:t>fromJson</a:t>
            </a:r>
            <a:r>
              <a:rPr lang="en-US" sz="2800" dirty="0"/>
              <a:t>(</a:t>
            </a:r>
            <a:r>
              <a:rPr lang="en-US" sz="2800" dirty="0" err="1"/>
              <a:t>jsonString,Person</a:t>
            </a:r>
            <a:r>
              <a:rPr lang="en-US" sz="2800" dirty="0"/>
              <a:t>::class.java)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For a collection use: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val</a:t>
            </a:r>
            <a:r>
              <a:rPr lang="en-US" sz="2800" dirty="0"/>
              <a:t> </a:t>
            </a:r>
            <a:r>
              <a:rPr lang="en-US" sz="2800" dirty="0" err="1"/>
              <a:t>listPersonType</a:t>
            </a:r>
            <a:r>
              <a:rPr lang="en-US" sz="2800" dirty="0"/>
              <a:t> = object : </a:t>
            </a:r>
            <a:r>
              <a:rPr lang="en-US" sz="2800" dirty="0" err="1"/>
              <a:t>TypeToken</a:t>
            </a:r>
            <a:r>
              <a:rPr lang="en-US" sz="2800" dirty="0"/>
              <a:t>&lt;List&lt;Person&gt;&gt;() {}.type</a:t>
            </a:r>
          </a:p>
          <a:p>
            <a:pPr marL="0" indent="0">
              <a:buNone/>
            </a:pPr>
            <a:r>
              <a:rPr lang="en-US" sz="2800" dirty="0"/>
              <a:t>persons = </a:t>
            </a:r>
            <a:r>
              <a:rPr lang="en-US" sz="2800" dirty="0" err="1"/>
              <a:t>Gson</a:t>
            </a:r>
            <a:r>
              <a:rPr lang="en-US" sz="2800" dirty="0"/>
              <a:t>().</a:t>
            </a:r>
            <a:r>
              <a:rPr lang="en-US" sz="2800" dirty="0" err="1"/>
              <a:t>fromJson</a:t>
            </a:r>
            <a:r>
              <a:rPr lang="en-US" sz="2800" dirty="0"/>
              <a:t>(</a:t>
            </a:r>
            <a:r>
              <a:rPr lang="en-US" sz="2800" dirty="0" err="1"/>
              <a:t>jsonString</a:t>
            </a:r>
            <a:r>
              <a:rPr lang="en-US" sz="2800" dirty="0"/>
              <a:t>, </a:t>
            </a:r>
            <a:r>
              <a:rPr lang="en-US" sz="2800" dirty="0" err="1"/>
              <a:t>listPersonType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752231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2BFD-5920-4B1D-AD80-E8F18960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an initial json file in an assets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1652-9EF1-45E5-9493-DF325D33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176000" cy="4724400"/>
          </a:xfrm>
        </p:spPr>
        <p:txBody>
          <a:bodyPr/>
          <a:lstStyle/>
          <a:p>
            <a:r>
              <a:rPr lang="en-CA" sz="2800" dirty="0"/>
              <a:t>Create an assets folder to place your initial json file.  This will allow us to start with a collection of items. </a:t>
            </a:r>
          </a:p>
          <a:p>
            <a:pPr marL="0" indent="0" algn="ctr">
              <a:buNone/>
            </a:pPr>
            <a:r>
              <a:rPr lang="en-CA" sz="2800" dirty="0"/>
              <a:t>File-New-Folder-Assets</a:t>
            </a:r>
          </a:p>
          <a:p>
            <a:r>
              <a:rPr lang="en-CA" sz="2800" dirty="0"/>
              <a:t>All Asset files will be bundled with the application as a simple stream of bytes to the phone on installation.   The assets folder will preserve filename and allow you to access these files at runtime.</a:t>
            </a:r>
          </a:p>
          <a:p>
            <a:r>
              <a:rPr lang="en-CA" sz="2800" dirty="0"/>
              <a:t>Note: To bundle Resource files with the application is through a raw folder.   A raw folder does not preserve filename.   You access these resources through   </a:t>
            </a:r>
            <a:r>
              <a:rPr lang="en-CA" sz="2800" dirty="0" err="1"/>
              <a:t>R.Raw</a:t>
            </a:r>
            <a:r>
              <a:rPr lang="en-CA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332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10398</TotalTime>
  <Words>476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Tahoma</vt:lpstr>
      <vt:lpstr>Wingdings</vt:lpstr>
      <vt:lpstr>Shimmer</vt:lpstr>
      <vt:lpstr>Kotlin JSON</vt:lpstr>
      <vt:lpstr>Adding JSON to Kotlin</vt:lpstr>
      <vt:lpstr>GSON Setup</vt:lpstr>
      <vt:lpstr>GSON package</vt:lpstr>
      <vt:lpstr>Use a data class</vt:lpstr>
      <vt:lpstr>Parsing a class object into a json string</vt:lpstr>
      <vt:lpstr>Parsing a json string into a class object</vt:lpstr>
      <vt:lpstr>Place an initial json file in an assets folder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3097 - Mobile Computing</dc:title>
  <dc:creator>Lianne Wong</dc:creator>
  <cp:lastModifiedBy>Wong, Lianne</cp:lastModifiedBy>
  <cp:revision>166</cp:revision>
  <cp:lastPrinted>1601-01-01T00:00:00Z</cp:lastPrinted>
  <dcterms:created xsi:type="dcterms:W3CDTF">2006-01-09T20:05:33Z</dcterms:created>
  <dcterms:modified xsi:type="dcterms:W3CDTF">2024-09-17T16:09:21Z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TC010900171033</vt:lpwstr>
  </property>
</Properties>
</file>