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87" r:id="rId3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3959" b="0" strike="noStrike" spc="-1">
                <a:solidFill>
                  <a:srgbClr val="FFFFFF"/>
                </a:solidFill>
                <a:latin typeface="Arial"/>
              </a:rPr>
              <a:t>Click to move the slide</a:t>
            </a: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61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62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3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F63446A-681A-4CA6-8F5A-93563C5702DA}" type="slidenum"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CA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INFO5013 Security I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dt" idx="36"/>
          </p:nvPr>
        </p:nvSpPr>
        <p:spPr>
          <a:xfrm>
            <a:off x="3886200" y="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Winter 2006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ftr" idx="37"/>
          </p:nvPr>
        </p:nvSpPr>
        <p:spPr>
          <a:xfrm>
            <a:off x="0" y="868680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Darryl Bedford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sldNum" idx="3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6D59AF-3A5D-438C-89AE-70799DB45428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6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INFO5013 Security I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dt" idx="39"/>
          </p:nvPr>
        </p:nvSpPr>
        <p:spPr>
          <a:xfrm>
            <a:off x="3886200" y="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Winter 2006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ftr" idx="40"/>
          </p:nvPr>
        </p:nvSpPr>
        <p:spPr>
          <a:xfrm>
            <a:off x="0" y="868680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Darryl Bedford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sldNum" idx="41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6F552E-96FA-40DA-B4C1-1C10E304D4D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PlaceHolder 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6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www.insecure.org/nmap</a:t>
            </a:r>
            <a:endParaRPr lang="en-CA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CA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http://www.iana.org/assignments/service-names-port-numbers/service-names-port-numbers.xml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http://www.chebucto.ns.ca/~rakerman/port-table.html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http://en.wikipedia.org/wiki/Ephemeral_port</a:t>
            </a:r>
          </a:p>
        </p:txBody>
      </p:sp>
      <p:sp>
        <p:nvSpPr>
          <p:cNvPr id="2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INFO5013 Security I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dt" idx="42"/>
          </p:nvPr>
        </p:nvSpPr>
        <p:spPr>
          <a:xfrm>
            <a:off x="3886200" y="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Winter 2006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ftr" idx="43"/>
          </p:nvPr>
        </p:nvSpPr>
        <p:spPr>
          <a:xfrm>
            <a:off x="0" y="868680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Darryl Bedford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PlaceHolder 6"/>
          <p:cNvSpPr>
            <a:spLocks noGrp="1"/>
          </p:cNvSpPr>
          <p:nvPr>
            <p:ph type="sldNum" idx="44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E6F9A2-0366-43C0-BC8B-55A51C8C43D8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15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36372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1119960" y="395172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36372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992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3952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111996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57992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3952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CCFA293-4CFB-4188-B8AE-A6164F728FF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06623E6-4C10-424B-8787-822EFFEA387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65BADAC-0998-4EDD-8C29-DB217B68D87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1CE4623-DE43-408E-9AE5-2AD55924B99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837F0CD-5B98-4F58-93A9-732B873AB16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476559-2940-4875-ADB3-3EC44248A10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537A8C-928B-496E-9453-7FF15EEA940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36372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C20FAE3-891F-4B1F-898C-B6397681C41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C8965B4-6855-4B2D-8E60-89FE6B810F2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1119960" y="395172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642D368-77BF-4A35-B2E7-3D1EF11A07E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36372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28D00E5-F270-47A9-9174-64D7C415AC1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57992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3952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111996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57992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3952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DB523FB-3D94-46E8-BF3C-0704B36494D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D944109-FDDB-47E6-A9F9-4C375D56BE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E2E3D82-1111-46D2-A8D4-BC14CAE985D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314C877-00BC-4938-B00A-00E224720FC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B4E8C25-7167-4CAD-969D-1A59C9214AA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D71A6F-D1E1-4DFA-8B9E-35CE42B595A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9CEB80-4744-4C80-AF2C-4E256174026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6EC510-1C3E-48F2-B2DB-C83E5922989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407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636372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E8FD94-32B6-4AB3-96EF-BEF42CA824B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EBB762D-C856-4A7C-A120-6B0037B3CC5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1119960" y="3951720"/>
            <a:ext cx="102333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D516B18-E6EF-4EB5-B77A-C363DFC33EF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363720" y="182556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111996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/>
          </p:nvPr>
        </p:nvSpPr>
        <p:spPr>
          <a:xfrm>
            <a:off x="6363720" y="3951720"/>
            <a:ext cx="499356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48A4B27-A1F1-4373-AF3A-6367F66B7CC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57992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8039520" y="182556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/>
          </p:nvPr>
        </p:nvSpPr>
        <p:spPr>
          <a:xfrm>
            <a:off x="111996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/>
          </p:nvPr>
        </p:nvSpPr>
        <p:spPr>
          <a:xfrm>
            <a:off x="457992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/>
          </p:nvPr>
        </p:nvSpPr>
        <p:spPr>
          <a:xfrm>
            <a:off x="8039520" y="3951720"/>
            <a:ext cx="3294720" cy="194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EA4A3C-490D-4673-A607-60D60E78545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09680" y="2043720"/>
            <a:ext cx="9143640" cy="1641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r">
              <a:lnSpc>
                <a:spcPct val="90000"/>
              </a:lnSpc>
              <a:buNone/>
            </a:pPr>
            <a:r>
              <a:rPr lang="en-US" sz="3959" b="1" strike="noStrike" spc="-205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4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Click to edit Master title style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Third level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dt" idx="1"/>
          </p:nvPr>
        </p:nvSpPr>
        <p:spPr>
          <a:xfrm>
            <a:off x="4321080" y="6356520"/>
            <a:ext cx="1586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&lt;date/time&gt;</a:t>
            </a:r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"/>
          </p:nvPr>
        </p:nvSpPr>
        <p:spPr>
          <a:xfrm>
            <a:off x="60958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sldNum" idx="3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16266A-657A-41DB-B744-C7EC903C7AF7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‹#›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Click to edit Master title style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dt" idx="4"/>
          </p:nvPr>
        </p:nvSpPr>
        <p:spPr>
          <a:xfrm>
            <a:off x="4321080" y="6356520"/>
            <a:ext cx="1586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&lt;date/time&gt;</a:t>
            </a:r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ftr" idx="5"/>
          </p:nvPr>
        </p:nvSpPr>
        <p:spPr>
          <a:xfrm>
            <a:off x="60958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sldNum" idx="6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9CCB5A-3F38-402B-AE02-EAB0BE114CCE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‹#›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4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kipedia.org/" TargetMode="External"/><Relationship Id="rId2" Type="http://schemas.openxmlformats.org/officeDocument/2006/relationships/hyperlink" Target="http://www.sans.org/top20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226960" y="322200"/>
            <a:ext cx="9143640" cy="1641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r">
              <a:lnSpc>
                <a:spcPct val="90000"/>
              </a:lnSpc>
              <a:buNone/>
            </a:pPr>
            <a:r>
              <a:rPr lang="en-US" sz="3959" b="1" strike="noStrike" spc="-205">
                <a:solidFill>
                  <a:srgbClr val="FFFFFF"/>
                </a:solidFill>
                <a:latin typeface="Arial"/>
              </a:rPr>
              <a:t> INFO3068 Midterm Checkpoint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2250720" y="4648320"/>
            <a:ext cx="9143640" cy="753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9500"/>
          </a:bodyPr>
          <a:lstStyle/>
          <a:p>
            <a:pPr indent="0" algn="r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CA" sz="2160" b="0" strike="noStrike" spc="-1" dirty="0">
                <a:solidFill>
                  <a:srgbClr val="D9D9D9"/>
                </a:solidFill>
                <a:latin typeface="Arial"/>
              </a:rPr>
              <a:t>Hit F5 to hear narration</a:t>
            </a:r>
            <a:endParaRPr lang="en-CA" sz="216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Upcoming Events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>
                <a:solidFill>
                  <a:srgbClr val="000000"/>
                </a:solidFill>
                <a:latin typeface="Arial"/>
              </a:rPr>
              <a:t>Midterm Test</a:t>
            </a: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</a:pP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0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1E6E97-2613-4EC7-A275-923E6FD1C04C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2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0" name="Picture 16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8000"/>
    </mc:Choice>
    <mc:Fallback xmlns:p15="http://schemas.microsoft.com/office/powerpoint/2012/main" xmlns="">
      <p:transition spd="slow" advTm="18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mute="1"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17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Understanding Security: "CIA"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Confidentiality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0" strike="noStrike" spc="-1" dirty="0">
                <a:solidFill>
                  <a:srgbClr val="000000"/>
                </a:solidFill>
                <a:latin typeface="Arial"/>
              </a:rPr>
              <a:t>Attackers cannot read intercepted messages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Integrity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Assurance that data is not altered or destroyed in an unauthorized manner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Availability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Continuous operation of computing systems</a:t>
            </a:r>
          </a:p>
        </p:txBody>
      </p:sp>
      <p:sp>
        <p:nvSpPr>
          <p:cNvPr id="173" name="PlaceHolder 3"/>
          <p:cNvSpPr>
            <a:spLocks noGrp="1"/>
          </p:cNvSpPr>
          <p:nvPr>
            <p:ph type="sldNum" idx="11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2451FD-D90E-4FA5-9E18-2653D7B419A1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3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4" name="Picture 173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6000"/>
    </mc:Choice>
    <mc:Fallback xmlns:p15="http://schemas.microsoft.com/office/powerpoint/2012/main" xmlns="">
      <p:transition spd="slow" advTm="36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17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Threats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People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520" b="0" strike="noStrike" spc="-1" dirty="0">
                <a:solidFill>
                  <a:srgbClr val="000000"/>
                </a:solidFill>
                <a:latin typeface="Arial"/>
              </a:rPr>
              <a:t>Internal experts</a:t>
            </a:r>
            <a:endParaRPr lang="en-US" sz="252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520" b="0" strike="noStrike" spc="-1" dirty="0">
                <a:solidFill>
                  <a:srgbClr val="000000"/>
                </a:solidFill>
                <a:latin typeface="Arial"/>
              </a:rPr>
              <a:t>External experts</a:t>
            </a:r>
            <a:endParaRPr lang="en-US" sz="252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Sites that prompt downloading of something malicious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</a:pP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2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07AEB0-FA05-42BB-B9FA-D5974926136F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4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8" name="Picture 17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38000"/>
    </mc:Choice>
    <mc:Fallback xmlns:p15="http://schemas.microsoft.com/office/powerpoint/2012/main" xmlns="">
      <p:transition spd="slow" advTm="138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17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Security Strategy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Change management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Document changes to </a:t>
            </a:r>
            <a:r>
              <a:rPr lang="en-US" sz="2520" b="0" i="1" strike="noStrike" spc="-1" dirty="0">
                <a:solidFill>
                  <a:srgbClr val="000000"/>
                </a:solidFill>
                <a:latin typeface="Arial"/>
              </a:rPr>
              <a:t>all</a:t>
            </a: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 areas of IT infrastructure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Encryption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Ensures messages cannot be intercepted or read by anyone other than the intended person(s)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</a:pP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3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03882E-7FE8-419F-BA69-15C4292FF4E7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5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Rectangle 4"/>
          <p:cNvSpPr/>
          <p:nvPr/>
        </p:nvSpPr>
        <p:spPr>
          <a:xfrm>
            <a:off x="9144000" y="6292800"/>
            <a:ext cx="1294920" cy="33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160" tIns="46080" rIns="92160" bIns="46080" anchor="t">
            <a:spAutoFit/>
          </a:bodyPr>
          <a:lstStyle/>
          <a:p>
            <a:pPr algn="r">
              <a:lnSpc>
                <a:spcPct val="100000"/>
              </a:lnSpc>
              <a:spcBef>
                <a:spcPts val="799"/>
              </a:spcBef>
            </a:pPr>
            <a:r>
              <a:rPr lang="en-US" sz="1600" b="0" strike="noStrike" spc="-1">
                <a:solidFill>
                  <a:schemeClr val="accent2"/>
                </a:solidFill>
                <a:latin typeface="Arial"/>
              </a:rPr>
              <a:t>continued…</a:t>
            </a:r>
            <a:endParaRPr lang="en-CA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Picture 18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65000"/>
    </mc:Choice>
    <mc:Fallback xmlns:p15="http://schemas.microsoft.com/office/powerpoint/2012/main" xmlns="">
      <p:transition spd="slow" advTm="6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18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Security of System Resources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Three-step process (AAA)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Authentication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Positive identification of person/system seeking access to secured information/services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Authorization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Predetermined level of access to resources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Accounting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Logging use of each asset</a:t>
            </a:r>
          </a:p>
        </p:txBody>
      </p:sp>
      <p:pic>
        <p:nvPicPr>
          <p:cNvPr id="186" name="Picture 185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BAB748F-B597-4875-81F8-04DDEC987C40}" type="slidenum">
              <a:rPr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4000"/>
    </mc:Choice>
    <mc:Fallback xmlns:p15="http://schemas.microsoft.com/office/powerpoint/2012/main" xmlns="">
      <p:transition spd="slow" advTm="24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18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Securing Resources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Multifactor Identification: Identity of individual is verified using at least two of the three factors of authentication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Something you know (e.g. password)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Something you have (e.g. smart card)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Where you are (e.g. GPS)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</a:pP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4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520076-513B-43CA-8305-85014516F3E0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7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0" name="Picture 18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6000"/>
    </mc:Choice>
    <mc:Fallback xmlns:p15="http://schemas.microsoft.com/office/powerpoint/2012/main" xmlns="">
      <p:transition spd="slow" advTm="26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19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Database Servers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571680" indent="-57168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AutoNum type="arabicPeriod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Protect the DBMS during install</a:t>
            </a:r>
          </a:p>
          <a:p>
            <a:pPr marL="571680" indent="-57168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AutoNum type="arabicPeriod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Use permissions to secure data</a:t>
            </a:r>
          </a:p>
          <a:p>
            <a:pPr marL="571680" indent="-57168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AutoNum type="arabicPeriod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Use sound practices to secure applications</a:t>
            </a:r>
          </a:p>
          <a:p>
            <a:pPr marL="571680" indent="-57168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AutoNum type="arabicPeriod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Monitor and Audit</a:t>
            </a:r>
          </a:p>
          <a:p>
            <a:pPr marL="571680" indent="-57168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AutoNum type="arabicPeriod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Secure backups and archives</a:t>
            </a: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3EB489-94DC-48F6-9040-20CF180F2D0C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8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0" name="Picture 21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1000"/>
    </mc:Choice>
    <mc:Fallback xmlns:p15="http://schemas.microsoft.com/office/powerpoint/2012/main" xmlns="">
      <p:transition spd="slow" advTm="51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2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Change Management Process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Document existing state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Determine impact of change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Seek approval for change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Test the change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Document changes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Review proposed change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Schedule change and Notify affected users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Deploy change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Test and report success</a:t>
            </a:r>
          </a:p>
          <a:p>
            <a:pPr marL="154440" indent="-15444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Close the change ticket</a:t>
            </a:r>
          </a:p>
        </p:txBody>
      </p:sp>
      <p:sp>
        <p:nvSpPr>
          <p:cNvPr id="223" name="PlaceHolder 3"/>
          <p:cNvSpPr>
            <a:spLocks noGrp="1"/>
          </p:cNvSpPr>
          <p:nvPr>
            <p:ph type="sldNum" idx="20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E9417E-32D8-4ABE-A2A4-4F552925697A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9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4" name="Picture 223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5000"/>
    </mc:Choice>
    <mc:Fallback xmlns:p15="http://schemas.microsoft.com/office/powerpoint/2012/main" xmlns="">
      <p:transition spd="slow" advTm="3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2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7 Steps to Securing a System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ldNum" idx="21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EB27F0-E914-4DF6-8306-08B752BC5834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10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7" name="Picture 22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0000"/>
    </mc:Choice>
    <mc:Fallback xmlns:p15="http://schemas.microsoft.com/office/powerpoint/2012/main" xmlns="">
      <p:transition spd="slow" advTm="10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2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500" b="0" strike="noStrike" spc="-1">
                <a:solidFill>
                  <a:srgbClr val="6F6F6F"/>
                </a:solidFill>
                <a:latin typeface="Arial"/>
              </a:rPr>
              <a:t>1) Change Default Account Settings</a:t>
            </a:r>
            <a:endParaRPr lang="en-US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Identify devices and software that come with default userids and passwords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Watch out for common administrator IDs (administrator, admin, root, sa)</a:t>
            </a:r>
          </a:p>
        </p:txBody>
      </p:sp>
      <p:sp>
        <p:nvSpPr>
          <p:cNvPr id="230" name="PlaceHolder 3"/>
          <p:cNvSpPr>
            <a:spLocks noGrp="1"/>
          </p:cNvSpPr>
          <p:nvPr>
            <p:ph type="sldNum" idx="22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694A9D-ECB8-4E4D-B2B5-4CEC9BD4D60C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11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1" name="Picture 230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000"/>
    </mc:Choice>
    <mc:Fallback xmlns:p15="http://schemas.microsoft.com/office/powerpoint/2012/main" xmlns="">
      <p:transition spd="slow" advTm="14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3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500" b="0" strike="noStrike" spc="-1">
                <a:solidFill>
                  <a:srgbClr val="6F6F6F"/>
                </a:solidFill>
                <a:latin typeface="Arial"/>
              </a:rPr>
              <a:t>Rename or Hide Administrator Accounts</a:t>
            </a:r>
            <a:endParaRPr lang="en-US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1" strike="noStrike" spc="-1">
                <a:solidFill>
                  <a:srgbClr val="000000"/>
                </a:solidFill>
                <a:latin typeface="Arial"/>
              </a:rPr>
              <a:t>Administrator</a:t>
            </a: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 is the first account an attacker would try, you could rename it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When you rename an account, document it (in the server black book?)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In Linux, generally leave </a:t>
            </a:r>
            <a:r>
              <a:rPr lang="en-US" sz="2880" b="1" strike="noStrike" spc="-1">
                <a:solidFill>
                  <a:srgbClr val="000000"/>
                </a:solidFill>
                <a:latin typeface="Arial"/>
              </a:rPr>
              <a:t>root</a:t>
            </a: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 alone, don't login directly as root, use </a:t>
            </a:r>
            <a:r>
              <a:rPr lang="en-US" sz="2880" b="1" strike="noStrike" spc="-1">
                <a:solidFill>
                  <a:srgbClr val="000000"/>
                </a:solidFill>
                <a:latin typeface="Arial"/>
              </a:rPr>
              <a:t>sudo</a:t>
            </a: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 or </a:t>
            </a:r>
            <a:r>
              <a:rPr lang="en-US" sz="2880" b="1" strike="noStrike" spc="-1">
                <a:solidFill>
                  <a:srgbClr val="000000"/>
                </a:solidFill>
                <a:latin typeface="Arial"/>
              </a:rPr>
              <a:t>su</a:t>
            </a: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Disable any Guest accounts</a:t>
            </a:r>
          </a:p>
        </p:txBody>
      </p:sp>
      <p:sp>
        <p:nvSpPr>
          <p:cNvPr id="234" name="PlaceHolder 3"/>
          <p:cNvSpPr>
            <a:spLocks noGrp="1"/>
          </p:cNvSpPr>
          <p:nvPr>
            <p:ph type="sldNum" idx="23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4E851F-A6BE-4CEA-83FE-1E91A1AC03DA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12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5" name="Picture 23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9000"/>
    </mc:Choice>
    <mc:Fallback xmlns:p15="http://schemas.microsoft.com/office/powerpoint/2012/main" xmlns="">
      <p:transition spd="slow" advTm="29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3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500" b="0" strike="noStrike" spc="-1">
                <a:solidFill>
                  <a:srgbClr val="6F6F6F"/>
                </a:solidFill>
                <a:latin typeface="Arial"/>
              </a:rPr>
              <a:t>2) Use Administrator accounts for administrative tasks only</a:t>
            </a:r>
            <a:endParaRPr lang="en-US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Administrator accounts are often used for day-to-day tasks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Login as a regular user and only run certain utilities as Administrator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Windows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1" strike="noStrike" spc="-1">
                <a:solidFill>
                  <a:srgbClr val="000000"/>
                </a:solidFill>
                <a:latin typeface="Arial"/>
              </a:rPr>
              <a:t>runas</a:t>
            </a:r>
            <a:endParaRPr lang="en-US" sz="216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Linux / UNIX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1" strike="noStrike" spc="-1">
                <a:solidFill>
                  <a:srgbClr val="000000"/>
                </a:solidFill>
                <a:latin typeface="Arial"/>
              </a:rPr>
              <a:t>su</a:t>
            </a: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 or </a:t>
            </a:r>
            <a:r>
              <a:rPr lang="en-US" sz="2160" b="1" strike="noStrike" spc="-1">
                <a:solidFill>
                  <a:srgbClr val="000000"/>
                </a:solidFill>
                <a:latin typeface="Arial"/>
              </a:rPr>
              <a:t>su -</a:t>
            </a:r>
            <a:r>
              <a:rPr lang="en-US" sz="2160" b="0" strike="noStrike" spc="-1">
                <a:solidFill>
                  <a:srgbClr val="000000"/>
                </a:solidFill>
                <a:latin typeface="Arial"/>
              </a:rPr>
              <a:t> 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160" b="1" strike="noStrike" spc="-1">
                <a:solidFill>
                  <a:srgbClr val="000000"/>
                </a:solidFill>
                <a:latin typeface="Arial"/>
              </a:rPr>
              <a:t>sudo</a:t>
            </a:r>
            <a:endParaRPr lang="en-US" sz="21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4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F8DE45-6F1C-46C6-BA60-95281237F7CF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13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9" name="Picture 23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000"/>
    </mc:Choice>
    <mc:Fallback xmlns:p15="http://schemas.microsoft.com/office/powerpoint/2012/main" xmlns="">
      <p:transition spd="slow" advTm="14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39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3) Identify Unused or Unnecessary Ports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Identifying Ports that are in use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1" strike="noStrike" spc="-1">
                <a:solidFill>
                  <a:srgbClr val="000000"/>
                </a:solidFill>
                <a:latin typeface="Arial"/>
              </a:rPr>
              <a:t>netstat</a:t>
            </a: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 – determine what is using each port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In Windows, </a:t>
            </a:r>
            <a:r>
              <a:rPr lang="en-US" sz="2520" b="1" strike="noStrike" spc="-1">
                <a:solidFill>
                  <a:srgbClr val="000000"/>
                </a:solidFill>
                <a:latin typeface="Arial"/>
              </a:rPr>
              <a:t>netstat -a</a:t>
            </a:r>
            <a:endParaRPr lang="en-US" sz="252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In Linux, </a:t>
            </a:r>
            <a:r>
              <a:rPr lang="en-US" sz="2520" b="1" strike="noStrike" spc="-1">
                <a:solidFill>
                  <a:srgbClr val="000000"/>
                </a:solidFill>
                <a:latin typeface="Arial"/>
              </a:rPr>
              <a:t>netstat –atvp</a:t>
            </a:r>
            <a:endParaRPr lang="en-US" sz="252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Fport</a:t>
            </a: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5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25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EBDF36-BC72-4E52-86C6-93EF37CA048B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14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3" name="Picture 24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6000"/>
    </mc:Choice>
    <mc:Fallback xmlns:p15="http://schemas.microsoft.com/office/powerpoint/2012/main" xmlns="">
      <p:transition spd="slow" advTm="36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4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Identifying Listening Ports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000" lnSpcReduction="10000"/>
          </a:bodyPr>
          <a:lstStyle/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21 – FTP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23 – telnet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25 – SMTP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53 – DNS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80 – HTTP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110 – POP3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135, 137, 139 – NetBIOS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143 – IMAP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161 - SNMP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443 – HTTPS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1433 – MS SQL Server</a:t>
            </a:r>
          </a:p>
          <a:p>
            <a:pPr marL="156600" indent="-1566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31337 – Back Orifice</a:t>
            </a:r>
          </a:p>
        </p:txBody>
      </p:sp>
      <p:sp>
        <p:nvSpPr>
          <p:cNvPr id="246" name="PlaceHolder 3"/>
          <p:cNvSpPr>
            <a:spLocks noGrp="1"/>
          </p:cNvSpPr>
          <p:nvPr>
            <p:ph type="sldNum" idx="26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F71192-DB9E-4946-82D9-C173CF93F1D3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15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7" name="Picture 24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/>
    </mc:Choice>
    <mc:Fallback xmlns:p15="http://schemas.microsoft.com/office/powerpoint/2012/main" xmlns="">
      <p:transition spd="slow"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4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4) Disable Unused and Unnecessary Services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Windows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Administrative Tools / Services or </a:t>
            </a:r>
            <a:r>
              <a:rPr lang="en-US" sz="2520" b="1" strike="noStrike" spc="-1">
                <a:solidFill>
                  <a:srgbClr val="000000"/>
                </a:solidFill>
                <a:latin typeface="Arial"/>
              </a:rPr>
              <a:t>Run / services.msc</a:t>
            </a:r>
            <a:endParaRPr lang="en-US" sz="252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Determining startup configuration: </a:t>
            </a:r>
            <a:r>
              <a:rPr lang="en-US" sz="2520" b="1" strike="noStrike" spc="-1">
                <a:solidFill>
                  <a:srgbClr val="000000"/>
                </a:solidFill>
                <a:latin typeface="Arial"/>
              </a:rPr>
              <a:t>msconfig</a:t>
            </a:r>
            <a:endParaRPr lang="en-US" sz="252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Linux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ps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top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chkconfig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sldNum" idx="27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0EAE35-1263-4785-8F99-38FFE341042E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16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1" name="Picture 250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0000"/>
    </mc:Choice>
    <mc:Fallback xmlns:p15="http://schemas.microsoft.com/office/powerpoint/2012/main" xmlns="">
      <p:transition spd="slow" advTm="10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51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5) Remove Rogue Connections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Users will be users…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Find all wireless access points</a:t>
            </a:r>
          </a:p>
        </p:txBody>
      </p:sp>
      <p:sp>
        <p:nvSpPr>
          <p:cNvPr id="254" name="PlaceHolder 3"/>
          <p:cNvSpPr>
            <a:spLocks noGrp="1"/>
          </p:cNvSpPr>
          <p:nvPr>
            <p:ph type="sldNum" idx="28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9C52B0-E491-4AD7-A5CC-2EA06B1A8863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17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5" name="Picture 25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9000"/>
    </mc:Choice>
    <mc:Fallback xmlns:p15="http://schemas.microsoft.com/office/powerpoint/2012/main" xmlns="">
      <p:transition spd="slow" advTm="19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5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6) Set Up Filters for Malicious Content for Each OS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514440" indent="-51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Provide protection from virus intrusion</a:t>
            </a:r>
          </a:p>
          <a:p>
            <a:pPr marL="514440" indent="-51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Detect virus infections</a:t>
            </a:r>
          </a:p>
          <a:p>
            <a:pPr marL="514440" indent="-51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Provide recovery from infections</a:t>
            </a:r>
          </a:p>
        </p:txBody>
      </p:sp>
      <p:sp>
        <p:nvSpPr>
          <p:cNvPr id="258" name="PlaceHolder 3"/>
          <p:cNvSpPr>
            <a:spLocks noGrp="1"/>
          </p:cNvSpPr>
          <p:nvPr>
            <p:ph type="sldNum" idx="29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9900EF-FBCC-4F4F-8F97-7AC4CA6ADFC8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18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9" name="Picture 25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6000"/>
    </mc:Choice>
    <mc:Fallback xmlns:p15="http://schemas.microsoft.com/office/powerpoint/2012/main" xmlns="">
      <p:transition spd="slow" advTm="36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59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7) Test Backup and Restore Procedures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Very important to test the restore process</a:t>
            </a: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5E9C0C-835F-4A38-8113-102C64C05F51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19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3" name="Picture 26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2000"/>
    </mc:Choice>
    <mc:Fallback xmlns:p15="http://schemas.microsoft.com/office/powerpoint/2012/main" xmlns="">
      <p:transition spd="slow" advTm="12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6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Summary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1) Change default account settings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2) Rename Administrator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3) Identify ports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4) Disable services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5) Remove rogue connections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6) Filter malicious content</a:t>
            </a: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7) Test backup and restore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Whatever you do… document, document, document</a:t>
            </a:r>
          </a:p>
        </p:txBody>
      </p:sp>
      <p:sp>
        <p:nvSpPr>
          <p:cNvPr id="266" name="PlaceHolder 3"/>
          <p:cNvSpPr>
            <a:spLocks noGrp="1"/>
          </p:cNvSpPr>
          <p:nvPr>
            <p:ph type="sldNum" idx="31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FC15A9-CD5D-411B-A48B-5DFFB5739F48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20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7" name="Picture 26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4000"/>
    </mc:Choice>
    <mc:Fallback xmlns:p15="http://schemas.microsoft.com/office/powerpoint/2012/main" xmlns="">
      <p:transition spd="slow" advTm="54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67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PHP Syntax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CA" sz="2880" b="0" strike="noStrike" spc="-1">
                <a:solidFill>
                  <a:srgbClr val="000000"/>
                </a:solidFill>
                <a:latin typeface="Arial"/>
              </a:rPr>
              <a:t>In this course, we've used PHP as a learning tool</a:t>
            </a: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CA" sz="2880" b="0" strike="noStrike" spc="-1">
                <a:solidFill>
                  <a:srgbClr val="000000"/>
                </a:solidFill>
                <a:latin typeface="Arial"/>
              </a:rPr>
              <a:t>Rules for variable names ($)</a:t>
            </a: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CA" sz="2880" b="0" strike="noStrike" spc="-1">
                <a:solidFill>
                  <a:srgbClr val="000000"/>
                </a:solidFill>
                <a:latin typeface="Arial"/>
              </a:rPr>
              <a:t>Operators (&gt;, &lt;, !=, ===)</a:t>
            </a: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CA" sz="2880" b="0" strike="noStrike" spc="-1">
                <a:solidFill>
                  <a:srgbClr val="000000"/>
                </a:solidFill>
                <a:latin typeface="Arial"/>
              </a:rPr>
              <a:t>Testing form input ($_GET, $_POST)</a:t>
            </a:r>
            <a:endParaRPr lang="en-US" sz="28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Picture 26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7000"/>
    </mc:Choice>
    <mc:Fallback xmlns:p15="http://schemas.microsoft.com/office/powerpoint/2012/main" xmlns="">
      <p:transition spd="slow" advTm="27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70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Topics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PHP variables, functions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Form handling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General server environment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MySQL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Accessing MySQL from PHP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General security concepts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Passwords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</a:pP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32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7A5995-91E1-4FD3-BF8D-F8C02A32C5CB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22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4" name="Picture 273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9000"/>
    </mc:Choice>
    <mc:Fallback xmlns:p15="http://schemas.microsoft.com/office/powerpoint/2012/main" xmlns="">
      <p:transition spd="slow" advTm="19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7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Test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During regular class time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520" b="0" strike="noStrike" spc="-1" dirty="0">
                <a:solidFill>
                  <a:srgbClr val="000000"/>
                </a:solidFill>
                <a:latin typeface="Arial"/>
              </a:rPr>
              <a:t>Maximum 2 hours</a:t>
            </a:r>
            <a:endParaRPr lang="en-US" sz="252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880" b="0" strike="noStrike" spc="-1" dirty="0">
                <a:solidFill>
                  <a:srgbClr val="000000"/>
                </a:solidFill>
                <a:latin typeface="Arial"/>
              </a:rPr>
              <a:t>30 questions multiple choice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CA" sz="2520" b="0" strike="noStrike" spc="-1" dirty="0">
                <a:solidFill>
                  <a:srgbClr val="000000"/>
                </a:solidFill>
                <a:latin typeface="Arial"/>
              </a:rPr>
              <a:t>(20% of final grade)</a:t>
            </a:r>
            <a:endParaRPr lang="en-US" sz="252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3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E979AD-AADF-45E3-B30F-CF14D9EAC39D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23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8" name="Picture 27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400" y="6218280"/>
            <a:ext cx="487080" cy="48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5000"/>
    </mc:Choice>
    <mc:Fallback xmlns:p15="http://schemas.microsoft.com/office/powerpoint/2012/main" xmlns="">
      <p:transition spd="slow" advTm="1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278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References</a:t>
            </a:r>
            <a:endParaRPr lang="en-US" sz="3959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360" cy="407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u="sng" strike="noStrike" spc="-1" dirty="0">
                <a:solidFill>
                  <a:srgbClr val="000000"/>
                </a:solidFill>
                <a:uFillTx/>
                <a:latin typeface="Arial"/>
              </a:rPr>
              <a:t>Head First PHP and MySQL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SANS top 20 attacks: </a:t>
            </a:r>
            <a:r>
              <a:rPr lang="en-US" sz="2880" b="0" u="sng" strike="noStrike" spc="-1" dirty="0">
                <a:solidFill>
                  <a:srgbClr val="CC9900"/>
                </a:solidFill>
                <a:uFillTx/>
                <a:latin typeface="Arial"/>
                <a:hlinkClick r:id="rId2"/>
              </a:rPr>
              <a:t>http://www.sans.org/top20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u="sng" strike="noStrike" spc="-1" dirty="0">
                <a:solidFill>
                  <a:srgbClr val="CC9900"/>
                </a:solidFill>
                <a:uFillTx/>
                <a:latin typeface="Arial"/>
                <a:hlinkClick r:id="rId3"/>
              </a:rPr>
              <a:t>www.wikipedia.org</a:t>
            </a:r>
            <a:endParaRPr lang="en-US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John Mallery et al.  </a:t>
            </a:r>
            <a:r>
              <a:rPr lang="en-US" sz="2880" b="0" u="sng" strike="noStrike" spc="-1" dirty="0">
                <a:solidFill>
                  <a:srgbClr val="000000"/>
                </a:solidFill>
                <a:uFillTx/>
                <a:latin typeface="Arial"/>
              </a:rPr>
              <a:t>Hardening: Network Security</a:t>
            </a: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.  McGraw Hill Osborne, 2005.</a:t>
            </a: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Cisco Learning Institute.  </a:t>
            </a:r>
            <a:r>
              <a:rPr lang="en-US" sz="2880" b="0" u="sng" strike="noStrike" spc="-1" dirty="0">
                <a:solidFill>
                  <a:srgbClr val="000000"/>
                </a:solidFill>
                <a:uFillTx/>
                <a:latin typeface="Arial"/>
              </a:rPr>
              <a:t>Security+ Guide to Network Security Fundamentals</a:t>
            </a: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283" name="PlaceHolder 3"/>
          <p:cNvSpPr>
            <a:spLocks noGrp="1"/>
          </p:cNvSpPr>
          <p:nvPr>
            <p:ph type="sldNum" idx="35"/>
          </p:nvPr>
        </p:nvSpPr>
        <p:spPr>
          <a:xfrm>
            <a:off x="10398960" y="6356520"/>
            <a:ext cx="95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23FB8B-9CF6-4494-A88E-A84E12BB1C41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24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1_fanshawe2014ppt_16x10">
  <a:themeElements>
    <a:clrScheme name="Custom 1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anshawe2014ppt_16x10">
  <a:themeElements>
    <a:clrScheme name="Custom 1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fanshawe2014ppt_16x10">
  <a:themeElements>
    <a:clrScheme name="Custom 1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1466</TotalTime>
  <Words>794</Words>
  <Application>Microsoft Office PowerPoint</Application>
  <PresentationFormat>Widescreen</PresentationFormat>
  <Paragraphs>176</Paragraphs>
  <Slides>24</Slides>
  <Notes>3</Notes>
  <HiddenSlides>0</HiddenSlides>
  <MMClips>22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Symbol</vt:lpstr>
      <vt:lpstr>Times New Roman</vt:lpstr>
      <vt:lpstr>Wingdings</vt:lpstr>
      <vt:lpstr>1_fanshawe2014ppt_16x10</vt:lpstr>
      <vt:lpstr>1_fanshawe2014ppt_16x10</vt:lpstr>
      <vt:lpstr>1_fanshawe2014ppt_16x10</vt:lpstr>
      <vt:lpstr> INFO3068 Midterm Checkpoint</vt:lpstr>
      <vt:lpstr>Upcoming Events</vt:lpstr>
      <vt:lpstr>Understanding Security: "CIA"</vt:lpstr>
      <vt:lpstr>Threats</vt:lpstr>
      <vt:lpstr>Security Strategy</vt:lpstr>
      <vt:lpstr>Security of System Resources</vt:lpstr>
      <vt:lpstr>Securing Resources</vt:lpstr>
      <vt:lpstr>Database Servers</vt:lpstr>
      <vt:lpstr>Change Management Process</vt:lpstr>
      <vt:lpstr>7 Steps to Securing a System</vt:lpstr>
      <vt:lpstr>1) Change Default Account Settings</vt:lpstr>
      <vt:lpstr>Rename or Hide Administrator Accounts</vt:lpstr>
      <vt:lpstr>2) Use Administrator accounts for administrative tasks only</vt:lpstr>
      <vt:lpstr>3) Identify Unused or Unnecessary Ports</vt:lpstr>
      <vt:lpstr>Identifying Listening Ports</vt:lpstr>
      <vt:lpstr>4) Disable Unused and Unnecessary Services</vt:lpstr>
      <vt:lpstr>5) Remove Rogue Connections</vt:lpstr>
      <vt:lpstr>6) Set Up Filters for Malicious Content for Each OS</vt:lpstr>
      <vt:lpstr>7) Test Backup and Restore Procedures</vt:lpstr>
      <vt:lpstr>Summary</vt:lpstr>
      <vt:lpstr>PHP Syntax</vt:lpstr>
      <vt:lpstr>Topics</vt:lpstr>
      <vt:lpstr>Test</vt:lpstr>
      <vt:lpstr>References</vt:lpstr>
    </vt:vector>
  </TitlesOfParts>
  <Company>Fanshawe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Review</dc:title>
  <dc:subject>INFO3068 Secure Computing</dc:subject>
  <dc:creator>Darryl Bedford</dc:creator>
  <dc:description/>
  <cp:lastModifiedBy>mohammed ali</cp:lastModifiedBy>
  <cp:revision>206</cp:revision>
  <dcterms:created xsi:type="dcterms:W3CDTF">2000-08-28T18:01:16Z</dcterms:created>
  <dcterms:modified xsi:type="dcterms:W3CDTF">2025-09-26T15:22:00Z</dcterms:modified>
  <cp:category>Presenter</cp:category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28</vt:i4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30</vt:i4>
  </property>
</Properties>
</file>