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6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316" r:id="rId38"/>
    <p:sldId id="315" r:id="rId39"/>
    <p:sldId id="317" r:id="rId40"/>
    <p:sldId id="289" r:id="rId41"/>
    <p:sldId id="290" r:id="rId42"/>
    <p:sldId id="292" r:id="rId43"/>
    <p:sldId id="293" r:id="rId44"/>
    <p:sldId id="294" r:id="rId45"/>
    <p:sldId id="295" r:id="rId46"/>
    <p:sldId id="296" r:id="rId47"/>
    <p:sldId id="297" r:id="rId48"/>
    <p:sldId id="298" r:id="rId49"/>
    <p:sldId id="299" r:id="rId50"/>
    <p:sldId id="301" r:id="rId51"/>
    <p:sldId id="302" r:id="rId52"/>
    <p:sldId id="303" r:id="rId53"/>
    <p:sldId id="304" r:id="rId54"/>
    <p:sldId id="305" r:id="rId55"/>
    <p:sldId id="306" r:id="rId56"/>
    <p:sldId id="307" r:id="rId57"/>
    <p:sldId id="309" r:id="rId58"/>
    <p:sldId id="310" r:id="rId59"/>
    <p:sldId id="311" r:id="rId60"/>
    <p:sldId id="312" r:id="rId61"/>
    <p:sldId id="313" r:id="rId62"/>
    <p:sldId id="314" r:id="rId63"/>
  </p:sldIdLst>
  <p:sldSz cx="12192000" cy="6858000"/>
  <p:notesSz cx="6858000" cy="9083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8"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3959" b="0" strike="noStrike" spc="-1">
                <a:solidFill>
                  <a:srgbClr val="FFFFFF"/>
                </a:solidFill>
                <a:latin typeface="Arial"/>
              </a:rPr>
              <a:t>Click to move the slide</a:t>
            </a:r>
          </a:p>
        </p:txBody>
      </p:sp>
      <p:sp>
        <p:nvSpPr>
          <p:cNvPr id="15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16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61"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62"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63"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AE34BAEF-25EB-416A-AA58-12430BA78A09}"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ity-ftp.fanshawec.ca/"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troutworks.com/phpbook"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PlaceHolder 1"/>
          <p:cNvSpPr>
            <a:spLocks noGrp="1"/>
          </p:cNvSpPr>
          <p:nvPr>
            <p:ph type="sldNum" idx="41"/>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defRPr>
            </a:lvl1pPr>
          </a:lstStyle>
          <a:p>
            <a:pPr indent="0" algn="r">
              <a:lnSpc>
                <a:spcPct val="100000"/>
              </a:lnSpc>
              <a:buNone/>
            </a:pPr>
            <a:fld id="{63C8B5C6-5A85-4373-ADBB-C88BEFAA4D25}" type="slidenum">
              <a:rPr lang="en-US" sz="1200" b="0" strike="noStrike" spc="-1">
                <a:solidFill>
                  <a:srgbClr val="000000"/>
                </a:solidFill>
                <a:latin typeface="Arial"/>
              </a:rPr>
              <a:t>1</a:t>
            </a:fld>
            <a:endParaRPr lang="en-US" sz="1200" b="0" strike="noStrike" spc="-1">
              <a:solidFill>
                <a:srgbClr val="000000"/>
              </a:solidFill>
              <a:latin typeface="Times New Roman"/>
            </a:endParaRPr>
          </a:p>
        </p:txBody>
      </p:sp>
      <p:sp>
        <p:nvSpPr>
          <p:cNvPr id="314" name="PlaceHolder 2"/>
          <p:cNvSpPr>
            <a:spLocks noGrp="1" noRot="1" noChangeAspect="1"/>
          </p:cNvSpPr>
          <p:nvPr>
            <p:ph type="sldImg"/>
          </p:nvPr>
        </p:nvSpPr>
        <p:spPr>
          <a:xfrm>
            <a:off x="401638" y="681038"/>
            <a:ext cx="6056312" cy="3406775"/>
          </a:xfrm>
          <a:prstGeom prst="rect">
            <a:avLst/>
          </a:prstGeom>
          <a:ln w="0">
            <a:noFill/>
          </a:ln>
        </p:spPr>
      </p:sp>
      <p:sp>
        <p:nvSpPr>
          <p:cNvPr id="315" name="PlaceHolder 3"/>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0">
              <a:lnSpc>
                <a:spcPct val="100000"/>
              </a:lnSpc>
              <a:buNone/>
            </a:pPr>
            <a:r>
              <a:rPr lang="en-CA" sz="2000" b="0" strike="noStrike" spc="-1">
                <a:solidFill>
                  <a:srgbClr val="000000"/>
                </a:solidFill>
                <a:latin typeface="Arial"/>
              </a:rPr>
              <a:t>http://xkcd.com/257/</a:t>
            </a:r>
            <a:endParaRPr lang="en-US" sz="2000" b="0" strike="noStrike" spc="-1">
              <a:solidFill>
                <a:srgbClr val="000000"/>
              </a:solidFill>
              <a:latin typeface="Arial"/>
            </a:endParaRPr>
          </a:p>
          <a:p>
            <a:pPr marL="216000" indent="0">
              <a:lnSpc>
                <a:spcPct val="100000"/>
              </a:lnSpc>
              <a:buNone/>
            </a:pPr>
            <a:r>
              <a:rPr lang="en-CA" sz="2000" b="0" strike="noStrike" spc="-1">
                <a:solidFill>
                  <a:srgbClr val="000000"/>
                </a:solidFill>
                <a:latin typeface="Arial"/>
              </a:rPr>
              <a:t>Revised for Fall 2020</a:t>
            </a:r>
            <a:endParaRPr lang="en-US" sz="2000" b="0" strike="noStrike" spc="-1">
              <a:solidFill>
                <a:srgbClr val="000000"/>
              </a:solidFill>
              <a:latin typeface="Arial"/>
            </a:endParaRPr>
          </a:p>
          <a:p>
            <a:pPr marL="216000" indent="0">
              <a:lnSpc>
                <a:spcPct val="100000"/>
              </a:lnSpc>
              <a:buNone/>
            </a:pPr>
            <a:endParaRPr lang="en-US" sz="20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sldNum" idx="42"/>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defRPr>
            </a:lvl1pPr>
          </a:lstStyle>
          <a:p>
            <a:pPr indent="0" algn="r">
              <a:lnSpc>
                <a:spcPct val="100000"/>
              </a:lnSpc>
              <a:buNone/>
            </a:pPr>
            <a:fld id="{2D7A22B9-5DBD-4454-8689-2EEFDD118429}" type="slidenum">
              <a:rPr lang="en-US" sz="1200" b="0" strike="noStrike" spc="-1">
                <a:solidFill>
                  <a:srgbClr val="000000"/>
                </a:solidFill>
                <a:latin typeface="Arial"/>
              </a:rPr>
              <a:t>5</a:t>
            </a:fld>
            <a:endParaRPr lang="en-US" sz="1200" b="0" strike="noStrike" spc="-1">
              <a:solidFill>
                <a:srgbClr val="000000"/>
              </a:solidFill>
              <a:latin typeface="Times New Roman"/>
            </a:endParaRPr>
          </a:p>
        </p:txBody>
      </p:sp>
      <p:sp>
        <p:nvSpPr>
          <p:cNvPr id="317" name="PlaceHolder 2"/>
          <p:cNvSpPr>
            <a:spLocks noGrp="1" noRot="1" noChangeAspect="1"/>
          </p:cNvSpPr>
          <p:nvPr>
            <p:ph type="sldImg"/>
          </p:nvPr>
        </p:nvSpPr>
        <p:spPr>
          <a:xfrm>
            <a:off x="401760" y="681120"/>
            <a:ext cx="6055920" cy="3406320"/>
          </a:xfrm>
          <a:prstGeom prst="rect">
            <a:avLst/>
          </a:prstGeom>
          <a:ln w="0">
            <a:noFill/>
          </a:ln>
        </p:spPr>
      </p:sp>
      <p:sp>
        <p:nvSpPr>
          <p:cNvPr id="318" name="PlaceHolder 3"/>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216000">
              <a:lnSpc>
                <a:spcPct val="100000"/>
              </a:lnSpc>
              <a:buClr>
                <a:srgbClr val="000000"/>
              </a:buClr>
              <a:buFont typeface="Symbol" charset="2"/>
              <a:buChar char=""/>
            </a:pPr>
            <a:r>
              <a:rPr lang="en-US" sz="2000" b="1" strike="noStrike" spc="-1">
                <a:solidFill>
                  <a:srgbClr val="000000"/>
                </a:solidFill>
                <a:latin typeface="Arial"/>
              </a:rPr>
              <a:t>What is PHP?</a:t>
            </a:r>
            <a:endParaRPr lang="en-US" sz="2000" b="0" strike="noStrike" spc="-1">
              <a:solidFill>
                <a:srgbClr val="000000"/>
              </a:solidFill>
              <a:latin typeface="Arial"/>
            </a:endParaRPr>
          </a:p>
          <a:p>
            <a:pPr marL="216000" lvl="1" indent="-216000">
              <a:lnSpc>
                <a:spcPct val="100000"/>
              </a:lnSpc>
              <a:buClr>
                <a:srgbClr val="000000"/>
              </a:buClr>
              <a:buFont typeface="Symbol" charset="2"/>
              <a:buChar char=""/>
            </a:pPr>
            <a:r>
              <a:rPr lang="en-US" sz="2000" b="0" strike="noStrike" spc="-1">
                <a:solidFill>
                  <a:srgbClr val="000000"/>
                </a:solidFill>
                <a:latin typeface="Arial"/>
              </a:rPr>
              <a:t>What does PHP stand for?</a:t>
            </a:r>
          </a:p>
          <a:p>
            <a:pPr marL="216000" lvl="1" indent="-216000">
              <a:lnSpc>
                <a:spcPct val="100000"/>
              </a:lnSpc>
              <a:buClr>
                <a:srgbClr val="000000"/>
              </a:buClr>
              <a:buFont typeface="Symbol" charset="2"/>
              <a:buChar char=""/>
            </a:pPr>
            <a:r>
              <a:rPr lang="en-US" sz="2000" b="0" strike="noStrike" spc="-1">
                <a:solidFill>
                  <a:srgbClr val="000000"/>
                </a:solidFill>
                <a:latin typeface="Arial"/>
              </a:rPr>
              <a:t>How it works.</a:t>
            </a:r>
          </a:p>
          <a:p>
            <a:pPr marL="216000" indent="-216000">
              <a:lnSpc>
                <a:spcPct val="100000"/>
              </a:lnSpc>
              <a:buClr>
                <a:srgbClr val="000000"/>
              </a:buClr>
              <a:buFont typeface="Symbol" charset="2"/>
              <a:buChar char=""/>
            </a:pPr>
            <a:r>
              <a:rPr lang="en-US" sz="2000" b="1" strike="noStrike" spc="-1">
                <a:solidFill>
                  <a:srgbClr val="000000"/>
                </a:solidFill>
                <a:latin typeface="Arial"/>
              </a:rPr>
              <a:t>History</a:t>
            </a:r>
            <a:endParaRPr lang="en-US" sz="2000" b="0" strike="noStrike" spc="-1">
              <a:solidFill>
                <a:srgbClr val="000000"/>
              </a:solidFill>
              <a:latin typeface="Arial"/>
            </a:endParaRPr>
          </a:p>
          <a:p>
            <a:pPr marL="216000" lvl="1" indent="-216000">
              <a:lnSpc>
                <a:spcPct val="100000"/>
              </a:lnSpc>
              <a:buClr>
                <a:srgbClr val="000000"/>
              </a:buClr>
              <a:buFont typeface="Symbol" charset="2"/>
              <a:buChar char=""/>
            </a:pPr>
            <a:r>
              <a:rPr lang="en-US" sz="2000" b="0" strike="noStrike" spc="-1">
                <a:solidFill>
                  <a:srgbClr val="000000"/>
                </a:solidFill>
                <a:latin typeface="Arial"/>
              </a:rPr>
              <a:t>Who invented it and how it got to where it is today?</a:t>
            </a:r>
          </a:p>
          <a:p>
            <a:pPr marL="216000" indent="-216000">
              <a:lnSpc>
                <a:spcPct val="100000"/>
              </a:lnSpc>
              <a:buClr>
                <a:srgbClr val="000000"/>
              </a:buClr>
              <a:buFont typeface="Symbol" charset="2"/>
              <a:buChar char=""/>
            </a:pPr>
            <a:r>
              <a:rPr lang="en-US" sz="2000" b="1" strike="noStrike" spc="-1">
                <a:solidFill>
                  <a:srgbClr val="000000"/>
                </a:solidFill>
                <a:latin typeface="Arial"/>
              </a:rPr>
              <a:t>Features</a:t>
            </a:r>
            <a:endParaRPr lang="en-US" sz="2000" b="0" strike="noStrike" spc="-1">
              <a:solidFill>
                <a:srgbClr val="000000"/>
              </a:solidFill>
              <a:latin typeface="Arial"/>
            </a:endParaRPr>
          </a:p>
          <a:p>
            <a:pPr marL="216000" lvl="1" indent="-216000">
              <a:lnSpc>
                <a:spcPct val="100000"/>
              </a:lnSpc>
              <a:buClr>
                <a:srgbClr val="000000"/>
              </a:buClr>
              <a:buFont typeface="Symbol" charset="2"/>
              <a:buChar char=""/>
            </a:pPr>
            <a:r>
              <a:rPr lang="en-US" sz="2000" b="0" strike="noStrike" spc="-1">
                <a:solidFill>
                  <a:srgbClr val="000000"/>
                </a:solidFill>
                <a:latin typeface="Arial"/>
              </a:rPr>
              <a:t>Why choose PHP?</a:t>
            </a:r>
          </a:p>
          <a:p>
            <a:pPr marL="216000" indent="-216000">
              <a:lnSpc>
                <a:spcPct val="100000"/>
              </a:lnSpc>
              <a:buClr>
                <a:srgbClr val="000000"/>
              </a:buClr>
              <a:buFont typeface="Symbol" charset="2"/>
              <a:buChar char=""/>
            </a:pPr>
            <a:r>
              <a:rPr lang="en-US" sz="2000" b="1" strike="noStrike" spc="-1">
                <a:solidFill>
                  <a:srgbClr val="000000"/>
                </a:solidFill>
                <a:latin typeface="Arial"/>
              </a:rPr>
              <a:t>Basic Configuration</a:t>
            </a:r>
            <a:endParaRPr lang="en-US" sz="2000" b="0" strike="noStrike" spc="-1">
              <a:solidFill>
                <a:srgbClr val="000000"/>
              </a:solidFill>
              <a:latin typeface="Arial"/>
            </a:endParaRPr>
          </a:p>
          <a:p>
            <a:pPr marL="216000" lvl="1" indent="-216000">
              <a:lnSpc>
                <a:spcPct val="100000"/>
              </a:lnSpc>
              <a:buClr>
                <a:srgbClr val="000000"/>
              </a:buClr>
              <a:buFont typeface="Symbol" charset="2"/>
              <a:buChar char=""/>
            </a:pPr>
            <a:r>
              <a:rPr lang="en-US" sz="2000" b="0" strike="noStrike" spc="-1">
                <a:solidFill>
                  <a:srgbClr val="000000"/>
                </a:solidFill>
                <a:latin typeface="Arial"/>
              </a:rPr>
              <a:t>How and where to get installation information.</a:t>
            </a:r>
          </a:p>
          <a:p>
            <a:pPr marL="216000" lvl="1" indent="-216000">
              <a:lnSpc>
                <a:spcPct val="100000"/>
              </a:lnSpc>
              <a:buClr>
                <a:srgbClr val="000000"/>
              </a:buClr>
              <a:buFont typeface="Symbol" charset="2"/>
              <a:buChar char=""/>
            </a:pPr>
            <a:r>
              <a:rPr lang="en-US" sz="2000" b="0" strike="noStrike" spc="-1">
                <a:solidFill>
                  <a:srgbClr val="000000"/>
                </a:solidFill>
                <a:latin typeface="Arial"/>
              </a:rPr>
              <a:t>How to change PHP’s behaviour once it is installed.</a:t>
            </a:r>
          </a:p>
          <a:p>
            <a:pPr marL="216000" indent="-216000">
              <a:lnSpc>
                <a:spcPct val="100000"/>
              </a:lnSpc>
              <a:buClr>
                <a:srgbClr val="000000"/>
              </a:buClr>
              <a:buFont typeface="Symbol" charset="2"/>
              <a:buChar char=""/>
            </a:pPr>
            <a:r>
              <a:rPr lang="en-US" sz="2000" b="1" strike="noStrike" spc="-1">
                <a:solidFill>
                  <a:srgbClr val="000000"/>
                </a:solidFill>
                <a:latin typeface="Arial"/>
              </a:rPr>
              <a:t>First PHP script.</a:t>
            </a:r>
            <a:endParaRPr lang="en-US" sz="2000" b="0" strike="noStrike" spc="-1">
              <a:solidFill>
                <a:srgbClr val="000000"/>
              </a:solidFill>
              <a:latin typeface="Arial"/>
            </a:endParaRPr>
          </a:p>
          <a:p>
            <a:pPr marL="216000" lvl="1" indent="-216000">
              <a:lnSpc>
                <a:spcPct val="100000"/>
              </a:lnSpc>
              <a:buClr>
                <a:srgbClr val="000000"/>
              </a:buClr>
              <a:buFont typeface="Symbol" charset="2"/>
              <a:buChar char=""/>
            </a:pPr>
            <a:r>
              <a:rPr lang="en-US" sz="2000" b="0" strike="noStrike" spc="-1">
                <a:solidFill>
                  <a:srgbClr val="000000"/>
                </a:solidFill>
                <a:latin typeface="Arial"/>
              </a:rPr>
              <a:t>A basic script to ensure that it is installed on everyone’s machine correctly.</a:t>
            </a:r>
          </a:p>
          <a:p>
            <a:pPr marL="216000" indent="0">
              <a:lnSpc>
                <a:spcPct val="100000"/>
              </a:lnSpc>
              <a:buNone/>
            </a:pPr>
            <a:r>
              <a:rPr lang="en-US" sz="2000" b="0" strike="noStrike" spc="-1">
                <a:solidFill>
                  <a:srgbClr val="000000"/>
                </a:solidFill>
                <a:latin typeface="Arial"/>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sldNum" idx="43"/>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defRPr>
            </a:lvl1pPr>
          </a:lstStyle>
          <a:p>
            <a:pPr indent="0" algn="r">
              <a:lnSpc>
                <a:spcPct val="100000"/>
              </a:lnSpc>
              <a:buNone/>
            </a:pPr>
            <a:fld id="{4634B611-BAF5-4426-830C-23E9CE4B6C99}" type="slidenum">
              <a:rPr lang="en-US" sz="1200" b="0" strike="noStrike" spc="-1">
                <a:solidFill>
                  <a:srgbClr val="000000"/>
                </a:solidFill>
                <a:latin typeface="Arial"/>
              </a:rPr>
              <a:t>6</a:t>
            </a:fld>
            <a:endParaRPr lang="en-US" sz="1200" b="0" strike="noStrike" spc="-1">
              <a:solidFill>
                <a:srgbClr val="000000"/>
              </a:solidFill>
              <a:latin typeface="Times New Roman"/>
            </a:endParaRPr>
          </a:p>
        </p:txBody>
      </p:sp>
      <p:sp>
        <p:nvSpPr>
          <p:cNvPr id="320" name="PlaceHolder 2"/>
          <p:cNvSpPr>
            <a:spLocks noGrp="1" noRot="1" noChangeAspect="1"/>
          </p:cNvSpPr>
          <p:nvPr>
            <p:ph type="sldImg"/>
          </p:nvPr>
        </p:nvSpPr>
        <p:spPr>
          <a:xfrm>
            <a:off x="401638" y="681038"/>
            <a:ext cx="6056312" cy="3406775"/>
          </a:xfrm>
          <a:prstGeom prst="rect">
            <a:avLst/>
          </a:prstGeom>
          <a:ln w="0">
            <a:noFill/>
          </a:ln>
        </p:spPr>
      </p:sp>
      <p:sp>
        <p:nvSpPr>
          <p:cNvPr id="321" name="PlaceHolder 3"/>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216000">
              <a:lnSpc>
                <a:spcPct val="80000"/>
              </a:lnSpc>
              <a:buClr>
                <a:srgbClr val="000000"/>
              </a:buClr>
              <a:buFont typeface="Symbol" charset="2"/>
              <a:buChar char=""/>
            </a:pPr>
            <a:r>
              <a:rPr lang="en-US" sz="800" b="1" strike="noStrike" spc="-1">
                <a:solidFill>
                  <a:srgbClr val="000000"/>
                </a:solidFill>
                <a:latin typeface="Arial"/>
              </a:rPr>
              <a:t>PHP: Hypertext Preprocessor</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Was originally known as Personal Home Page but now stands for PHP: Hypertext preprocessor.</a:t>
            </a:r>
          </a:p>
          <a:p>
            <a:pPr marL="216000" indent="-216000">
              <a:lnSpc>
                <a:spcPct val="80000"/>
              </a:lnSpc>
              <a:buClr>
                <a:srgbClr val="000000"/>
              </a:buClr>
              <a:buFont typeface="Symbol" charset="2"/>
              <a:buChar char=""/>
            </a:pPr>
            <a:r>
              <a:rPr lang="en-US" sz="800" b="1" strike="noStrike" spc="-1">
                <a:solidFill>
                  <a:srgbClr val="000000"/>
                </a:solidFill>
                <a:latin typeface="Arial"/>
              </a:rPr>
              <a:t>Home page on the web www.php.net</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The home page for php is www.php.net. There you will find:</a:t>
            </a:r>
          </a:p>
          <a:p>
            <a:pPr marL="216000" lvl="2" indent="-216000">
              <a:lnSpc>
                <a:spcPct val="80000"/>
              </a:lnSpc>
              <a:buClr>
                <a:srgbClr val="000000"/>
              </a:buClr>
              <a:buFont typeface="Symbol" charset="2"/>
              <a:buChar char=""/>
            </a:pPr>
            <a:r>
              <a:rPr lang="en-US" sz="800" b="0" strike="noStrike" spc="-1">
                <a:solidFill>
                  <a:srgbClr val="000000"/>
                </a:solidFill>
                <a:latin typeface="Arial"/>
              </a:rPr>
              <a:t>Installation files</a:t>
            </a:r>
          </a:p>
          <a:p>
            <a:pPr marL="216000" lvl="2" indent="-216000">
              <a:lnSpc>
                <a:spcPct val="80000"/>
              </a:lnSpc>
              <a:buClr>
                <a:srgbClr val="000000"/>
              </a:buClr>
              <a:buFont typeface="Symbol" charset="2"/>
              <a:buChar char=""/>
            </a:pPr>
            <a:r>
              <a:rPr lang="en-US" sz="800" b="0" strike="noStrike" spc="-1">
                <a:solidFill>
                  <a:srgbClr val="000000"/>
                </a:solidFill>
                <a:latin typeface="Arial"/>
              </a:rPr>
              <a:t>Online reference manuals</a:t>
            </a:r>
          </a:p>
          <a:p>
            <a:pPr marL="216000" lvl="2" indent="-216000">
              <a:lnSpc>
                <a:spcPct val="80000"/>
              </a:lnSpc>
              <a:buClr>
                <a:srgbClr val="000000"/>
              </a:buClr>
              <a:buFont typeface="Symbol" charset="2"/>
              <a:buChar char=""/>
            </a:pPr>
            <a:r>
              <a:rPr lang="en-US" sz="800" b="0" strike="noStrike" spc="-1">
                <a:solidFill>
                  <a:srgbClr val="000000"/>
                </a:solidFill>
                <a:latin typeface="Arial"/>
              </a:rPr>
              <a:t>Php web links</a:t>
            </a:r>
          </a:p>
          <a:p>
            <a:pPr marL="216000" lvl="2" indent="-216000">
              <a:lnSpc>
                <a:spcPct val="80000"/>
              </a:lnSpc>
              <a:buClr>
                <a:srgbClr val="000000"/>
              </a:buClr>
              <a:buFont typeface="Symbol" charset="2"/>
              <a:buChar char=""/>
            </a:pPr>
            <a:r>
              <a:rPr lang="en-US" sz="800" b="0" strike="noStrike" spc="-1">
                <a:solidFill>
                  <a:srgbClr val="000000"/>
                </a:solidFill>
                <a:latin typeface="Arial"/>
              </a:rPr>
              <a:t>Support mailing lists</a:t>
            </a:r>
          </a:p>
          <a:p>
            <a:pPr marL="216000" indent="-216000">
              <a:lnSpc>
                <a:spcPct val="80000"/>
              </a:lnSpc>
              <a:buClr>
                <a:srgbClr val="000000"/>
              </a:buClr>
              <a:buFont typeface="Symbol" charset="2"/>
              <a:buChar char=""/>
            </a:pPr>
            <a:r>
              <a:rPr lang="en-US" sz="800" b="1" strike="noStrike" spc="-1">
                <a:solidFill>
                  <a:srgbClr val="000000"/>
                </a:solidFill>
                <a:latin typeface="Arial"/>
              </a:rPr>
              <a:t>It is a server side scripting language designed specifically for the web.</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Server side scripting language usually written in an HTML context.</a:t>
            </a:r>
          </a:p>
          <a:p>
            <a:pPr marL="216000" lvl="1" indent="-216000">
              <a:lnSpc>
                <a:spcPct val="80000"/>
              </a:lnSpc>
              <a:buClr>
                <a:srgbClr val="000000"/>
              </a:buClr>
              <a:buFont typeface="Symbol" charset="2"/>
              <a:buChar char=""/>
            </a:pPr>
            <a:r>
              <a:rPr lang="en-US" sz="800" b="0" strike="noStrike" spc="-1">
                <a:solidFill>
                  <a:srgbClr val="000000"/>
                </a:solidFill>
                <a:latin typeface="Arial"/>
              </a:rPr>
              <a:t>Basically the code is embedded within or interspersed with HTML tags.</a:t>
            </a:r>
          </a:p>
          <a:p>
            <a:pPr marL="216000" lvl="1" indent="-216000">
              <a:lnSpc>
                <a:spcPct val="80000"/>
              </a:lnSpc>
              <a:buClr>
                <a:srgbClr val="000000"/>
              </a:buClr>
              <a:buFont typeface="Symbol" charset="2"/>
              <a:buChar char=""/>
            </a:pPr>
            <a:r>
              <a:rPr lang="en-US" sz="800" b="0" strike="noStrike" spc="-1">
                <a:solidFill>
                  <a:srgbClr val="000000"/>
                </a:solidFill>
                <a:latin typeface="Arial"/>
              </a:rPr>
              <a:t>Unlike an ordinary HTML page a PHP script is not sent directly to a client by the server instead it is parsed by the PHP engine.</a:t>
            </a:r>
          </a:p>
          <a:p>
            <a:pPr marL="216000" lvl="1" indent="-216000">
              <a:lnSpc>
                <a:spcPct val="80000"/>
              </a:lnSpc>
              <a:buClr>
                <a:srgbClr val="000000"/>
              </a:buClr>
              <a:buFont typeface="Symbol" charset="2"/>
              <a:buChar char=""/>
            </a:pPr>
            <a:r>
              <a:rPr lang="en-US" sz="800" b="0" strike="noStrike" spc="-1">
                <a:solidFill>
                  <a:srgbClr val="000000"/>
                </a:solidFill>
                <a:latin typeface="Arial"/>
              </a:rPr>
              <a:t>HTML elements in the script are left alone, but PHP code is interpreted and executed.</a:t>
            </a:r>
          </a:p>
          <a:p>
            <a:pPr marL="216000" lvl="1" indent="-216000">
              <a:lnSpc>
                <a:spcPct val="80000"/>
              </a:lnSpc>
              <a:buClr>
                <a:srgbClr val="000000"/>
              </a:buClr>
              <a:buFont typeface="Symbol" charset="2"/>
              <a:buChar char=""/>
            </a:pPr>
            <a:r>
              <a:rPr lang="en-US" sz="800" b="0" strike="noStrike" spc="-1">
                <a:solidFill>
                  <a:srgbClr val="000000"/>
                </a:solidFill>
                <a:latin typeface="Arial"/>
              </a:rPr>
              <a:t>Then the output from the PHP interpretation and the juxtaposed HTML tags results in a final HTML page which is sent back to the user.</a:t>
            </a:r>
          </a:p>
          <a:p>
            <a:pPr marL="216000" lvl="1" indent="-216000">
              <a:lnSpc>
                <a:spcPct val="80000"/>
              </a:lnSpc>
              <a:buClr>
                <a:srgbClr val="000000"/>
              </a:buClr>
              <a:buFont typeface="Symbol" charset="2"/>
              <a:buChar char=""/>
            </a:pPr>
            <a:r>
              <a:rPr lang="en-US" sz="800" b="0" strike="noStrike" spc="-1">
                <a:solidFill>
                  <a:srgbClr val="000000"/>
                </a:solidFill>
                <a:latin typeface="Arial"/>
              </a:rPr>
              <a:t>PHP code in scripts can query databases, create images, read and write files, talk to remote servers, all with just a few lines of code</a:t>
            </a:r>
          </a:p>
          <a:p>
            <a:pPr marL="216000" indent="0">
              <a:lnSpc>
                <a:spcPct val="80000"/>
              </a:lnSpc>
              <a:buNone/>
            </a:pPr>
            <a:endParaRPr lang="en-US" sz="800" b="0" strike="noStrike" spc="-1">
              <a:solidFill>
                <a:srgbClr val="000000"/>
              </a:solidFill>
              <a:latin typeface="Arial"/>
            </a:endParaRPr>
          </a:p>
          <a:p>
            <a:pPr marL="216000" indent="-216000">
              <a:lnSpc>
                <a:spcPct val="80000"/>
              </a:lnSpc>
              <a:buClr>
                <a:srgbClr val="000000"/>
              </a:buClr>
              <a:buFont typeface="Symbol" charset="2"/>
              <a:buChar char=""/>
            </a:pPr>
            <a:r>
              <a:rPr lang="en-US" sz="800" b="1" strike="noStrike" spc="-1">
                <a:solidFill>
                  <a:srgbClr val="000000"/>
                </a:solidFill>
                <a:latin typeface="Arial"/>
              </a:rPr>
              <a:t>Conceived by Rasmus Lerdorf in 1994 – 1995 time frame.</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Some references indicate 1994 others indicate 1995.</a:t>
            </a:r>
          </a:p>
          <a:p>
            <a:pPr marL="216000" lvl="1" indent="-216000">
              <a:lnSpc>
                <a:spcPct val="80000"/>
              </a:lnSpc>
              <a:buClr>
                <a:srgbClr val="000000"/>
              </a:buClr>
              <a:buFont typeface="Symbol" charset="2"/>
              <a:buChar char=""/>
            </a:pPr>
            <a:r>
              <a:rPr lang="en-US" sz="800" b="0" strike="noStrike" spc="-1">
                <a:solidFill>
                  <a:srgbClr val="000000"/>
                </a:solidFill>
                <a:latin typeface="Arial"/>
              </a:rPr>
              <a:t>He wrote a Perl/CGI script that enabled him to know how many visitors were reading his online resume.</a:t>
            </a:r>
          </a:p>
          <a:p>
            <a:pPr marL="216000" lvl="1" indent="-216000">
              <a:lnSpc>
                <a:spcPct val="80000"/>
              </a:lnSpc>
              <a:buClr>
                <a:srgbClr val="000000"/>
              </a:buClr>
              <a:buFont typeface="Symbol" charset="2"/>
              <a:buChar char=""/>
            </a:pPr>
            <a:r>
              <a:rPr lang="en-US" sz="800" b="0" strike="noStrike" spc="-1">
                <a:solidFill>
                  <a:srgbClr val="000000"/>
                </a:solidFill>
                <a:latin typeface="Arial"/>
              </a:rPr>
              <a:t>The script did two things:</a:t>
            </a:r>
          </a:p>
          <a:p>
            <a:pPr marL="216000" lvl="2" indent="-216000">
              <a:lnSpc>
                <a:spcPct val="80000"/>
              </a:lnSpc>
              <a:buClr>
                <a:srgbClr val="000000"/>
              </a:buClr>
              <a:buFont typeface="Symbol" charset="2"/>
              <a:buChar char=""/>
            </a:pPr>
            <a:r>
              <a:rPr lang="en-US" sz="800" b="0" strike="noStrike" spc="-1">
                <a:solidFill>
                  <a:srgbClr val="000000"/>
                </a:solidFill>
                <a:latin typeface="Arial"/>
              </a:rPr>
              <a:t>First it logged visitor information.</a:t>
            </a:r>
          </a:p>
          <a:p>
            <a:pPr marL="216000" lvl="2" indent="-216000">
              <a:lnSpc>
                <a:spcPct val="80000"/>
              </a:lnSpc>
              <a:buClr>
                <a:srgbClr val="000000"/>
              </a:buClr>
              <a:buFont typeface="Symbol" charset="2"/>
              <a:buChar char=""/>
            </a:pPr>
            <a:r>
              <a:rPr lang="en-US" sz="800" b="0" strike="noStrike" spc="-1">
                <a:solidFill>
                  <a:srgbClr val="000000"/>
                </a:solidFill>
                <a:latin typeface="Arial"/>
              </a:rPr>
              <a:t>Second it displayed the count of visitors to the web page.</a:t>
            </a:r>
          </a:p>
          <a:p>
            <a:pPr marL="216000" indent="-216000">
              <a:lnSpc>
                <a:spcPct val="80000"/>
              </a:lnSpc>
              <a:buClr>
                <a:srgbClr val="000000"/>
              </a:buClr>
              <a:buFont typeface="Symbol" charset="2"/>
              <a:buChar char=""/>
            </a:pPr>
            <a:r>
              <a:rPr lang="en-US" sz="800" b="1" strike="noStrike" spc="-1">
                <a:solidFill>
                  <a:srgbClr val="000000"/>
                </a:solidFill>
                <a:latin typeface="Arial"/>
              </a:rPr>
              <a:t>Originally just a set of macros to help coders maintain </a:t>
            </a:r>
            <a:r>
              <a:rPr lang="en-US" sz="800" b="1" u="sng" strike="noStrike" spc="-1">
                <a:solidFill>
                  <a:srgbClr val="000000"/>
                </a:solidFill>
                <a:uFillTx/>
                <a:latin typeface="Arial"/>
              </a:rPr>
              <a:t>P</a:t>
            </a:r>
            <a:r>
              <a:rPr lang="en-US" sz="800" b="1" strike="noStrike" spc="-1">
                <a:solidFill>
                  <a:srgbClr val="000000"/>
                </a:solidFill>
                <a:latin typeface="Arial"/>
              </a:rPr>
              <a:t>ersonal </a:t>
            </a:r>
            <a:r>
              <a:rPr lang="en-US" sz="800" b="1" u="sng" strike="noStrike" spc="-1">
                <a:solidFill>
                  <a:srgbClr val="000000"/>
                </a:solidFill>
                <a:uFillTx/>
                <a:latin typeface="Arial"/>
              </a:rPr>
              <a:t>H</a:t>
            </a:r>
            <a:r>
              <a:rPr lang="en-US" sz="800" b="1" strike="noStrike" spc="-1">
                <a:solidFill>
                  <a:srgbClr val="000000"/>
                </a:solidFill>
                <a:latin typeface="Arial"/>
              </a:rPr>
              <a:t>ome </a:t>
            </a:r>
            <a:r>
              <a:rPr lang="en-US" sz="800" b="1" u="sng" strike="noStrike" spc="-1">
                <a:solidFill>
                  <a:srgbClr val="000000"/>
                </a:solidFill>
                <a:uFillTx/>
                <a:latin typeface="Arial"/>
              </a:rPr>
              <a:t>P</a:t>
            </a:r>
            <a:r>
              <a:rPr lang="en-US" sz="800" b="1" strike="noStrike" spc="-1">
                <a:solidFill>
                  <a:srgbClr val="000000"/>
                </a:solidFill>
                <a:latin typeface="Arial"/>
              </a:rPr>
              <a:t>ages.</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The web still relatively immature at the time so tools like this were unprecedented and other people started asking about them.</a:t>
            </a:r>
          </a:p>
          <a:p>
            <a:pPr marL="216000" lvl="1" indent="-216000">
              <a:lnSpc>
                <a:spcPct val="80000"/>
              </a:lnSpc>
              <a:buClr>
                <a:srgbClr val="000000"/>
              </a:buClr>
              <a:buFont typeface="Symbol" charset="2"/>
              <a:buChar char=""/>
            </a:pPr>
            <a:r>
              <a:rPr lang="en-US" sz="800" b="0" strike="noStrike" spc="-1">
                <a:solidFill>
                  <a:srgbClr val="000000"/>
                </a:solidFill>
                <a:latin typeface="Arial"/>
              </a:rPr>
              <a:t>Lerdorf started giving away his toolset and dubbed it Personal Home Page</a:t>
            </a:r>
          </a:p>
          <a:p>
            <a:pPr marL="216000" indent="-216000">
              <a:lnSpc>
                <a:spcPct val="80000"/>
              </a:lnSpc>
              <a:buClr>
                <a:srgbClr val="000000"/>
              </a:buClr>
              <a:buFont typeface="Symbol" charset="2"/>
              <a:buChar char=""/>
            </a:pPr>
            <a:r>
              <a:rPr lang="en-US" sz="800" b="1" strike="noStrike" spc="-1">
                <a:solidFill>
                  <a:srgbClr val="000000"/>
                </a:solidFill>
                <a:latin typeface="Arial"/>
              </a:rPr>
              <a:t>PHP 2.0 or PHP-FI (Form Interpreter) was the second major release.</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Lerdorf started working on additions to PHP one of which converted data entered in an HTML form into symbolic variables that allowed for their export to other systems.</a:t>
            </a:r>
          </a:p>
          <a:p>
            <a:pPr marL="216000" lvl="1" indent="-216000">
              <a:lnSpc>
                <a:spcPct val="80000"/>
              </a:lnSpc>
              <a:buClr>
                <a:srgbClr val="000000"/>
              </a:buClr>
              <a:buFont typeface="Symbol" charset="2"/>
              <a:buChar char=""/>
            </a:pPr>
            <a:r>
              <a:rPr lang="en-US" sz="800" b="0" strike="noStrike" spc="-1">
                <a:solidFill>
                  <a:srgbClr val="000000"/>
                </a:solidFill>
                <a:latin typeface="Arial"/>
              </a:rPr>
              <a:t>This was also the release where Lerdorf moved from Perl/CGI scripts to C code.</a:t>
            </a:r>
          </a:p>
          <a:p>
            <a:pPr marL="216000" lvl="1" indent="-216000">
              <a:lnSpc>
                <a:spcPct val="80000"/>
              </a:lnSpc>
              <a:buClr>
                <a:srgbClr val="000000"/>
              </a:buClr>
              <a:buFont typeface="Symbol" charset="2"/>
              <a:buChar char=""/>
            </a:pPr>
            <a:r>
              <a:rPr lang="en-US" sz="800" b="0" strike="noStrike" spc="-1">
                <a:solidFill>
                  <a:srgbClr val="000000"/>
                </a:solidFill>
                <a:latin typeface="Arial"/>
              </a:rPr>
              <a:t>This release was also accompanied by a number of other enhancements and improvements from other programmers worldwide.</a:t>
            </a:r>
          </a:p>
          <a:p>
            <a:pPr marL="216000" indent="0">
              <a:lnSpc>
                <a:spcPct val="80000"/>
              </a:lnSpc>
              <a:buNone/>
            </a:pPr>
            <a:r>
              <a:rPr lang="en-US" sz="800" b="0" strike="noStrike" spc="-1">
                <a:solidFill>
                  <a:srgbClr val="000000"/>
                </a:solidFill>
                <a:latin typeface="Arial"/>
              </a:rPr>
              <a:t>	</a:t>
            </a:r>
          </a:p>
          <a:p>
            <a:pPr marL="216000" indent="-216000">
              <a:lnSpc>
                <a:spcPct val="80000"/>
              </a:lnSpc>
              <a:buClr>
                <a:srgbClr val="000000"/>
              </a:buClr>
              <a:buFont typeface="Symbol" charset="2"/>
              <a:buChar char=""/>
            </a:pPr>
            <a:r>
              <a:rPr lang="en-US" sz="800" b="1" strike="noStrike" spc="-1">
                <a:solidFill>
                  <a:srgbClr val="000000"/>
                </a:solidFill>
                <a:latin typeface="Arial"/>
              </a:rPr>
              <a:t>In 1997 Version 3.0 released to over 50,000 users</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After the release of 2.0 a core team of developers was formed and they undertook the task of rewriting the parsing engine.</a:t>
            </a:r>
          </a:p>
          <a:p>
            <a:pPr marL="216000" lvl="1" indent="-216000">
              <a:lnSpc>
                <a:spcPct val="80000"/>
              </a:lnSpc>
              <a:buClr>
                <a:srgbClr val="000000"/>
              </a:buClr>
              <a:buFont typeface="Symbol" charset="2"/>
              <a:buChar char=""/>
            </a:pPr>
            <a:r>
              <a:rPr lang="en-US" sz="800" b="0" strike="noStrike" spc="-1">
                <a:solidFill>
                  <a:srgbClr val="000000"/>
                </a:solidFill>
                <a:latin typeface="Arial"/>
              </a:rPr>
              <a:t>The result was version 3.0 of PHP. At this point only two years after its conception more than 50,000 users were using PHP on their websites.</a:t>
            </a:r>
          </a:p>
          <a:p>
            <a:pPr marL="216000" lvl="1" indent="-216000">
              <a:lnSpc>
                <a:spcPct val="80000"/>
              </a:lnSpc>
              <a:buClr>
                <a:srgbClr val="000000"/>
              </a:buClr>
              <a:buFont typeface="Symbol" charset="2"/>
              <a:buChar char=""/>
            </a:pPr>
            <a:r>
              <a:rPr lang="en-US" sz="800" b="0" strike="noStrike" spc="-1">
                <a:solidFill>
                  <a:srgbClr val="000000"/>
                </a:solidFill>
                <a:latin typeface="Arial"/>
              </a:rPr>
              <a:t>It was in this version of PHP that the name changed from Personal Home Page to PHP: Hypertext Preprocessor.</a:t>
            </a:r>
          </a:p>
          <a:p>
            <a:pPr marL="216000" indent="-216000">
              <a:lnSpc>
                <a:spcPct val="80000"/>
              </a:lnSpc>
              <a:buClr>
                <a:srgbClr val="000000"/>
              </a:buClr>
              <a:buFont typeface="Symbol" charset="2"/>
              <a:buChar char=""/>
            </a:pPr>
            <a:r>
              <a:rPr lang="en-US" sz="800" b="1" strike="noStrike" spc="-1">
                <a:solidFill>
                  <a:srgbClr val="000000"/>
                </a:solidFill>
                <a:latin typeface="Arial"/>
              </a:rPr>
              <a:t>In 2000 version 4.0 released with the Zend parsing engine.</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With the release of 4.0 the major goal was to build an even more robust and powerful parsing engine.</a:t>
            </a:r>
          </a:p>
          <a:p>
            <a:pPr marL="216000" lvl="1" indent="-216000">
              <a:lnSpc>
                <a:spcPct val="80000"/>
              </a:lnSpc>
              <a:buClr>
                <a:srgbClr val="000000"/>
              </a:buClr>
              <a:buFont typeface="Symbol" charset="2"/>
              <a:buChar char=""/>
            </a:pPr>
            <a:r>
              <a:rPr lang="en-US" sz="800" b="0" strike="noStrike" spc="-1">
                <a:solidFill>
                  <a:srgbClr val="000000"/>
                </a:solidFill>
                <a:latin typeface="Arial"/>
              </a:rPr>
              <a:t>This was done because in it’s previous versions the developers had not intended that large-scale applications were going to be built using PHP.</a:t>
            </a:r>
          </a:p>
          <a:p>
            <a:pPr marL="216000" lvl="1" indent="-216000">
              <a:lnSpc>
                <a:spcPct val="80000"/>
              </a:lnSpc>
              <a:buClr>
                <a:srgbClr val="000000"/>
              </a:buClr>
              <a:buFont typeface="Symbol" charset="2"/>
              <a:buChar char=""/>
            </a:pPr>
            <a:r>
              <a:rPr lang="en-US" sz="800" b="0" strike="noStrike" spc="-1">
                <a:solidFill>
                  <a:srgbClr val="000000"/>
                </a:solidFill>
                <a:latin typeface="Arial"/>
              </a:rPr>
              <a:t>With the introduction of the Zend parsing engine performance increased by several orders of magnitude.</a:t>
            </a:r>
          </a:p>
          <a:p>
            <a:pPr marL="216000" lvl="1" indent="-216000">
              <a:lnSpc>
                <a:spcPct val="80000"/>
              </a:lnSpc>
              <a:buClr>
                <a:srgbClr val="000000"/>
              </a:buClr>
              <a:buFont typeface="Symbol" charset="2"/>
              <a:buChar char=""/>
            </a:pPr>
            <a:r>
              <a:rPr lang="en-US" sz="800" b="0" strike="noStrike" spc="-1">
                <a:solidFill>
                  <a:srgbClr val="000000"/>
                </a:solidFill>
                <a:latin typeface="Arial"/>
              </a:rPr>
              <a:t>Some PHP 3 scripts ran up to 200 times faster with this new release.</a:t>
            </a:r>
          </a:p>
          <a:p>
            <a:pPr marL="216000" indent="0">
              <a:lnSpc>
                <a:spcPct val="80000"/>
              </a:lnSpc>
              <a:buNone/>
            </a:pPr>
            <a:endParaRPr lang="en-US" sz="800" b="0" strike="noStrike" spc="-1">
              <a:solidFill>
                <a:srgbClr val="000000"/>
              </a:solidFill>
              <a:latin typeface="Arial"/>
            </a:endParaRPr>
          </a:p>
          <a:p>
            <a:pPr marL="216000" indent="0">
              <a:lnSpc>
                <a:spcPct val="80000"/>
              </a:lnSpc>
              <a:buNone/>
            </a:pPr>
            <a:endParaRPr lang="en-US" sz="800" b="0" strike="noStrike" spc="-1">
              <a:solidFill>
                <a:srgbClr val="000000"/>
              </a:solidFill>
              <a:latin typeface="Arial"/>
            </a:endParaRPr>
          </a:p>
          <a:p>
            <a:pPr marL="216000" indent="0">
              <a:lnSpc>
                <a:spcPct val="80000"/>
              </a:lnSpc>
              <a:buNone/>
            </a:pPr>
            <a:endParaRPr lang="en-US" sz="800" b="0" strike="noStrike" spc="-1">
              <a:solidFill>
                <a:srgbClr val="000000"/>
              </a:solid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PlaceHolder 1"/>
          <p:cNvSpPr>
            <a:spLocks noGrp="1"/>
          </p:cNvSpPr>
          <p:nvPr>
            <p:ph type="sldNum" idx="44"/>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defRPr>
            </a:lvl1pPr>
          </a:lstStyle>
          <a:p>
            <a:pPr indent="0" algn="r">
              <a:lnSpc>
                <a:spcPct val="100000"/>
              </a:lnSpc>
              <a:buNone/>
            </a:pPr>
            <a:fld id="{DF68A994-11F7-44F9-B49F-834846F9EB74}" type="slidenum">
              <a:rPr lang="en-US" sz="1200" b="0" strike="noStrike" spc="-1">
                <a:solidFill>
                  <a:srgbClr val="000000"/>
                </a:solidFill>
                <a:latin typeface="Arial"/>
              </a:rPr>
              <a:t>7</a:t>
            </a:fld>
            <a:endParaRPr lang="en-US" sz="1200" b="0" strike="noStrike" spc="-1">
              <a:solidFill>
                <a:srgbClr val="000000"/>
              </a:solidFill>
              <a:latin typeface="Times New Roman"/>
            </a:endParaRPr>
          </a:p>
        </p:txBody>
      </p:sp>
      <p:sp>
        <p:nvSpPr>
          <p:cNvPr id="323" name="PlaceHolder 2"/>
          <p:cNvSpPr>
            <a:spLocks noGrp="1" noRot="1" noChangeAspect="1"/>
          </p:cNvSpPr>
          <p:nvPr>
            <p:ph type="sldImg"/>
          </p:nvPr>
        </p:nvSpPr>
        <p:spPr>
          <a:xfrm>
            <a:off x="401638" y="681038"/>
            <a:ext cx="6056312" cy="3406775"/>
          </a:xfrm>
          <a:prstGeom prst="rect">
            <a:avLst/>
          </a:prstGeom>
          <a:ln w="0">
            <a:noFill/>
          </a:ln>
        </p:spPr>
      </p:sp>
      <p:sp>
        <p:nvSpPr>
          <p:cNvPr id="324" name="PlaceHolder 3"/>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216000">
              <a:lnSpc>
                <a:spcPct val="80000"/>
              </a:lnSpc>
              <a:buClr>
                <a:srgbClr val="000000"/>
              </a:buClr>
              <a:buFont typeface="Symbol" charset="2"/>
              <a:buChar char=""/>
            </a:pPr>
            <a:r>
              <a:rPr lang="en-US" sz="800" b="1" strike="noStrike" spc="-1">
                <a:solidFill>
                  <a:srgbClr val="000000"/>
                </a:solidFill>
                <a:latin typeface="Arial"/>
              </a:rPr>
              <a:t>Familiarity</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Many of the language constructs are borrowed from languages such as C, C++, Perl and Java.</a:t>
            </a:r>
          </a:p>
          <a:p>
            <a:pPr marL="216000" lvl="1" indent="-216000">
              <a:lnSpc>
                <a:spcPct val="80000"/>
              </a:lnSpc>
              <a:buClr>
                <a:srgbClr val="000000"/>
              </a:buClr>
              <a:buFont typeface="Symbol" charset="2"/>
              <a:buChar char=""/>
            </a:pPr>
            <a:r>
              <a:rPr lang="en-US" sz="800" b="0" strike="noStrike" spc="-1">
                <a:solidFill>
                  <a:srgbClr val="000000"/>
                </a:solidFill>
                <a:latin typeface="Arial"/>
              </a:rPr>
              <a:t>Developers who are familiar with these languages are able to start coding right away.</a:t>
            </a:r>
          </a:p>
          <a:p>
            <a:pPr marL="216000" indent="-216000">
              <a:lnSpc>
                <a:spcPct val="80000"/>
              </a:lnSpc>
              <a:buClr>
                <a:srgbClr val="000000"/>
              </a:buClr>
              <a:buFont typeface="Symbol" charset="2"/>
              <a:buChar char=""/>
            </a:pPr>
            <a:r>
              <a:rPr lang="en-US" sz="800" b="1" strike="noStrike" spc="-1">
                <a:solidFill>
                  <a:srgbClr val="000000"/>
                </a:solidFill>
                <a:latin typeface="Arial"/>
              </a:rPr>
              <a:t>Simplicity</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Because it is an interpreted language there is no need to include libraries or have special compilation directives.</a:t>
            </a:r>
          </a:p>
          <a:p>
            <a:pPr marL="216000" lvl="1" indent="-216000">
              <a:lnSpc>
                <a:spcPct val="80000"/>
              </a:lnSpc>
              <a:buClr>
                <a:srgbClr val="000000"/>
              </a:buClr>
              <a:buFont typeface="Symbol" charset="2"/>
              <a:buChar char=""/>
            </a:pPr>
            <a:r>
              <a:rPr lang="en-US" sz="800" b="0" strike="noStrike" spc="-1">
                <a:solidFill>
                  <a:srgbClr val="000000"/>
                </a:solidFill>
                <a:latin typeface="Arial"/>
              </a:rPr>
              <a:t>The PHP engine simply begins interpreting code after the first escape sequence, a special set of characters that demark the start and end of PHP code, until it passes the closes escape sequence.</a:t>
            </a:r>
          </a:p>
          <a:p>
            <a:pPr marL="216000" indent="-216000">
              <a:lnSpc>
                <a:spcPct val="80000"/>
              </a:lnSpc>
              <a:buClr>
                <a:srgbClr val="000000"/>
              </a:buClr>
              <a:buFont typeface="Symbol" charset="2"/>
              <a:buChar char=""/>
            </a:pPr>
            <a:r>
              <a:rPr lang="en-US" sz="800" b="1" strike="noStrike" spc="-1">
                <a:solidFill>
                  <a:srgbClr val="000000"/>
                </a:solidFill>
                <a:latin typeface="Arial"/>
              </a:rPr>
              <a:t>Efficiency</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With the introduction of the Zend parsing engine PHP is now a viable choice for implementing large scale applications.</a:t>
            </a:r>
          </a:p>
          <a:p>
            <a:pPr marL="216000" lvl="1" indent="-216000">
              <a:lnSpc>
                <a:spcPct val="80000"/>
              </a:lnSpc>
              <a:buClr>
                <a:srgbClr val="000000"/>
              </a:buClr>
              <a:buFont typeface="Symbol" charset="2"/>
              <a:buChar char=""/>
            </a:pPr>
            <a:r>
              <a:rPr lang="en-US" sz="800" b="0" strike="noStrike" spc="-1">
                <a:solidFill>
                  <a:srgbClr val="000000"/>
                </a:solidFill>
                <a:latin typeface="Arial"/>
              </a:rPr>
              <a:t>Zend also offers the Zend Optimizer which can increase the performance even further.  Benchmarks have shown a performance gain of anywhere from 40 to 100 percent with the Zend Optimizer.</a:t>
            </a:r>
          </a:p>
          <a:p>
            <a:pPr marL="216000" lvl="1" indent="-216000">
              <a:lnSpc>
                <a:spcPct val="80000"/>
              </a:lnSpc>
              <a:buClr>
                <a:srgbClr val="000000"/>
              </a:buClr>
              <a:buFont typeface="Symbol" charset="2"/>
              <a:buChar char=""/>
            </a:pPr>
            <a:r>
              <a:rPr lang="en-US" sz="800" b="0" strike="noStrike" spc="-1">
                <a:solidFill>
                  <a:srgbClr val="000000"/>
                </a:solidFill>
                <a:latin typeface="Arial"/>
              </a:rPr>
              <a:t>A commercial addition to the Zend Engine will be the facility for compiling PHP scripts.  This will provide yet another gain in performance that should leave competitors like ASP, Perl and Java servlets behind.</a:t>
            </a:r>
          </a:p>
          <a:p>
            <a:pPr marL="216000" lvl="1" indent="-216000">
              <a:lnSpc>
                <a:spcPct val="80000"/>
              </a:lnSpc>
              <a:buClr>
                <a:srgbClr val="000000"/>
              </a:buClr>
              <a:buFont typeface="Symbol" charset="2"/>
              <a:buChar char=""/>
            </a:pPr>
            <a:r>
              <a:rPr lang="en-US" sz="800" b="1" strike="noStrike" spc="-1">
                <a:solidFill>
                  <a:srgbClr val="000000"/>
                </a:solidFill>
                <a:latin typeface="Arial"/>
              </a:rPr>
              <a:t>www.zend.com</a:t>
            </a:r>
            <a:endParaRPr lang="en-US" sz="800" b="0" strike="noStrike" spc="-1">
              <a:solidFill>
                <a:srgbClr val="000000"/>
              </a:solidFill>
              <a:latin typeface="Arial"/>
            </a:endParaRPr>
          </a:p>
          <a:p>
            <a:pPr marL="216000" lvl="2" indent="-216000">
              <a:lnSpc>
                <a:spcPct val="80000"/>
              </a:lnSpc>
              <a:buClr>
                <a:srgbClr val="000000"/>
              </a:buClr>
              <a:buFont typeface="Symbol" charset="2"/>
              <a:buChar char=""/>
            </a:pPr>
            <a:r>
              <a:rPr lang="en-US" sz="800" b="0" strike="noStrike" spc="-1">
                <a:solidFill>
                  <a:srgbClr val="000000"/>
                </a:solidFill>
                <a:latin typeface="Arial"/>
              </a:rPr>
              <a:t>To find out more about Zend Technologies go to www.zend.com.</a:t>
            </a:r>
          </a:p>
          <a:p>
            <a:pPr marL="216000" indent="0">
              <a:lnSpc>
                <a:spcPct val="80000"/>
              </a:lnSpc>
              <a:buNone/>
            </a:pPr>
            <a:endParaRPr lang="en-US" sz="800" b="0" strike="noStrike" spc="-1">
              <a:solidFill>
                <a:srgbClr val="000000"/>
              </a:solidFill>
              <a:latin typeface="Arial"/>
            </a:endParaRPr>
          </a:p>
          <a:p>
            <a:pPr marL="216000" indent="-216000">
              <a:lnSpc>
                <a:spcPct val="80000"/>
              </a:lnSpc>
              <a:buClr>
                <a:srgbClr val="000000"/>
              </a:buClr>
              <a:buFont typeface="Symbol" charset="2"/>
              <a:buChar char=""/>
            </a:pPr>
            <a:r>
              <a:rPr lang="en-US" sz="800" b="1" strike="noStrike" spc="-1">
                <a:solidFill>
                  <a:srgbClr val="000000"/>
                </a:solidFill>
                <a:latin typeface="Arial"/>
              </a:rPr>
              <a:t>Security</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1" strike="noStrike" spc="-1">
                <a:solidFill>
                  <a:srgbClr val="000000"/>
                </a:solidFill>
                <a:latin typeface="Arial"/>
              </a:rPr>
              <a:t>System Level</a:t>
            </a:r>
            <a:endParaRPr lang="en-US" sz="800" b="0" strike="noStrike" spc="-1">
              <a:solidFill>
                <a:srgbClr val="000000"/>
              </a:solidFill>
              <a:latin typeface="Arial"/>
            </a:endParaRPr>
          </a:p>
          <a:p>
            <a:pPr marL="216000" lvl="2" indent="-216000">
              <a:lnSpc>
                <a:spcPct val="80000"/>
              </a:lnSpc>
              <a:buClr>
                <a:srgbClr val="000000"/>
              </a:buClr>
              <a:buFont typeface="Symbol" charset="2"/>
              <a:buChar char=""/>
            </a:pPr>
            <a:r>
              <a:rPr lang="en-US" sz="800" b="0" strike="noStrike" spc="-1">
                <a:solidFill>
                  <a:srgbClr val="000000"/>
                </a:solidFill>
                <a:latin typeface="Arial"/>
              </a:rPr>
              <a:t>At the system level PHP can be run in safe mode which can limit users’ attempts to exploit the PHP implementation.</a:t>
            </a:r>
          </a:p>
          <a:p>
            <a:pPr marL="216000" lvl="2" indent="-216000">
              <a:lnSpc>
                <a:spcPct val="80000"/>
              </a:lnSpc>
              <a:buClr>
                <a:srgbClr val="000000"/>
              </a:buClr>
              <a:buFont typeface="Symbol" charset="2"/>
              <a:buChar char=""/>
            </a:pPr>
            <a:r>
              <a:rPr lang="en-US" sz="800" b="0" strike="noStrike" spc="-1">
                <a:solidFill>
                  <a:srgbClr val="000000"/>
                </a:solidFill>
                <a:latin typeface="Arial"/>
              </a:rPr>
              <a:t>Limits can be placed on system usage to control server performance degradation.</a:t>
            </a:r>
          </a:p>
          <a:p>
            <a:pPr marL="216000" lvl="2" indent="-216000">
              <a:lnSpc>
                <a:spcPct val="80000"/>
              </a:lnSpc>
              <a:buClr>
                <a:srgbClr val="000000"/>
              </a:buClr>
              <a:buFont typeface="Symbol" charset="2"/>
              <a:buChar char=""/>
            </a:pPr>
            <a:r>
              <a:rPr lang="en-US" sz="800" b="0" strike="noStrike" spc="-1">
                <a:solidFill>
                  <a:srgbClr val="000000"/>
                </a:solidFill>
                <a:latin typeface="Arial"/>
              </a:rPr>
              <a:t>Restrictions can be placed on locations in which users can view and execute scripts.</a:t>
            </a:r>
          </a:p>
          <a:p>
            <a:pPr marL="216000" lvl="1" indent="-216000">
              <a:lnSpc>
                <a:spcPct val="80000"/>
              </a:lnSpc>
              <a:buClr>
                <a:srgbClr val="000000"/>
              </a:buClr>
              <a:buFont typeface="Symbol" charset="2"/>
              <a:buChar char=""/>
            </a:pPr>
            <a:r>
              <a:rPr lang="en-US" sz="800" b="1" strike="noStrike" spc="-1">
                <a:solidFill>
                  <a:srgbClr val="000000"/>
                </a:solidFill>
                <a:latin typeface="Arial"/>
              </a:rPr>
              <a:t>Application Level</a:t>
            </a:r>
            <a:endParaRPr lang="en-US" sz="800" b="0" strike="noStrike" spc="-1">
              <a:solidFill>
                <a:srgbClr val="000000"/>
              </a:solidFill>
              <a:latin typeface="Arial"/>
            </a:endParaRPr>
          </a:p>
          <a:p>
            <a:pPr marL="216000" lvl="2" indent="-216000">
              <a:lnSpc>
                <a:spcPct val="80000"/>
              </a:lnSpc>
              <a:buClr>
                <a:srgbClr val="000000"/>
              </a:buClr>
              <a:buFont typeface="Symbol" charset="2"/>
              <a:buChar char=""/>
            </a:pPr>
            <a:r>
              <a:rPr lang="en-US" sz="800" b="0" strike="noStrike" spc="-1">
                <a:solidFill>
                  <a:srgbClr val="000000"/>
                </a:solidFill>
                <a:latin typeface="Arial"/>
              </a:rPr>
              <a:t>At the application level there are data encryption options in the PHP function set.</a:t>
            </a:r>
          </a:p>
          <a:p>
            <a:pPr marL="216000" lvl="2" indent="-216000">
              <a:lnSpc>
                <a:spcPct val="80000"/>
              </a:lnSpc>
              <a:buClr>
                <a:srgbClr val="000000"/>
              </a:buClr>
              <a:buFont typeface="Symbol" charset="2"/>
              <a:buChar char=""/>
            </a:pPr>
            <a:r>
              <a:rPr lang="en-US" sz="800" b="0" strike="noStrike" spc="-1">
                <a:solidFill>
                  <a:srgbClr val="000000"/>
                </a:solidFill>
                <a:latin typeface="Arial"/>
              </a:rPr>
              <a:t>Also the source code isn’t viewed by the user because the script is completely parsed before being sent back to the user.</a:t>
            </a:r>
          </a:p>
          <a:p>
            <a:pPr marL="216000" indent="-216000">
              <a:lnSpc>
                <a:spcPct val="80000"/>
              </a:lnSpc>
              <a:buClr>
                <a:srgbClr val="000000"/>
              </a:buClr>
              <a:buFont typeface="Symbol" charset="2"/>
              <a:buChar char=""/>
            </a:pPr>
            <a:r>
              <a:rPr lang="en-US" sz="800" b="1" strike="noStrike" spc="-1">
                <a:solidFill>
                  <a:srgbClr val="000000"/>
                </a:solidFill>
                <a:latin typeface="Arial"/>
              </a:rPr>
              <a:t>Flexibility</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PHP can be used in conjunction with HTML, Javascript, WML, XML and many others.</a:t>
            </a:r>
          </a:p>
          <a:p>
            <a:pPr marL="216000" lvl="1" indent="-216000">
              <a:lnSpc>
                <a:spcPct val="80000"/>
              </a:lnSpc>
              <a:buClr>
                <a:srgbClr val="000000"/>
              </a:buClr>
              <a:buFont typeface="Symbol" charset="2"/>
              <a:buChar char=""/>
            </a:pPr>
            <a:r>
              <a:rPr lang="en-US" sz="800" b="0" strike="noStrike" spc="-1">
                <a:solidFill>
                  <a:srgbClr val="000000"/>
                </a:solidFill>
                <a:latin typeface="Arial"/>
              </a:rPr>
              <a:t>No browser dependency.</a:t>
            </a:r>
          </a:p>
          <a:p>
            <a:pPr marL="216000" lvl="1" indent="-216000">
              <a:lnSpc>
                <a:spcPct val="80000"/>
              </a:lnSpc>
              <a:buClr>
                <a:srgbClr val="000000"/>
              </a:buClr>
              <a:buFont typeface="Symbol" charset="2"/>
              <a:buChar char=""/>
            </a:pPr>
            <a:r>
              <a:rPr lang="en-US" sz="800" b="0" strike="noStrike" spc="-1">
                <a:solidFill>
                  <a:srgbClr val="000000"/>
                </a:solidFill>
                <a:latin typeface="Arial"/>
              </a:rPr>
              <a:t>Largely platform independent. You can develop and test a project with Personal Web Server and then deploy it on a UNIX system running PHP as an Apache module.</a:t>
            </a:r>
          </a:p>
          <a:p>
            <a:pPr marL="216000" indent="-216000">
              <a:lnSpc>
                <a:spcPct val="80000"/>
              </a:lnSpc>
              <a:buClr>
                <a:srgbClr val="000000"/>
              </a:buClr>
              <a:buFont typeface="Symbol" charset="2"/>
              <a:buChar char=""/>
            </a:pPr>
            <a:r>
              <a:rPr lang="en-US" sz="800" b="1" strike="noStrike" spc="-1">
                <a:solidFill>
                  <a:srgbClr val="000000"/>
                </a:solidFill>
                <a:latin typeface="Arial"/>
              </a:rPr>
              <a:t>Cost</a:t>
            </a:r>
            <a:endParaRPr lang="en-US" sz="800" b="0" strike="noStrike" spc="-1">
              <a:solidFill>
                <a:srgbClr val="000000"/>
              </a:solidFill>
              <a:latin typeface="Arial"/>
            </a:endParaRPr>
          </a:p>
          <a:p>
            <a:pPr marL="216000" lvl="1" indent="-216000">
              <a:lnSpc>
                <a:spcPct val="80000"/>
              </a:lnSpc>
              <a:buClr>
                <a:srgbClr val="000000"/>
              </a:buClr>
              <a:buFont typeface="Symbol" charset="2"/>
              <a:buChar char=""/>
            </a:pPr>
            <a:r>
              <a:rPr lang="en-US" sz="800" b="0" strike="noStrike" spc="-1">
                <a:solidFill>
                  <a:srgbClr val="000000"/>
                </a:solidFill>
                <a:latin typeface="Arial"/>
              </a:rPr>
              <a:t>Basically free</a:t>
            </a:r>
          </a:p>
          <a:p>
            <a:pPr marL="216000" lvl="1" indent="-216000">
              <a:lnSpc>
                <a:spcPct val="80000"/>
              </a:lnSpc>
              <a:buClr>
                <a:srgbClr val="000000"/>
              </a:buClr>
              <a:buFont typeface="Symbol" charset="2"/>
              <a:buChar char=""/>
            </a:pPr>
            <a:r>
              <a:rPr lang="en-US" sz="800" b="1" strike="noStrike" spc="-1">
                <a:solidFill>
                  <a:srgbClr val="000000"/>
                </a:solidFill>
                <a:latin typeface="Arial"/>
              </a:rPr>
              <a:t>Open Source Initiative</a:t>
            </a:r>
            <a:endParaRPr lang="en-US" sz="800" b="0" strike="noStrike" spc="-1">
              <a:solidFill>
                <a:srgbClr val="000000"/>
              </a:solidFill>
              <a:latin typeface="Arial"/>
            </a:endParaRPr>
          </a:p>
          <a:p>
            <a:pPr marL="216000" lvl="2" indent="-216000">
              <a:lnSpc>
                <a:spcPct val="80000"/>
              </a:lnSpc>
              <a:buClr>
                <a:srgbClr val="000000"/>
              </a:buClr>
              <a:buFont typeface="Symbol" charset="2"/>
              <a:buChar char=""/>
            </a:pPr>
            <a:r>
              <a:rPr lang="en-US" sz="800" b="0" strike="noStrike" spc="-1">
                <a:solidFill>
                  <a:srgbClr val="000000"/>
                </a:solidFill>
                <a:latin typeface="Arial"/>
              </a:rPr>
              <a:t>PHP is part of the Open Source Initiative</a:t>
            </a:r>
          </a:p>
          <a:p>
            <a:pPr marL="216000" lvl="2" indent="-216000">
              <a:lnSpc>
                <a:spcPct val="80000"/>
              </a:lnSpc>
              <a:buClr>
                <a:srgbClr val="000000"/>
              </a:buClr>
              <a:buFont typeface="Symbol" charset="2"/>
              <a:buChar char=""/>
            </a:pPr>
            <a:r>
              <a:rPr lang="en-US" sz="800" b="1" strike="noStrike" spc="-1">
                <a:solidFill>
                  <a:srgbClr val="000000"/>
                </a:solidFill>
                <a:latin typeface="Arial"/>
              </a:rPr>
              <a:t>www.opensource.org</a:t>
            </a:r>
            <a:endParaRPr lang="en-US" sz="800" b="0" strike="noStrike" spc="-1">
              <a:solidFill>
                <a:srgbClr val="000000"/>
              </a:solidFill>
              <a:latin typeface="Arial"/>
            </a:endParaRPr>
          </a:p>
          <a:p>
            <a:pPr marL="216000" lvl="3" indent="-216000">
              <a:lnSpc>
                <a:spcPct val="80000"/>
              </a:lnSpc>
              <a:buClr>
                <a:srgbClr val="000000"/>
              </a:buClr>
              <a:buFont typeface="Symbol" charset="2"/>
              <a:buChar char=""/>
            </a:pPr>
            <a:r>
              <a:rPr lang="en-US" sz="800" b="0" strike="noStrike" spc="-1">
                <a:solidFill>
                  <a:srgbClr val="000000"/>
                </a:solidFill>
                <a:latin typeface="Arial"/>
              </a:rPr>
              <a:t>If you don’t know what that is you should.  You can find out more information on the initiative at www.opensource.org.</a:t>
            </a:r>
          </a:p>
          <a:p>
            <a:pPr marL="216000" lvl="3" indent="-216000">
              <a:lnSpc>
                <a:spcPct val="80000"/>
              </a:lnSpc>
              <a:buClr>
                <a:srgbClr val="000000"/>
              </a:buClr>
              <a:buFont typeface="Symbol" charset="2"/>
              <a:buChar char=""/>
            </a:pPr>
            <a:r>
              <a:rPr lang="en-US" sz="800" b="0" strike="noStrike" spc="-1">
                <a:solidFill>
                  <a:srgbClr val="000000"/>
                </a:solidFill>
                <a:latin typeface="Arial"/>
              </a:rPr>
              <a:t>Basically it means that you benefit from an accessible and committed community who offer a wealth of experience in the subject.</a:t>
            </a:r>
          </a:p>
          <a:p>
            <a:pPr marL="216000" lvl="3" indent="-216000">
              <a:lnSpc>
                <a:spcPct val="80000"/>
              </a:lnSpc>
              <a:buClr>
                <a:srgbClr val="000000"/>
              </a:buClr>
              <a:buFont typeface="Symbol" charset="2"/>
              <a:buChar char=""/>
            </a:pPr>
            <a:r>
              <a:rPr lang="en-US" sz="800" b="0" strike="noStrike" spc="-1">
                <a:solidFill>
                  <a:srgbClr val="000000"/>
                </a:solidFill>
                <a:latin typeface="Arial"/>
              </a:rPr>
              <a:t>Chances are that any problems you encounter in your coding can be answered swiftly and easily with a little research.</a:t>
            </a:r>
          </a:p>
          <a:p>
            <a:pPr marL="216000" lvl="3" indent="-216000">
              <a:lnSpc>
                <a:spcPct val="80000"/>
              </a:lnSpc>
              <a:buClr>
                <a:srgbClr val="000000"/>
              </a:buClr>
              <a:buFont typeface="Symbol" charset="2"/>
              <a:buChar char=""/>
            </a:pPr>
            <a:r>
              <a:rPr lang="en-US" sz="800" b="0" strike="noStrike" spc="-1">
                <a:solidFill>
                  <a:srgbClr val="000000"/>
                </a:solidFill>
                <a:latin typeface="Arial"/>
              </a:rPr>
              <a:t>Also there is no vested interest in a particular product or operating system</a:t>
            </a:r>
          </a:p>
          <a:p>
            <a:pPr marL="216000" indent="0">
              <a:lnSpc>
                <a:spcPct val="80000"/>
              </a:lnSpc>
              <a:buNone/>
            </a:pPr>
            <a:endParaRPr lang="en-US" sz="800" b="0" strike="noStrike" spc="-1">
              <a:solidFill>
                <a:srgbClr val="000000"/>
              </a:solidFill>
              <a:latin typeface="Arial"/>
            </a:endParaRPr>
          </a:p>
          <a:p>
            <a:pPr marL="216000" indent="0">
              <a:lnSpc>
                <a:spcPct val="80000"/>
              </a:lnSpc>
              <a:buNone/>
            </a:pPr>
            <a:endParaRPr lang="en-US" sz="800" b="0" strike="noStrike" spc="-1">
              <a:solidFill>
                <a:srgbClr val="000000"/>
              </a:solidFill>
              <a:latin typeface="Arial"/>
            </a:endParaRPr>
          </a:p>
          <a:p>
            <a:pPr marL="216000" indent="0">
              <a:lnSpc>
                <a:spcPct val="80000"/>
              </a:lnSpc>
              <a:buNone/>
            </a:pPr>
            <a:endParaRPr lang="en-US" sz="800" b="0" strike="noStrike" spc="-1">
              <a:solidFill>
                <a:srgbClr val="000000"/>
              </a:solidFill>
              <a:latin typeface="Arial"/>
            </a:endParaRPr>
          </a:p>
          <a:p>
            <a:pPr marL="216000" indent="0">
              <a:lnSpc>
                <a:spcPct val="80000"/>
              </a:lnSpc>
              <a:buNone/>
            </a:pPr>
            <a:endParaRPr lang="en-US" sz="800" b="0" strike="noStrike" spc="-1">
              <a:solidFill>
                <a:srgbClr val="000000"/>
              </a:solid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PlaceHolder 1"/>
          <p:cNvSpPr>
            <a:spLocks noGrp="1" noRot="1" noChangeAspect="1"/>
          </p:cNvSpPr>
          <p:nvPr>
            <p:ph type="sldImg"/>
          </p:nvPr>
        </p:nvSpPr>
        <p:spPr>
          <a:xfrm>
            <a:off x="401760" y="681120"/>
            <a:ext cx="6055920" cy="3406320"/>
          </a:xfrm>
          <a:prstGeom prst="rect">
            <a:avLst/>
          </a:prstGeom>
          <a:ln w="0">
            <a:noFill/>
          </a:ln>
        </p:spPr>
      </p:sp>
      <p:sp>
        <p:nvSpPr>
          <p:cNvPr id="326" name="PlaceHolder 2"/>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0">
              <a:lnSpc>
                <a:spcPct val="100000"/>
              </a:lnSpc>
              <a:buNone/>
            </a:pPr>
            <a:endParaRPr lang="en-US" sz="2000" b="0" strike="noStrike" spc="-1">
              <a:solidFill>
                <a:srgbClr val="000000"/>
              </a:solidFill>
              <a:latin typeface="Arial"/>
            </a:endParaRP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CA" sz="2000" b="0" strike="noStrike" spc="-1">
                <a:solidFill>
                  <a:srgbClr val="000000"/>
                </a:solidFill>
                <a:latin typeface="Arial"/>
              </a:rPr>
              <a:t>Old notes, we will not be using VM this year:</a:t>
            </a:r>
            <a:endParaRPr lang="en-US" sz="2000" b="0" strike="noStrike" spc="-1">
              <a:solidFill>
                <a:srgbClr val="000000"/>
              </a:solidFill>
              <a:latin typeface="Arial"/>
            </a:endParaRPr>
          </a:p>
          <a:p>
            <a:pPr marL="216000" indent="0">
              <a:lnSpc>
                <a:spcPct val="100000"/>
              </a:lnSpc>
              <a:buNone/>
            </a:pPr>
            <a:r>
              <a:rPr lang="en-CA" sz="2000" b="0" u="sng" strike="noStrike" spc="-1">
                <a:solidFill>
                  <a:srgbClr val="000000"/>
                </a:solidFill>
                <a:uFillTx/>
                <a:latin typeface="Arial"/>
                <a:hlinkClick r:id="rId3"/>
              </a:rPr>
              <a:t>http://ity-ftp.fanshawec.ca/</a:t>
            </a:r>
            <a:endParaRPr lang="en-US" sz="2000" b="0" strike="noStrike" spc="-1">
              <a:solidFill>
                <a:srgbClr val="000000"/>
              </a:solidFill>
              <a:latin typeface="Arial"/>
            </a:endParaRPr>
          </a:p>
          <a:p>
            <a:pPr marL="216000" indent="0">
              <a:lnSpc>
                <a:spcPct val="100000"/>
              </a:lnSpc>
              <a:buNone/>
            </a:pPr>
            <a:r>
              <a:rPr lang="en-CA" sz="2000" b="0" strike="noStrike" spc="-1">
                <a:solidFill>
                  <a:srgbClr val="000000"/>
                </a:solidFill>
                <a:latin typeface="Arial"/>
              </a:rPr>
              <a:t>In VMWare directory, there is an installer and a licence key for VMWare Workstation</a:t>
            </a:r>
            <a:endParaRPr lang="en-US" sz="2000" b="0" strike="noStrike" spc="-1">
              <a:solidFill>
                <a:srgbClr val="000000"/>
              </a:solidFill>
              <a:latin typeface="Arial"/>
            </a:endParaRPr>
          </a:p>
          <a:p>
            <a:pPr marL="216000" indent="0">
              <a:lnSpc>
                <a:spcPct val="100000"/>
              </a:lnSpc>
              <a:buNone/>
            </a:pPr>
            <a:endParaRPr lang="en-US" sz="2000" b="0" strike="noStrike" spc="-1">
              <a:solidFill>
                <a:srgbClr val="000000"/>
              </a:solidFill>
              <a:latin typeface="Arial"/>
            </a:endParaRPr>
          </a:p>
          <a:p>
            <a:pPr marL="216000" indent="0">
              <a:lnSpc>
                <a:spcPct val="100000"/>
              </a:lnSpc>
              <a:buNone/>
            </a:pPr>
            <a:r>
              <a:rPr lang="en-CA" sz="2000" b="0" strike="noStrike" spc="-1">
                <a:solidFill>
                  <a:srgbClr val="000000"/>
                </a:solidFill>
                <a:latin typeface="Arial"/>
              </a:rPr>
              <a:t>Password for virtual machine users is </a:t>
            </a:r>
            <a:r>
              <a:rPr lang="en-CA" sz="2000" b="1" strike="noStrike" spc="-1">
                <a:solidFill>
                  <a:srgbClr val="000000"/>
                </a:solidFill>
                <a:latin typeface="Arial"/>
              </a:rPr>
              <a:t>Windows1</a:t>
            </a:r>
            <a:endParaRPr lang="en-US" sz="2000" b="0" strike="noStrike" spc="-1">
              <a:solidFill>
                <a:srgbClr val="000000"/>
              </a:solidFill>
              <a:latin typeface="Arial"/>
            </a:endParaRPr>
          </a:p>
          <a:p>
            <a:pPr marL="216000" indent="0">
              <a:lnSpc>
                <a:spcPct val="100000"/>
              </a:lnSpc>
              <a:buNone/>
            </a:pPr>
            <a:endParaRPr lang="en-US" sz="2000" b="0" strike="noStrike" spc="-1">
              <a:solidFill>
                <a:srgbClr val="000000"/>
              </a:solidFill>
              <a:latin typeface="Arial"/>
            </a:endParaRPr>
          </a:p>
        </p:txBody>
      </p:sp>
      <p:sp>
        <p:nvSpPr>
          <p:cNvPr id="327" name="PlaceHolder 3"/>
          <p:cNvSpPr>
            <a:spLocks noGrp="1"/>
          </p:cNvSpPr>
          <p:nvPr>
            <p:ph type="sldNum" idx="45"/>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Times New Roman"/>
              </a:defRPr>
            </a:lvl1pPr>
          </a:lstStyle>
          <a:p>
            <a:pPr indent="0" algn="r">
              <a:lnSpc>
                <a:spcPct val="100000"/>
              </a:lnSpc>
              <a:buNone/>
            </a:pPr>
            <a:fld id="{75C62BA2-3344-4D3B-B6AE-D7E6B77AC500}" type="slidenum">
              <a:rPr lang="en-US" sz="1200" b="0" strike="noStrike" spc="-1">
                <a:solidFill>
                  <a:srgbClr val="000000"/>
                </a:solidFill>
                <a:latin typeface="Times New Roman"/>
              </a:rPr>
              <a:t>9</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p:cNvSpPr>
          <p:nvPr>
            <p:ph type="sldNum" idx="46"/>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defRPr>
            </a:lvl1pPr>
          </a:lstStyle>
          <a:p>
            <a:pPr indent="0" algn="r">
              <a:lnSpc>
                <a:spcPct val="100000"/>
              </a:lnSpc>
              <a:buNone/>
            </a:pPr>
            <a:fld id="{5103AA45-B30A-4433-B8C2-F76E5E8D393E}" type="slidenum">
              <a:rPr lang="en-US" sz="1200" b="0" strike="noStrike" spc="-1">
                <a:solidFill>
                  <a:srgbClr val="000000"/>
                </a:solidFill>
                <a:latin typeface="Arial"/>
              </a:rPr>
              <a:t>18</a:t>
            </a:fld>
            <a:endParaRPr lang="en-US" sz="1200" b="0" strike="noStrike" spc="-1">
              <a:solidFill>
                <a:srgbClr val="000000"/>
              </a:solidFill>
              <a:latin typeface="Times New Roman"/>
            </a:endParaRPr>
          </a:p>
        </p:txBody>
      </p:sp>
      <p:sp>
        <p:nvSpPr>
          <p:cNvPr id="329" name="PlaceHolder 2"/>
          <p:cNvSpPr>
            <a:spLocks noGrp="1" noRot="1" noChangeAspect="1"/>
          </p:cNvSpPr>
          <p:nvPr>
            <p:ph type="sldImg"/>
          </p:nvPr>
        </p:nvSpPr>
        <p:spPr>
          <a:xfrm>
            <a:off x="401760" y="681120"/>
            <a:ext cx="6054480" cy="3406320"/>
          </a:xfrm>
          <a:prstGeom prst="rect">
            <a:avLst/>
          </a:prstGeom>
          <a:ln w="0">
            <a:noFill/>
          </a:ln>
        </p:spPr>
      </p:sp>
      <p:sp>
        <p:nvSpPr>
          <p:cNvPr id="330" name="PlaceHolder 3"/>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0">
              <a:lnSpc>
                <a:spcPct val="100000"/>
              </a:lnSpc>
              <a:buNone/>
            </a:pPr>
            <a:r>
              <a:rPr lang="en-US" sz="2000" b="0" strike="noStrike" spc="-1">
                <a:solidFill>
                  <a:srgbClr val="000000"/>
                </a:solidFill>
                <a:latin typeface="Arial"/>
              </a:rPr>
              <a:t>Cannot use a PHP keyword as a variable name</a:t>
            </a:r>
          </a:p>
          <a:p>
            <a:pPr marL="216000" indent="0">
              <a:lnSpc>
                <a:spcPct val="100000"/>
              </a:lnSpc>
              <a:buNone/>
            </a:pPr>
            <a:endParaRPr lang="en-US" sz="2000" b="0" strike="noStrike" spc="-1">
              <a:solidFill>
                <a:srgbClr val="000000"/>
              </a:solidFill>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laceHolder 1"/>
          <p:cNvSpPr>
            <a:spLocks noGrp="1"/>
          </p:cNvSpPr>
          <p:nvPr>
            <p:ph type="sldNum" idx="47"/>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defRPr>
            </a:lvl1pPr>
          </a:lstStyle>
          <a:p>
            <a:pPr indent="0" algn="r">
              <a:lnSpc>
                <a:spcPct val="100000"/>
              </a:lnSpc>
              <a:buNone/>
            </a:pPr>
            <a:fld id="{DE01C54F-04B0-4914-95DB-4C2B7C450223}" type="slidenum">
              <a:rPr lang="en-US" sz="1200" b="0" strike="noStrike" spc="-1">
                <a:solidFill>
                  <a:srgbClr val="000000"/>
                </a:solidFill>
                <a:latin typeface="Arial"/>
              </a:rPr>
              <a:t>58</a:t>
            </a:fld>
            <a:endParaRPr lang="en-US" sz="1200" b="0" strike="noStrike" spc="-1">
              <a:solidFill>
                <a:srgbClr val="000000"/>
              </a:solidFill>
              <a:latin typeface="Times New Roman"/>
            </a:endParaRPr>
          </a:p>
        </p:txBody>
      </p:sp>
      <p:sp>
        <p:nvSpPr>
          <p:cNvPr id="332" name="PlaceHolder 2"/>
          <p:cNvSpPr>
            <a:spLocks noGrp="1" noRot="1" noChangeAspect="1"/>
          </p:cNvSpPr>
          <p:nvPr>
            <p:ph type="sldImg"/>
          </p:nvPr>
        </p:nvSpPr>
        <p:spPr>
          <a:xfrm>
            <a:off x="401760" y="681120"/>
            <a:ext cx="6055920" cy="3406320"/>
          </a:xfrm>
          <a:prstGeom prst="rect">
            <a:avLst/>
          </a:prstGeom>
          <a:ln w="0">
            <a:noFill/>
          </a:ln>
        </p:spPr>
      </p:sp>
      <p:sp>
        <p:nvSpPr>
          <p:cNvPr id="333" name="PlaceHolder 3"/>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0">
              <a:lnSpc>
                <a:spcPct val="100000"/>
              </a:lnSpc>
              <a:buNone/>
            </a:pPr>
            <a:r>
              <a:rPr lang="en-US" sz="2000" b="0" strike="noStrike" spc="-1">
                <a:solidFill>
                  <a:srgbClr val="000000"/>
                </a:solidFill>
                <a:latin typeface="Arial"/>
              </a:rPr>
              <a:t>(If you want to buy the book, be sure to do so before they are returned by the bookstore)</a:t>
            </a:r>
          </a:p>
          <a:p>
            <a:pPr marL="216000" indent="0">
              <a:lnSpc>
                <a:spcPct val="100000"/>
              </a:lnSpc>
              <a:buNone/>
            </a:pPr>
            <a:endParaRPr lang="en-US" sz="2000" b="0" strike="noStrike" spc="-1">
              <a:solidFill>
                <a:srgbClr val="000000"/>
              </a:solid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noRot="1" noChangeAspect="1"/>
          </p:cNvSpPr>
          <p:nvPr>
            <p:ph type="sldImg"/>
          </p:nvPr>
        </p:nvSpPr>
        <p:spPr>
          <a:xfrm>
            <a:off x="401760" y="681120"/>
            <a:ext cx="6055920" cy="3406320"/>
          </a:xfrm>
          <a:prstGeom prst="rect">
            <a:avLst/>
          </a:prstGeom>
          <a:ln w="0">
            <a:noFill/>
          </a:ln>
        </p:spPr>
      </p:sp>
      <p:sp>
        <p:nvSpPr>
          <p:cNvPr id="335" name="PlaceHolder 2"/>
          <p:cNvSpPr>
            <a:spLocks noGrp="1"/>
          </p:cNvSpPr>
          <p:nvPr>
            <p:ph type="body"/>
          </p:nvPr>
        </p:nvSpPr>
        <p:spPr>
          <a:xfrm>
            <a:off x="685800" y="4314960"/>
            <a:ext cx="5486040" cy="4087440"/>
          </a:xfrm>
          <a:prstGeom prst="rect">
            <a:avLst/>
          </a:prstGeom>
          <a:noFill/>
          <a:ln w="9360">
            <a:noFill/>
          </a:ln>
        </p:spPr>
        <p:txBody>
          <a:bodyPr numCol="1" spcCol="0" anchor="t">
            <a:noAutofit/>
          </a:bodyPr>
          <a:lstStyle/>
          <a:p>
            <a:pPr marL="216000" indent="0">
              <a:lnSpc>
                <a:spcPct val="100000"/>
              </a:lnSpc>
              <a:buNone/>
            </a:pPr>
            <a:r>
              <a:rPr lang="en-US" sz="1200" b="0" u="sng" strike="noStrike" spc="-1">
                <a:solidFill>
                  <a:srgbClr val="000000"/>
                </a:solidFill>
                <a:uFillTx/>
                <a:latin typeface="Arial"/>
                <a:hlinkClick r:id="rId3"/>
              </a:rPr>
              <a:t>www.troutworks.com/phpbook</a:t>
            </a:r>
            <a:endParaRPr lang="en-US" sz="1200" b="0" strike="noStrike" spc="-1">
              <a:solidFill>
                <a:srgbClr val="000000"/>
              </a:solidFill>
              <a:latin typeface="Arial"/>
            </a:endParaRPr>
          </a:p>
          <a:p>
            <a:pPr marL="216000" indent="0">
              <a:lnSpc>
                <a:spcPct val="90000"/>
              </a:lnSpc>
              <a:buNone/>
            </a:pPr>
            <a:endParaRPr lang="en-US" sz="1200" b="0" strike="noStrike" spc="-1">
              <a:solidFill>
                <a:srgbClr val="000000"/>
              </a:solidFill>
              <a:latin typeface="Arial"/>
            </a:endParaRPr>
          </a:p>
          <a:p>
            <a:pPr marL="216000" indent="0">
              <a:lnSpc>
                <a:spcPct val="90000"/>
              </a:lnSpc>
              <a:buNone/>
            </a:pPr>
            <a:r>
              <a:rPr lang="en-US" sz="1200" b="0" strike="noStrike" spc="-1">
                <a:solidFill>
                  <a:srgbClr val="000000"/>
                </a:solidFill>
                <a:latin typeface="Arial"/>
              </a:rPr>
              <a:t>Beighley and Morrison, </a:t>
            </a:r>
            <a:r>
              <a:rPr lang="en-US" sz="1200" b="0" u="sng" strike="noStrike" spc="-1">
                <a:solidFill>
                  <a:srgbClr val="000000"/>
                </a:solidFill>
                <a:uFillTx/>
                <a:latin typeface="Arial"/>
              </a:rPr>
              <a:t>Head First PHP and MySQL</a:t>
            </a:r>
            <a:r>
              <a:rPr lang="en-US" sz="1200" b="0" strike="noStrike" spc="-1">
                <a:solidFill>
                  <a:srgbClr val="000000"/>
                </a:solidFill>
                <a:latin typeface="Arial"/>
              </a:rPr>
              <a:t>, O'Reilly.</a:t>
            </a:r>
          </a:p>
          <a:p>
            <a:pPr marL="216000" indent="0">
              <a:lnSpc>
                <a:spcPct val="90000"/>
              </a:lnSpc>
              <a:buNone/>
            </a:pPr>
            <a:r>
              <a:rPr lang="en-US" sz="1200" b="0" strike="noStrike" spc="-1">
                <a:solidFill>
                  <a:srgbClr val="000000"/>
                </a:solidFill>
                <a:latin typeface="Arial"/>
              </a:rPr>
              <a:t>Paul DuBois.  </a:t>
            </a:r>
            <a:r>
              <a:rPr lang="en-US" sz="1200" b="0" u="sng" strike="noStrike" spc="-1">
                <a:solidFill>
                  <a:srgbClr val="000000"/>
                </a:solidFill>
                <a:uFillTx/>
                <a:latin typeface="Arial"/>
              </a:rPr>
              <a:t>MySQL</a:t>
            </a:r>
            <a:r>
              <a:rPr lang="en-US" sz="1200" b="0" strike="noStrike" spc="-1">
                <a:solidFill>
                  <a:srgbClr val="000000"/>
                </a:solidFill>
                <a:latin typeface="Arial"/>
              </a:rPr>
              <a:t>.</a:t>
            </a:r>
          </a:p>
          <a:p>
            <a:pPr marL="216000" indent="0">
              <a:lnSpc>
                <a:spcPct val="90000"/>
              </a:lnSpc>
              <a:buNone/>
            </a:pPr>
            <a:r>
              <a:rPr lang="en-US" sz="1200" b="0" strike="noStrike" spc="-1">
                <a:solidFill>
                  <a:srgbClr val="000000"/>
                </a:solidFill>
                <a:latin typeface="Arial"/>
              </a:rPr>
              <a:t>Paul DuBois.  </a:t>
            </a:r>
            <a:r>
              <a:rPr lang="en-US" sz="1200" b="0" u="sng" strike="noStrike" spc="-1">
                <a:solidFill>
                  <a:srgbClr val="000000"/>
                </a:solidFill>
                <a:uFillTx/>
                <a:latin typeface="Arial"/>
              </a:rPr>
              <a:t>MySQL Cookbook</a:t>
            </a:r>
            <a:r>
              <a:rPr lang="en-US" sz="1200" b="0" strike="noStrike" spc="-1">
                <a:solidFill>
                  <a:srgbClr val="000000"/>
                </a:solidFill>
                <a:latin typeface="Arial"/>
              </a:rPr>
              <a:t>.</a:t>
            </a:r>
          </a:p>
          <a:p>
            <a:pPr indent="0">
              <a:lnSpc>
                <a:spcPct val="90000"/>
              </a:lnSpc>
              <a:spcBef>
                <a:spcPts val="360"/>
              </a:spcBef>
              <a:buNone/>
              <a:tabLst>
                <a:tab pos="0" algn="l"/>
              </a:tabLst>
            </a:pPr>
            <a:r>
              <a:rPr lang="en-US" sz="1200" b="0" strike="noStrike" spc="-1">
                <a:solidFill>
                  <a:srgbClr val="000000"/>
                </a:solidFill>
                <a:latin typeface="Arial"/>
              </a:rPr>
              <a:t>Julie C. Meioni.  Teach Yourself MySQL and PHP</a:t>
            </a:r>
          </a:p>
          <a:p>
            <a:pPr indent="0">
              <a:lnSpc>
                <a:spcPct val="90000"/>
              </a:lnSpc>
              <a:buNone/>
              <a:tabLst>
                <a:tab pos="0" algn="l"/>
              </a:tabLst>
            </a:pPr>
            <a:endParaRPr lang="en-US" sz="1200" b="0" strike="noStrike" spc="-1">
              <a:solidFill>
                <a:srgbClr val="000000"/>
              </a:solidFill>
              <a:latin typeface="Arial"/>
            </a:endParaRPr>
          </a:p>
          <a:p>
            <a:pPr indent="0">
              <a:lnSpc>
                <a:spcPct val="100000"/>
              </a:lnSpc>
              <a:buNone/>
              <a:tabLst>
                <a:tab pos="0" algn="l"/>
              </a:tabLst>
            </a:pPr>
            <a:endParaRPr lang="en-US" sz="1200" b="0" strike="noStrike" spc="-1">
              <a:solidFill>
                <a:srgbClr val="000000"/>
              </a:solidFill>
              <a:latin typeface="Arial"/>
            </a:endParaRPr>
          </a:p>
        </p:txBody>
      </p:sp>
      <p:sp>
        <p:nvSpPr>
          <p:cNvPr id="336" name="PlaceHolder 3"/>
          <p:cNvSpPr>
            <a:spLocks noGrp="1"/>
          </p:cNvSpPr>
          <p:nvPr>
            <p:ph type="sldNum" idx="48"/>
          </p:nvPr>
        </p:nvSpPr>
        <p:spPr>
          <a:xfrm>
            <a:off x="3884760" y="8628120"/>
            <a:ext cx="2971440" cy="453600"/>
          </a:xfrm>
          <a:prstGeom prst="rect">
            <a:avLst/>
          </a:prstGeom>
          <a:noFill/>
          <a:ln w="9360">
            <a:noFill/>
          </a:ln>
        </p:spPr>
        <p:txBody>
          <a:bodyPr numCol="1" spcCol="0" anchor="b">
            <a:noAutofit/>
          </a:bodyPr>
          <a:lstStyle>
            <a:lvl1pPr indent="0" algn="r">
              <a:lnSpc>
                <a:spcPct val="100000"/>
              </a:lnSpc>
              <a:buNone/>
              <a:defRPr lang="en-US" sz="1200" b="0" strike="noStrike" spc="-1">
                <a:solidFill>
                  <a:srgbClr val="000000"/>
                </a:solidFill>
                <a:latin typeface="Arial"/>
                <a:ea typeface="+mn-ea"/>
              </a:defRPr>
            </a:lvl1pPr>
          </a:lstStyle>
          <a:p>
            <a:pPr indent="0" algn="r">
              <a:lnSpc>
                <a:spcPct val="100000"/>
              </a:lnSpc>
              <a:buNone/>
            </a:pPr>
            <a:fld id="{E5861CF1-8515-466C-BA6E-3EDCBB19443D}" type="slidenum">
              <a:rPr lang="en-US" sz="1200" b="0" strike="noStrike" spc="-1">
                <a:solidFill>
                  <a:srgbClr val="000000"/>
                </a:solidFill>
                <a:latin typeface="Arial"/>
                <a:ea typeface="+mn-ea"/>
              </a:rPr>
              <a:t>59</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3" name="PlaceHolder 2"/>
          <p:cNvSpPr>
            <a:spLocks noGrp="1"/>
          </p:cNvSpPr>
          <p:nvPr>
            <p:ph type="subTitle"/>
          </p:nvPr>
        </p:nvSpPr>
        <p:spPr>
          <a:xfrm>
            <a:off x="1119960" y="1825560"/>
            <a:ext cx="10233360" cy="40708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5" name="PlaceHolder 2"/>
          <p:cNvSpPr>
            <a:spLocks noGrp="1"/>
          </p:cNvSpPr>
          <p:nvPr>
            <p:ph/>
          </p:nvPr>
        </p:nvSpPr>
        <p:spPr>
          <a:xfrm>
            <a:off x="1119960" y="1825560"/>
            <a:ext cx="102333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7"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8"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2"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3"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4"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6"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7"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8" name="PlaceHolder 4"/>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20"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21"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22" name="PlaceHolder 4"/>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24" name="PlaceHolder 2"/>
          <p:cNvSpPr>
            <a:spLocks noGrp="1"/>
          </p:cNvSpPr>
          <p:nvPr>
            <p:ph/>
          </p:nvPr>
        </p:nvSpPr>
        <p:spPr>
          <a:xfrm>
            <a:off x="1119960" y="182556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25" name="PlaceHolder 3"/>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27"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28"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29"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30" name="PlaceHolder 5"/>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32" name="PlaceHolder 2"/>
          <p:cNvSpPr>
            <a:spLocks noGrp="1"/>
          </p:cNvSpPr>
          <p:nvPr>
            <p:ph/>
          </p:nvPr>
        </p:nvSpPr>
        <p:spPr>
          <a:xfrm>
            <a:off x="111996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33" name="PlaceHolder 3"/>
          <p:cNvSpPr>
            <a:spLocks noGrp="1"/>
          </p:cNvSpPr>
          <p:nvPr>
            <p:ph/>
          </p:nvPr>
        </p:nvSpPr>
        <p:spPr>
          <a:xfrm>
            <a:off x="45799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34" name="PlaceHolder 4"/>
          <p:cNvSpPr>
            <a:spLocks noGrp="1"/>
          </p:cNvSpPr>
          <p:nvPr>
            <p:ph/>
          </p:nvPr>
        </p:nvSpPr>
        <p:spPr>
          <a:xfrm>
            <a:off x="80395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35" name="PlaceHolder 5"/>
          <p:cNvSpPr>
            <a:spLocks noGrp="1"/>
          </p:cNvSpPr>
          <p:nvPr>
            <p:ph/>
          </p:nvPr>
        </p:nvSpPr>
        <p:spPr>
          <a:xfrm>
            <a:off x="111996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36" name="PlaceHolder 6"/>
          <p:cNvSpPr>
            <a:spLocks noGrp="1"/>
          </p:cNvSpPr>
          <p:nvPr>
            <p:ph/>
          </p:nvPr>
        </p:nvSpPr>
        <p:spPr>
          <a:xfrm>
            <a:off x="45799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37" name="PlaceHolder 7"/>
          <p:cNvSpPr>
            <a:spLocks noGrp="1"/>
          </p:cNvSpPr>
          <p:nvPr>
            <p:ph/>
          </p:nvPr>
        </p:nvSpPr>
        <p:spPr>
          <a:xfrm>
            <a:off x="80395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C58A2FE1-3F2C-4C59-9F08-357A932702D3}"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44" name="PlaceHolder 2"/>
          <p:cNvSpPr>
            <a:spLocks noGrp="1"/>
          </p:cNvSpPr>
          <p:nvPr>
            <p:ph type="subTitle"/>
          </p:nvPr>
        </p:nvSpPr>
        <p:spPr>
          <a:xfrm>
            <a:off x="1119960" y="1825560"/>
            <a:ext cx="10233360" cy="40708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8865AAEB-6884-4BD8-873E-39BC6316058C}"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46" name="PlaceHolder 2"/>
          <p:cNvSpPr>
            <a:spLocks noGrp="1"/>
          </p:cNvSpPr>
          <p:nvPr>
            <p:ph/>
          </p:nvPr>
        </p:nvSpPr>
        <p:spPr>
          <a:xfrm>
            <a:off x="1119960" y="1825560"/>
            <a:ext cx="102333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C5DDC33-84B3-42E9-8D94-F78E776CC8BB}"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48"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49"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3C0CFDD-C67B-477E-9231-D17B2578F42C}"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50448803-A9DA-4521-8377-675C71432642}"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74C77B73-FDA5-414F-A14F-7730FAAC362F}"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53"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4"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5"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FF79192-9658-401D-9AFF-5E59459A7156}"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57"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8"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9" name="PlaceHolder 4"/>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123ADE6-C312-4DD1-BCB5-701426755262}"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61"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2"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3" name="PlaceHolder 4"/>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32DB5AC7-ED01-47DC-BB88-E68C4070743C}"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65" name="PlaceHolder 2"/>
          <p:cNvSpPr>
            <a:spLocks noGrp="1"/>
          </p:cNvSpPr>
          <p:nvPr>
            <p:ph/>
          </p:nvPr>
        </p:nvSpPr>
        <p:spPr>
          <a:xfrm>
            <a:off x="1119960" y="182556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6" name="PlaceHolder 3"/>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343C6177-8D78-4DF3-9AFB-4D8E4B5BAE87}"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68"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9"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0"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1" name="PlaceHolder 5"/>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753B4999-1BD9-4780-9154-90542F6E07E0}"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73" name="PlaceHolder 2"/>
          <p:cNvSpPr>
            <a:spLocks noGrp="1"/>
          </p:cNvSpPr>
          <p:nvPr>
            <p:ph/>
          </p:nvPr>
        </p:nvSpPr>
        <p:spPr>
          <a:xfrm>
            <a:off x="111996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4" name="PlaceHolder 3"/>
          <p:cNvSpPr>
            <a:spLocks noGrp="1"/>
          </p:cNvSpPr>
          <p:nvPr>
            <p:ph/>
          </p:nvPr>
        </p:nvSpPr>
        <p:spPr>
          <a:xfrm>
            <a:off x="45799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5" name="PlaceHolder 4"/>
          <p:cNvSpPr>
            <a:spLocks noGrp="1"/>
          </p:cNvSpPr>
          <p:nvPr>
            <p:ph/>
          </p:nvPr>
        </p:nvSpPr>
        <p:spPr>
          <a:xfrm>
            <a:off x="80395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6" name="PlaceHolder 5"/>
          <p:cNvSpPr>
            <a:spLocks noGrp="1"/>
          </p:cNvSpPr>
          <p:nvPr>
            <p:ph/>
          </p:nvPr>
        </p:nvSpPr>
        <p:spPr>
          <a:xfrm>
            <a:off x="111996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7" name="PlaceHolder 6"/>
          <p:cNvSpPr>
            <a:spLocks noGrp="1"/>
          </p:cNvSpPr>
          <p:nvPr>
            <p:ph/>
          </p:nvPr>
        </p:nvSpPr>
        <p:spPr>
          <a:xfrm>
            <a:off x="45799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8" name="PlaceHolder 7"/>
          <p:cNvSpPr>
            <a:spLocks noGrp="1"/>
          </p:cNvSpPr>
          <p:nvPr>
            <p:ph/>
          </p:nvPr>
        </p:nvSpPr>
        <p:spPr>
          <a:xfrm>
            <a:off x="80395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34B30FA2-0205-4173-9C64-38E622CFBEFD}"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07BE1FBB-513C-4C49-AED7-B6F8A7E5A5F0}"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85" name="PlaceHolder 2"/>
          <p:cNvSpPr>
            <a:spLocks noGrp="1"/>
          </p:cNvSpPr>
          <p:nvPr>
            <p:ph type="subTitle"/>
          </p:nvPr>
        </p:nvSpPr>
        <p:spPr>
          <a:xfrm>
            <a:off x="1119960" y="1825560"/>
            <a:ext cx="10233360" cy="40708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DD196231-E94F-4B6A-A3AC-D41406E75B0B}"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87" name="PlaceHolder 2"/>
          <p:cNvSpPr>
            <a:spLocks noGrp="1"/>
          </p:cNvSpPr>
          <p:nvPr>
            <p:ph/>
          </p:nvPr>
        </p:nvSpPr>
        <p:spPr>
          <a:xfrm>
            <a:off x="1119960" y="1825560"/>
            <a:ext cx="102333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3F744548-FEAA-4AA3-B855-7565E1AC00B6}"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89"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90"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DB68108E-25CA-41DB-8376-9A59950FFE0A}"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677C75E3-2202-40E9-94A2-96DDAF842191}"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B18B264E-4AE0-4A2B-9262-326FDAED1A92}"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94"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95"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96"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DBDD9EB-0C5B-4540-A97C-F989F8DA957D}"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98"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99"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00" name="PlaceHolder 4"/>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A3F75BCC-76CF-4714-AD13-A006C68DDA0A}"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02"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03"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04" name="PlaceHolder 4"/>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C498217-2CB0-4070-BD90-8C275ED572E5}"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06" name="PlaceHolder 2"/>
          <p:cNvSpPr>
            <a:spLocks noGrp="1"/>
          </p:cNvSpPr>
          <p:nvPr>
            <p:ph/>
          </p:nvPr>
        </p:nvSpPr>
        <p:spPr>
          <a:xfrm>
            <a:off x="1119960" y="182556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07" name="PlaceHolder 3"/>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334447A6-9CE8-4F8E-9CA0-17C903712042}"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09"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0"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1"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2" name="PlaceHolder 5"/>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D4D261DE-27E6-4A5F-8527-DC0636A96F02}"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14" name="PlaceHolder 2"/>
          <p:cNvSpPr>
            <a:spLocks noGrp="1"/>
          </p:cNvSpPr>
          <p:nvPr>
            <p:ph/>
          </p:nvPr>
        </p:nvSpPr>
        <p:spPr>
          <a:xfrm>
            <a:off x="111996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5" name="PlaceHolder 3"/>
          <p:cNvSpPr>
            <a:spLocks noGrp="1"/>
          </p:cNvSpPr>
          <p:nvPr>
            <p:ph/>
          </p:nvPr>
        </p:nvSpPr>
        <p:spPr>
          <a:xfrm>
            <a:off x="45799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6" name="PlaceHolder 4"/>
          <p:cNvSpPr>
            <a:spLocks noGrp="1"/>
          </p:cNvSpPr>
          <p:nvPr>
            <p:ph/>
          </p:nvPr>
        </p:nvSpPr>
        <p:spPr>
          <a:xfrm>
            <a:off x="80395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7" name="PlaceHolder 5"/>
          <p:cNvSpPr>
            <a:spLocks noGrp="1"/>
          </p:cNvSpPr>
          <p:nvPr>
            <p:ph/>
          </p:nvPr>
        </p:nvSpPr>
        <p:spPr>
          <a:xfrm>
            <a:off x="111996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8" name="PlaceHolder 6"/>
          <p:cNvSpPr>
            <a:spLocks noGrp="1"/>
          </p:cNvSpPr>
          <p:nvPr>
            <p:ph/>
          </p:nvPr>
        </p:nvSpPr>
        <p:spPr>
          <a:xfrm>
            <a:off x="45799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19" name="PlaceHolder 7"/>
          <p:cNvSpPr>
            <a:spLocks noGrp="1"/>
          </p:cNvSpPr>
          <p:nvPr>
            <p:ph/>
          </p:nvPr>
        </p:nvSpPr>
        <p:spPr>
          <a:xfrm>
            <a:off x="80395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12D62786-4A07-494E-94DE-43885073143B}"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23" name="PlaceHolder 2"/>
          <p:cNvSpPr>
            <a:spLocks noGrp="1"/>
          </p:cNvSpPr>
          <p:nvPr>
            <p:ph type="subTitle"/>
          </p:nvPr>
        </p:nvSpPr>
        <p:spPr>
          <a:xfrm>
            <a:off x="1119960" y="1825560"/>
            <a:ext cx="10233360" cy="40708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25" name="PlaceHolder 2"/>
          <p:cNvSpPr>
            <a:spLocks noGrp="1"/>
          </p:cNvSpPr>
          <p:nvPr>
            <p:ph/>
          </p:nvPr>
        </p:nvSpPr>
        <p:spPr>
          <a:xfrm>
            <a:off x="1119960" y="1825560"/>
            <a:ext cx="102333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27"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28"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0"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32"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33" name="PlaceHolder 3"/>
          <p:cNvSpPr>
            <a:spLocks noGrp="1"/>
          </p:cNvSpPr>
          <p:nvPr>
            <p:ph/>
          </p:nvPr>
        </p:nvSpPr>
        <p:spPr>
          <a:xfrm>
            <a:off x="636372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34"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36" name="PlaceHolder 2"/>
          <p:cNvSpPr>
            <a:spLocks noGrp="1"/>
          </p:cNvSpPr>
          <p:nvPr>
            <p:ph/>
          </p:nvPr>
        </p:nvSpPr>
        <p:spPr>
          <a:xfrm>
            <a:off x="1119960" y="1825560"/>
            <a:ext cx="4993560" cy="40708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37"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38" name="PlaceHolder 4"/>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40"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41"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42" name="PlaceHolder 4"/>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44" name="PlaceHolder 2"/>
          <p:cNvSpPr>
            <a:spLocks noGrp="1"/>
          </p:cNvSpPr>
          <p:nvPr>
            <p:ph/>
          </p:nvPr>
        </p:nvSpPr>
        <p:spPr>
          <a:xfrm>
            <a:off x="1119960" y="182556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45" name="PlaceHolder 3"/>
          <p:cNvSpPr>
            <a:spLocks noGrp="1"/>
          </p:cNvSpPr>
          <p:nvPr>
            <p:ph/>
          </p:nvPr>
        </p:nvSpPr>
        <p:spPr>
          <a:xfrm>
            <a:off x="1119960" y="3951720"/>
            <a:ext cx="102333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47" name="PlaceHolder 2"/>
          <p:cNvSpPr>
            <a:spLocks noGrp="1"/>
          </p:cNvSpPr>
          <p:nvPr>
            <p:ph/>
          </p:nvPr>
        </p:nvSpPr>
        <p:spPr>
          <a:xfrm>
            <a:off x="111996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48" name="PlaceHolder 3"/>
          <p:cNvSpPr>
            <a:spLocks noGrp="1"/>
          </p:cNvSpPr>
          <p:nvPr>
            <p:ph/>
          </p:nvPr>
        </p:nvSpPr>
        <p:spPr>
          <a:xfrm>
            <a:off x="6363720" y="182556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49" name="PlaceHolder 4"/>
          <p:cNvSpPr>
            <a:spLocks noGrp="1"/>
          </p:cNvSpPr>
          <p:nvPr>
            <p:ph/>
          </p:nvPr>
        </p:nvSpPr>
        <p:spPr>
          <a:xfrm>
            <a:off x="111996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50" name="PlaceHolder 5"/>
          <p:cNvSpPr>
            <a:spLocks noGrp="1"/>
          </p:cNvSpPr>
          <p:nvPr>
            <p:ph/>
          </p:nvPr>
        </p:nvSpPr>
        <p:spPr>
          <a:xfrm>
            <a:off x="6363720" y="3951720"/>
            <a:ext cx="499356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959" b="0" strike="noStrike" spc="-1">
              <a:solidFill>
                <a:srgbClr val="FFFFFF"/>
              </a:solidFill>
              <a:latin typeface="Arial"/>
            </a:endParaRPr>
          </a:p>
        </p:txBody>
      </p:sp>
      <p:sp>
        <p:nvSpPr>
          <p:cNvPr id="152" name="PlaceHolder 2"/>
          <p:cNvSpPr>
            <a:spLocks noGrp="1"/>
          </p:cNvSpPr>
          <p:nvPr>
            <p:ph/>
          </p:nvPr>
        </p:nvSpPr>
        <p:spPr>
          <a:xfrm>
            <a:off x="111996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53" name="PlaceHolder 3"/>
          <p:cNvSpPr>
            <a:spLocks noGrp="1"/>
          </p:cNvSpPr>
          <p:nvPr>
            <p:ph/>
          </p:nvPr>
        </p:nvSpPr>
        <p:spPr>
          <a:xfrm>
            <a:off x="45799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54" name="PlaceHolder 4"/>
          <p:cNvSpPr>
            <a:spLocks noGrp="1"/>
          </p:cNvSpPr>
          <p:nvPr>
            <p:ph/>
          </p:nvPr>
        </p:nvSpPr>
        <p:spPr>
          <a:xfrm>
            <a:off x="8039520" y="182556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55" name="PlaceHolder 5"/>
          <p:cNvSpPr>
            <a:spLocks noGrp="1"/>
          </p:cNvSpPr>
          <p:nvPr>
            <p:ph/>
          </p:nvPr>
        </p:nvSpPr>
        <p:spPr>
          <a:xfrm>
            <a:off x="111996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56" name="PlaceHolder 6"/>
          <p:cNvSpPr>
            <a:spLocks noGrp="1"/>
          </p:cNvSpPr>
          <p:nvPr>
            <p:ph/>
          </p:nvPr>
        </p:nvSpPr>
        <p:spPr>
          <a:xfrm>
            <a:off x="45799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
        <p:nvSpPr>
          <p:cNvPr id="157" name="PlaceHolder 7"/>
          <p:cNvSpPr>
            <a:spLocks noGrp="1"/>
          </p:cNvSpPr>
          <p:nvPr>
            <p:ph/>
          </p:nvPr>
        </p:nvSpPr>
        <p:spPr>
          <a:xfrm>
            <a:off x="8039520" y="3951720"/>
            <a:ext cx="3294720" cy="1941480"/>
          </a:xfrm>
          <a:prstGeom prst="rect">
            <a:avLst/>
          </a:prstGeom>
          <a:noFill/>
          <a:ln w="0">
            <a:noFill/>
          </a:ln>
        </p:spPr>
        <p:txBody>
          <a:bodyPr lIns="0" tIns="0" rIns="0" bIns="0" anchor="t">
            <a:normAutofit/>
          </a:bodyPr>
          <a:lstStyle/>
          <a:p>
            <a:pPr indent="0">
              <a:lnSpc>
                <a:spcPct val="90000"/>
              </a:lnSpc>
              <a:spcBef>
                <a:spcPts val="1417"/>
              </a:spcBef>
              <a:buNone/>
            </a:pPr>
            <a:endParaRPr lang="en-US" sz="288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209680" y="2043720"/>
            <a:ext cx="9143640" cy="1641240"/>
          </a:xfrm>
          <a:prstGeom prst="rect">
            <a:avLst/>
          </a:prstGeom>
          <a:noFill/>
          <a:ln w="0">
            <a:noFill/>
          </a:ln>
        </p:spPr>
        <p:txBody>
          <a:bodyPr anchor="t">
            <a:normAutofit/>
          </a:bodyPr>
          <a:lstStyle/>
          <a:p>
            <a:pPr indent="0" algn="r">
              <a:lnSpc>
                <a:spcPct val="90000"/>
              </a:lnSpc>
              <a:buNone/>
            </a:pPr>
            <a:r>
              <a:rPr lang="en-US" sz="3959" b="1" strike="noStrike" spc="-205">
                <a:solidFill>
                  <a:srgbClr val="FFFFFF"/>
                </a:solidFill>
                <a:latin typeface="Arial"/>
              </a:rPr>
              <a:t>Click to edit Master title style</a:t>
            </a:r>
            <a:endParaRPr lang="en-US" sz="3959" b="0" strike="noStrike" spc="-1">
              <a:solidFill>
                <a:srgbClr val="FFFFFF"/>
              </a:solidFill>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8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16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44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Click to edit Master title style</a:t>
            </a:r>
            <a:endParaRPr lang="en-US" sz="3959" b="0" strike="noStrike" spc="-1">
              <a:solidFill>
                <a:srgbClr val="FFFFFF"/>
              </a:solidFill>
              <a:latin typeface="Arial"/>
            </a:endParaRPr>
          </a:p>
        </p:txBody>
      </p:sp>
      <p:sp>
        <p:nvSpPr>
          <p:cNvPr id="39" name="PlaceHolder 2"/>
          <p:cNvSpPr>
            <a:spLocks noGrp="1"/>
          </p:cNvSpPr>
          <p:nvPr>
            <p:ph type="body"/>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Click to edit Master text styles</a:t>
            </a:r>
          </a:p>
          <a:p>
            <a:pPr marL="462960" lvl="1" indent="-154440">
              <a:lnSpc>
                <a:spcPct val="90000"/>
              </a:lnSpc>
              <a:spcBef>
                <a:spcPts val="337"/>
              </a:spcBef>
              <a:buClr>
                <a:srgbClr val="000000"/>
              </a:buClr>
              <a:buFont typeface="Arial"/>
              <a:buChar char="•"/>
            </a:pPr>
            <a:r>
              <a:rPr lang="en-US" sz="2520" b="0" strike="noStrike" spc="-1">
                <a:solidFill>
                  <a:srgbClr val="000000"/>
                </a:solidFill>
                <a:latin typeface="Arial"/>
              </a:rPr>
              <a:t>Second level</a:t>
            </a:r>
          </a:p>
          <a:p>
            <a:pPr marL="771480" lvl="2" indent="-154440">
              <a:lnSpc>
                <a:spcPct val="90000"/>
              </a:lnSpc>
              <a:spcBef>
                <a:spcPts val="337"/>
              </a:spcBef>
              <a:buClr>
                <a:srgbClr val="000000"/>
              </a:buClr>
              <a:buFont typeface="Arial"/>
              <a:buChar char="•"/>
            </a:pPr>
            <a:r>
              <a:rPr lang="en-US" sz="2160" b="0" strike="noStrike" spc="-1">
                <a:solidFill>
                  <a:srgbClr val="000000"/>
                </a:solidFill>
                <a:latin typeface="Arial"/>
              </a:rPr>
              <a:t>Third level</a:t>
            </a:r>
          </a:p>
          <a:p>
            <a:pPr marL="1080000" lvl="3" indent="-154440">
              <a:lnSpc>
                <a:spcPct val="90000"/>
              </a:lnSpc>
              <a:spcBef>
                <a:spcPts val="337"/>
              </a:spcBef>
              <a:buClr>
                <a:srgbClr val="000000"/>
              </a:buClr>
              <a:buFont typeface="Arial"/>
              <a:buChar char="•"/>
            </a:pPr>
            <a:r>
              <a:rPr lang="en-US" sz="1800" b="0" strike="noStrike" spc="-1">
                <a:solidFill>
                  <a:srgbClr val="000000"/>
                </a:solidFill>
                <a:latin typeface="Arial"/>
              </a:rPr>
              <a:t>Fourth level</a:t>
            </a:r>
          </a:p>
          <a:p>
            <a:pPr marL="1388880" lvl="4" indent="-154440">
              <a:lnSpc>
                <a:spcPct val="90000"/>
              </a:lnSpc>
              <a:spcBef>
                <a:spcPts val="337"/>
              </a:spcBef>
              <a:buClr>
                <a:srgbClr val="000000"/>
              </a:buClr>
              <a:buFont typeface="Arial"/>
              <a:buChar char="•"/>
            </a:pPr>
            <a:r>
              <a:rPr lang="en-US" sz="1440" b="0" strike="noStrike" spc="-1">
                <a:solidFill>
                  <a:srgbClr val="000000"/>
                </a:solidFill>
                <a:latin typeface="Arial"/>
              </a:rPr>
              <a:t>Fifth level</a:t>
            </a:r>
          </a:p>
        </p:txBody>
      </p:sp>
      <p:sp>
        <p:nvSpPr>
          <p:cNvPr id="40" name="PlaceHolder 3"/>
          <p:cNvSpPr>
            <a:spLocks noGrp="1"/>
          </p:cNvSpPr>
          <p:nvPr>
            <p:ph type="dt" idx="1"/>
          </p:nvPr>
        </p:nvSpPr>
        <p:spPr>
          <a:xfrm>
            <a:off x="4321080" y="6356520"/>
            <a:ext cx="1586520" cy="364680"/>
          </a:xfrm>
          <a:prstGeom prst="rect">
            <a:avLst/>
          </a:prstGeom>
          <a:noFill/>
          <a:ln w="0">
            <a:noFill/>
          </a:ln>
        </p:spPr>
        <p:txBody>
          <a:bodyPr anchor="ctr">
            <a:noAutofit/>
          </a:bodyPr>
          <a:lstStyle>
            <a:lvl1pPr indent="0">
              <a:lnSpc>
                <a:spcPct val="100000"/>
              </a:lnSpc>
              <a:buNone/>
              <a:tabLst>
                <a:tab pos="0" algn="l"/>
              </a:tabLst>
              <a:defRPr lang="en-US" sz="810" b="0" strike="noStrike" spc="-1">
                <a:solidFill>
                  <a:srgbClr val="D9D9D9"/>
                </a:solidFill>
                <a:latin typeface="Arial"/>
                <a:ea typeface="Microsoft YaHei"/>
              </a:defRPr>
            </a:lvl1pPr>
          </a:lstStyle>
          <a:p>
            <a:pPr indent="0">
              <a:lnSpc>
                <a:spcPct val="100000"/>
              </a:lnSpc>
              <a:buNone/>
              <a:tabLst>
                <a:tab pos="0" algn="l"/>
              </a:tabLst>
            </a:pPr>
            <a:r>
              <a:rPr lang="en-US" sz="810" b="0" strike="noStrike" spc="-1">
                <a:solidFill>
                  <a:srgbClr val="D9D9D9"/>
                </a:solidFill>
                <a:latin typeface="Arial"/>
                <a:ea typeface="Microsoft YaHei"/>
              </a:rPr>
              <a:t>&lt;date/time&gt;</a:t>
            </a:r>
            <a:endParaRPr lang="en-US" sz="810" b="0" strike="noStrike" spc="-1">
              <a:solidFill>
                <a:srgbClr val="000000"/>
              </a:solidFill>
              <a:latin typeface="Times New Roman"/>
            </a:endParaRPr>
          </a:p>
        </p:txBody>
      </p:sp>
      <p:sp>
        <p:nvSpPr>
          <p:cNvPr id="41" name="PlaceHolder 4"/>
          <p:cNvSpPr>
            <a:spLocks noGrp="1"/>
          </p:cNvSpPr>
          <p:nvPr>
            <p:ph type="ftr" idx="2"/>
          </p:nvPr>
        </p:nvSpPr>
        <p:spPr>
          <a:xfrm>
            <a:off x="6095880" y="6356520"/>
            <a:ext cx="411444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2" name="PlaceHolder 5"/>
          <p:cNvSpPr>
            <a:spLocks noGrp="1"/>
          </p:cNvSpPr>
          <p:nvPr>
            <p:ph type="sldNum" idx="3"/>
          </p:nvPr>
        </p:nvSpPr>
        <p:spPr>
          <a:xfrm>
            <a:off x="10398960" y="6356520"/>
            <a:ext cx="954360" cy="364680"/>
          </a:xfrm>
          <a:prstGeom prst="rect">
            <a:avLst/>
          </a:prstGeom>
          <a:noFill/>
          <a:ln w="0">
            <a:noFill/>
          </a:ln>
        </p:spPr>
        <p:txBody>
          <a:bodyPr anchor="ctr">
            <a:noAutofit/>
          </a:bodyPr>
          <a:lstStyle>
            <a:lvl1pPr indent="0" algn="r">
              <a:lnSpc>
                <a:spcPct val="100000"/>
              </a:lnSpc>
              <a:buNone/>
              <a:tabLst>
                <a:tab pos="0" algn="l"/>
              </a:tabLst>
              <a:defRPr lang="en-US" sz="810" b="0" strike="noStrike" spc="-1">
                <a:solidFill>
                  <a:srgbClr val="D9D9D9"/>
                </a:solidFill>
                <a:latin typeface="Arial"/>
                <a:ea typeface="Microsoft YaHei"/>
              </a:defRPr>
            </a:lvl1pPr>
          </a:lstStyle>
          <a:p>
            <a:pPr indent="0" algn="r">
              <a:lnSpc>
                <a:spcPct val="100000"/>
              </a:lnSpc>
              <a:buNone/>
              <a:tabLst>
                <a:tab pos="0" algn="l"/>
              </a:tabLst>
            </a:pPr>
            <a:fld id="{D3FA37A4-F244-435A-A8D9-D36F2B6F1C7B}" type="slidenum">
              <a:rPr lang="en-US" sz="810" b="0" strike="noStrike" spc="-1">
                <a:solidFill>
                  <a:srgbClr val="D9D9D9"/>
                </a:solidFill>
                <a:latin typeface="Arial"/>
                <a:ea typeface="Microsoft YaHei"/>
              </a:rPr>
              <a:t>‹#›</a:t>
            </a:fld>
            <a:endParaRPr lang="en-US" sz="81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Click to edit Master title style</a:t>
            </a:r>
            <a:endParaRPr lang="en-US" sz="3959" b="0" strike="noStrike" spc="-1">
              <a:solidFill>
                <a:srgbClr val="FFFFFF"/>
              </a:solidFill>
              <a:latin typeface="Arial"/>
            </a:endParaRPr>
          </a:p>
        </p:txBody>
      </p:sp>
      <p:sp>
        <p:nvSpPr>
          <p:cNvPr id="80" name="PlaceHolder 2"/>
          <p:cNvSpPr>
            <a:spLocks noGrp="1"/>
          </p:cNvSpPr>
          <p:nvPr>
            <p:ph type="dt" idx="4"/>
          </p:nvPr>
        </p:nvSpPr>
        <p:spPr>
          <a:xfrm>
            <a:off x="4321080" y="6356520"/>
            <a:ext cx="1586520" cy="364680"/>
          </a:xfrm>
          <a:prstGeom prst="rect">
            <a:avLst/>
          </a:prstGeom>
          <a:noFill/>
          <a:ln w="0">
            <a:noFill/>
          </a:ln>
        </p:spPr>
        <p:txBody>
          <a:bodyPr anchor="ctr">
            <a:noAutofit/>
          </a:bodyPr>
          <a:lstStyle>
            <a:lvl1pPr indent="0">
              <a:lnSpc>
                <a:spcPct val="100000"/>
              </a:lnSpc>
              <a:buNone/>
              <a:tabLst>
                <a:tab pos="0" algn="l"/>
              </a:tabLst>
              <a:defRPr lang="en-US" sz="810" b="0" strike="noStrike" spc="-1">
                <a:solidFill>
                  <a:srgbClr val="D9D9D9"/>
                </a:solidFill>
                <a:latin typeface="Arial"/>
                <a:ea typeface="Microsoft YaHei"/>
              </a:defRPr>
            </a:lvl1pPr>
          </a:lstStyle>
          <a:p>
            <a:pPr indent="0">
              <a:lnSpc>
                <a:spcPct val="100000"/>
              </a:lnSpc>
              <a:buNone/>
              <a:tabLst>
                <a:tab pos="0" algn="l"/>
              </a:tabLst>
            </a:pPr>
            <a:r>
              <a:rPr lang="en-US" sz="810" b="0" strike="noStrike" spc="-1">
                <a:solidFill>
                  <a:srgbClr val="D9D9D9"/>
                </a:solidFill>
                <a:latin typeface="Arial"/>
                <a:ea typeface="Microsoft YaHei"/>
              </a:rPr>
              <a:t>&lt;date/time&gt;</a:t>
            </a:r>
            <a:endParaRPr lang="en-US" sz="810" b="0" strike="noStrike" spc="-1">
              <a:solidFill>
                <a:srgbClr val="000000"/>
              </a:solidFill>
              <a:latin typeface="Times New Roman"/>
            </a:endParaRPr>
          </a:p>
        </p:txBody>
      </p:sp>
      <p:sp>
        <p:nvSpPr>
          <p:cNvPr id="81" name="PlaceHolder 3"/>
          <p:cNvSpPr>
            <a:spLocks noGrp="1"/>
          </p:cNvSpPr>
          <p:nvPr>
            <p:ph type="ftr" idx="5"/>
          </p:nvPr>
        </p:nvSpPr>
        <p:spPr>
          <a:xfrm>
            <a:off x="6095880" y="6356520"/>
            <a:ext cx="411444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82" name="PlaceHolder 4"/>
          <p:cNvSpPr>
            <a:spLocks noGrp="1"/>
          </p:cNvSpPr>
          <p:nvPr>
            <p:ph type="sldNum" idx="6"/>
          </p:nvPr>
        </p:nvSpPr>
        <p:spPr>
          <a:xfrm>
            <a:off x="10398960" y="6356520"/>
            <a:ext cx="954360" cy="364680"/>
          </a:xfrm>
          <a:prstGeom prst="rect">
            <a:avLst/>
          </a:prstGeom>
          <a:noFill/>
          <a:ln w="0">
            <a:noFill/>
          </a:ln>
        </p:spPr>
        <p:txBody>
          <a:bodyPr anchor="ctr">
            <a:noAutofit/>
          </a:bodyPr>
          <a:lstStyle>
            <a:lvl1pPr indent="0" algn="r">
              <a:lnSpc>
                <a:spcPct val="100000"/>
              </a:lnSpc>
              <a:buNone/>
              <a:tabLst>
                <a:tab pos="0" algn="l"/>
              </a:tabLst>
              <a:defRPr lang="en-US" sz="810" b="0" strike="noStrike" spc="-1">
                <a:solidFill>
                  <a:srgbClr val="D9D9D9"/>
                </a:solidFill>
                <a:latin typeface="Arial"/>
                <a:ea typeface="Microsoft YaHei"/>
              </a:defRPr>
            </a:lvl1pPr>
          </a:lstStyle>
          <a:p>
            <a:pPr indent="0" algn="r">
              <a:lnSpc>
                <a:spcPct val="100000"/>
              </a:lnSpc>
              <a:buNone/>
              <a:tabLst>
                <a:tab pos="0" algn="l"/>
              </a:tabLst>
            </a:pPr>
            <a:fld id="{4196797B-ED0E-4B6A-A334-8C1879788483}" type="slidenum">
              <a:rPr lang="en-US" sz="810" b="0" strike="noStrike" spc="-1">
                <a:solidFill>
                  <a:srgbClr val="D9D9D9"/>
                </a:solidFill>
                <a:latin typeface="Arial"/>
                <a:ea typeface="Microsoft YaHei"/>
              </a:rPr>
              <a:t>‹#›</a:t>
            </a:fld>
            <a:endParaRPr lang="en-US" sz="810" b="0" strike="noStrike" spc="-1">
              <a:solidFill>
                <a:srgbClr val="000000"/>
              </a:solidFill>
              <a:latin typeface="Times New Roman"/>
            </a:endParaRPr>
          </a:p>
        </p:txBody>
      </p:sp>
      <p:sp>
        <p:nvSpPr>
          <p:cNvPr id="8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8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16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44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3959" b="0" strike="noStrike" spc="-1">
                <a:solidFill>
                  <a:srgbClr val="FFFFFF"/>
                </a:solidFill>
                <a:latin typeface="Arial"/>
              </a:rPr>
              <a:t>Click to edit the title text format</a:t>
            </a:r>
          </a:p>
        </p:txBody>
      </p:sp>
      <p:sp>
        <p:nvSpPr>
          <p:cNvPr id="12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8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16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44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hyperlink" Target="http://www.php.net/" TargetMode="Externa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hyperlink" Target="http://www.php.net/"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hyperlink" Target="http://localhost/" TargetMode="Externa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hyperlink" Target="http://localhost/helloworld.php"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www.php.net/phpinfo" TargetMode="External"/><Relationship Id="rId2" Type="http://schemas.openxmlformats.org/officeDocument/2006/relationships/hyperlink" Target="http://www.php.net/functionname"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hyperlink" Target="http://www.php.net/"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www.wikipedia.org/" TargetMode="External"/><Relationship Id="rId5" Type="http://schemas.openxmlformats.org/officeDocument/2006/relationships/hyperlink" Target="http://phpeditors.linuxbackup.co.uk/" TargetMode="External"/><Relationship Id="rId4" Type="http://schemas.openxmlformats.org/officeDocument/2006/relationships/hyperlink" Target="http://www.securityspac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1676520" y="152280"/>
            <a:ext cx="10058040" cy="837720"/>
          </a:xfrm>
          <a:prstGeom prst="rect">
            <a:avLst/>
          </a:prstGeom>
          <a:noFill/>
          <a:ln w="0">
            <a:noFill/>
          </a:ln>
        </p:spPr>
        <p:txBody>
          <a:bodyPr anchor="t">
            <a:noAutofit/>
          </a:bodyPr>
          <a:lstStyle/>
          <a:p>
            <a:pPr indent="0" algn="r">
              <a:lnSpc>
                <a:spcPct val="90000"/>
              </a:lnSpc>
              <a:buNone/>
            </a:pPr>
            <a:r>
              <a:rPr lang="en-US" sz="3959" b="1" strike="noStrike" spc="-205">
                <a:solidFill>
                  <a:srgbClr val="FFFFFF"/>
                </a:solidFill>
                <a:latin typeface="Arial"/>
              </a:rPr>
              <a:t>INFO3068 Secure Computing: PHP</a:t>
            </a:r>
            <a:endParaRPr lang="en-US" sz="3959" b="0" strike="noStrike" spc="-1">
              <a:solidFill>
                <a:srgbClr val="FFFFFF"/>
              </a:solidFill>
              <a:latin typeface="Arial"/>
            </a:endParaRPr>
          </a:p>
        </p:txBody>
      </p:sp>
      <p:sp>
        <p:nvSpPr>
          <p:cNvPr id="165" name="PlaceHolder 2"/>
          <p:cNvSpPr>
            <a:spLocks noGrp="1"/>
          </p:cNvSpPr>
          <p:nvPr>
            <p:ph type="ftr" idx="10"/>
          </p:nvPr>
        </p:nvSpPr>
        <p:spPr>
          <a:xfrm>
            <a:off x="5754960" y="4191120"/>
            <a:ext cx="6095520" cy="1218960"/>
          </a:xfrm>
          <a:prstGeom prst="rect">
            <a:avLst/>
          </a:prstGeom>
          <a:noFill/>
          <a:ln w="0">
            <a:noFill/>
          </a:ln>
        </p:spPr>
        <p:txBody>
          <a:bodyPr anchor="ctr">
            <a:noAutofit/>
          </a:bodyPr>
          <a:lstStyle>
            <a:lvl1pPr indent="0" algn="r">
              <a:lnSpc>
                <a:spcPct val="100000"/>
              </a:lnSpc>
              <a:buNone/>
              <a:defRPr lang="en-US" sz="1800" b="0" strike="noStrike" spc="-1">
                <a:solidFill>
                  <a:srgbClr val="FFFFFF"/>
                </a:solidFill>
                <a:latin typeface="Arial"/>
              </a:defRPr>
            </a:lvl1pPr>
          </a:lstStyle>
          <a:p>
            <a:pPr indent="0" algn="r">
              <a:lnSpc>
                <a:spcPct val="100000"/>
              </a:lnSpc>
              <a:buNone/>
            </a:pPr>
            <a:endParaRPr lang="en-US" sz="1800" b="0" strike="noStrike" spc="-1" dirty="0">
              <a:solidFill>
                <a:srgbClr val="000000"/>
              </a:solidFill>
              <a:latin typeface="Times New Roman"/>
            </a:endParaRPr>
          </a:p>
          <a:p>
            <a:pPr indent="0" algn="r">
              <a:lnSpc>
                <a:spcPct val="100000"/>
              </a:lnSpc>
              <a:buNone/>
            </a:pPr>
            <a:endParaRPr lang="en-US" sz="1800" b="0" strike="noStrike" spc="-1" dirty="0">
              <a:solidFill>
                <a:srgbClr val="000000"/>
              </a:solidFill>
              <a:latin typeface="Times New Roman"/>
            </a:endParaRPr>
          </a:p>
        </p:txBody>
      </p:sp>
      <p:pic>
        <p:nvPicPr>
          <p:cNvPr id="166" name="Picture 2" descr="Code Talkers"/>
          <p:cNvPicPr/>
          <p:nvPr/>
        </p:nvPicPr>
        <p:blipFill>
          <a:blip r:embed="rId3"/>
          <a:stretch/>
        </p:blipFill>
        <p:spPr>
          <a:xfrm>
            <a:off x="529920" y="914400"/>
            <a:ext cx="5565960" cy="44193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advTm="7000"/>
    </mc:Choice>
    <mc:Fallback xmlns="" xmlns:p15="http://schemas.microsoft.com/office/powerpoint/2012/main">
      <p:transition spd="slow" advTm="7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6F6F6F"/>
                </a:solidFill>
                <a:latin typeface="Arial"/>
              </a:rPr>
              <a:t>Upcoming Events</a:t>
            </a:r>
            <a:endParaRPr lang="en-US" sz="3959" b="0" strike="noStrike" spc="-1">
              <a:solidFill>
                <a:srgbClr val="FFFFFF"/>
              </a:solidFill>
              <a:latin typeface="Arial"/>
            </a:endParaRPr>
          </a:p>
        </p:txBody>
      </p:sp>
      <p:sp>
        <p:nvSpPr>
          <p:cNvPr id="168"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C00000"/>
              </a:buClr>
              <a:buFont typeface="Arial"/>
              <a:buChar char="•"/>
            </a:pPr>
            <a:r>
              <a:rPr lang="en-CA" sz="2880" b="0" strike="noStrike" spc="-1" dirty="0">
                <a:solidFill>
                  <a:schemeClr val="accent1"/>
                </a:solidFill>
                <a:latin typeface="Arial"/>
              </a:rPr>
              <a:t>Activity F02 XAMPP</a:t>
            </a:r>
            <a:endParaRPr lang="en-US" sz="288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6000"/>
    </mc:Choice>
    <mc:Fallback xmlns="" xmlns:p15="http://schemas.microsoft.com/office/powerpoint/2012/main">
      <p:transition spd="slow" advTm="16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6F6F6F"/>
                </a:solidFill>
                <a:latin typeface="Arial"/>
              </a:rPr>
              <a:t>Recap</a:t>
            </a:r>
            <a:endParaRPr lang="en-US" sz="3959" b="0" strike="noStrike" spc="-1">
              <a:solidFill>
                <a:srgbClr val="FFFFFF"/>
              </a:solidFill>
              <a:latin typeface="Arial"/>
            </a:endParaRPr>
          </a:p>
        </p:txBody>
      </p:sp>
      <p:sp>
        <p:nvSpPr>
          <p:cNvPr id="170"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CA" sz="2880" b="0" strike="noStrike" spc="-1">
                <a:solidFill>
                  <a:srgbClr val="000000"/>
                </a:solidFill>
                <a:latin typeface="Arial"/>
              </a:rPr>
              <a:t>We considered security and the approach for this course</a:t>
            </a:r>
            <a:endParaRPr lang="en-US" sz="288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2000"/>
    </mc:Choice>
    <mc:Fallback xmlns="" xmlns:p15="http://schemas.microsoft.com/office/powerpoint/2012/main">
      <p:transition spd="slow" advTm="1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a:t>
            </a:r>
            <a:endParaRPr lang="en-US" sz="3959" b="0" strike="noStrike" spc="-1">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23000"/>
    </mc:Choice>
    <mc:Fallback xmlns="" xmlns:p15="http://schemas.microsoft.com/office/powerpoint/2012/main">
      <p:transition spd="slow" advTm="2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Objectives</a:t>
            </a:r>
            <a:endParaRPr lang="en-US" sz="3959" b="0" strike="noStrike" spc="-1">
              <a:solidFill>
                <a:srgbClr val="FFFFFF"/>
              </a:solidFill>
              <a:latin typeface="Arial"/>
            </a:endParaRPr>
          </a:p>
        </p:txBody>
      </p:sp>
      <p:sp>
        <p:nvSpPr>
          <p:cNvPr id="173"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Coding in PHP</a:t>
            </a:r>
          </a:p>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Security issues</a:t>
            </a:r>
          </a:p>
        </p:txBody>
      </p:sp>
    </p:spTree>
  </p:cSld>
  <p:clrMapOvr>
    <a:masterClrMapping/>
  </p:clrMapOvr>
  <mc:AlternateContent xmlns:mc="http://schemas.openxmlformats.org/markup-compatibility/2006" xmlns:p14="http://schemas.microsoft.com/office/powerpoint/2010/main">
    <mc:Choice Requires="p14">
      <p:transition spd="slow" p14:dur="2000" advTm="16000"/>
    </mc:Choice>
    <mc:Fallback xmlns="" xmlns:p15="http://schemas.microsoft.com/office/powerpoint/2012/main">
      <p:transition spd="slow" advTm="16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What is PHP?</a:t>
            </a:r>
            <a:endParaRPr lang="en-US" sz="3959" b="0" strike="noStrike" spc="-1">
              <a:solidFill>
                <a:srgbClr val="FFFFFF"/>
              </a:solidFill>
              <a:latin typeface="Arial"/>
            </a:endParaRPr>
          </a:p>
        </p:txBody>
      </p:sp>
      <p:graphicFrame>
        <p:nvGraphicFramePr>
          <p:cNvPr id="175" name="Object 24"/>
          <p:cNvGraphicFramePr/>
          <p:nvPr/>
        </p:nvGraphicFramePr>
        <p:xfrm>
          <a:off x="2971800" y="3048120"/>
          <a:ext cx="6268680" cy="3465000"/>
        </p:xfrm>
        <a:graphic>
          <a:graphicData uri="http://schemas.openxmlformats.org/presentationml/2006/ole">
            <mc:AlternateContent xmlns:mc="http://schemas.openxmlformats.org/markup-compatibility/2006">
              <mc:Choice xmlns:v="urn:schemas-microsoft-com:vml" Requires="v">
                <p:oleObj r:id="rId3" imgW="0" imgH="0" progId="Visio.Drawing.6">
                  <p:embed/>
                </p:oleObj>
              </mc:Choice>
              <mc:Fallback>
                <p:oleObj r:id="rId3" imgW="0" imgH="0" progId="Visio.Drawing.6">
                  <p:embed/>
                  <p:pic>
                    <p:nvPicPr>
                      <p:cNvPr id="176" name="Object 24"/>
                      <p:cNvPicPr/>
                      <p:nvPr/>
                    </p:nvPicPr>
                    <p:blipFill>
                      <a:blip r:embed="rId4"/>
                      <a:stretch/>
                    </p:blipFill>
                    <p:spPr>
                      <a:xfrm>
                        <a:off x="2971800" y="3048120"/>
                        <a:ext cx="6268680" cy="3465000"/>
                      </a:xfrm>
                      <a:prstGeom prst="rect">
                        <a:avLst/>
                      </a:prstGeom>
                      <a:ln w="0">
                        <a:noFill/>
                      </a:ln>
                    </p:spPr>
                  </p:pic>
                </p:oleObj>
              </mc:Fallback>
            </mc:AlternateContent>
          </a:graphicData>
        </a:graphic>
      </p:graphicFrame>
      <p:sp>
        <p:nvSpPr>
          <p:cNvPr id="177" name="PlaceHolder 2"/>
          <p:cNvSpPr>
            <a:spLocks noGrp="1"/>
          </p:cNvSpPr>
          <p:nvPr>
            <p:ph/>
          </p:nvPr>
        </p:nvSpPr>
        <p:spPr>
          <a:xfrm>
            <a:off x="4495680" y="1371600"/>
            <a:ext cx="7695720" cy="1895040"/>
          </a:xfrm>
          <a:prstGeom prst="rect">
            <a:avLst/>
          </a:prstGeom>
          <a:noFill/>
          <a:ln w="0">
            <a:noFill/>
          </a:ln>
        </p:spPr>
        <p:txBody>
          <a:bodyPr anchor="t">
            <a:normAutofit lnSpcReduction="10000"/>
          </a:bodyPr>
          <a:lstStyle/>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Originally </a:t>
            </a:r>
            <a:r>
              <a:rPr lang="en-US" sz="2400" b="1" strike="noStrike" spc="-1">
                <a:solidFill>
                  <a:srgbClr val="000000"/>
                </a:solidFill>
                <a:latin typeface="Arial"/>
              </a:rPr>
              <a:t>P</a:t>
            </a:r>
            <a:r>
              <a:rPr lang="en-US" sz="2400" b="0" strike="noStrike" spc="-1">
                <a:solidFill>
                  <a:srgbClr val="000000"/>
                </a:solidFill>
                <a:latin typeface="Arial"/>
              </a:rPr>
              <a:t>ersonal </a:t>
            </a:r>
            <a:r>
              <a:rPr lang="en-US" sz="2400" b="1" strike="noStrike" spc="-1">
                <a:solidFill>
                  <a:srgbClr val="000000"/>
                </a:solidFill>
                <a:latin typeface="Arial"/>
              </a:rPr>
              <a:t>H</a:t>
            </a:r>
            <a:r>
              <a:rPr lang="en-US" sz="2400" b="0" strike="noStrike" spc="-1">
                <a:solidFill>
                  <a:srgbClr val="000000"/>
                </a:solidFill>
                <a:latin typeface="Arial"/>
              </a:rPr>
              <a:t>ome </a:t>
            </a:r>
            <a:r>
              <a:rPr lang="en-US" sz="2400" b="1" strike="noStrike" spc="-1">
                <a:solidFill>
                  <a:srgbClr val="000000"/>
                </a:solidFill>
                <a:latin typeface="Arial"/>
              </a:rPr>
              <a:t>P</a:t>
            </a:r>
            <a:r>
              <a:rPr lang="en-US" sz="2400" b="0" strike="noStrike" spc="-1">
                <a:solidFill>
                  <a:srgbClr val="000000"/>
                </a:solidFill>
                <a:latin typeface="Arial"/>
              </a:rPr>
              <a:t>ages but now </a:t>
            </a:r>
            <a:r>
              <a:rPr lang="en-US" sz="2400" b="1" strike="noStrike" spc="-1">
                <a:solidFill>
                  <a:srgbClr val="000000"/>
                </a:solidFill>
                <a:latin typeface="Arial"/>
              </a:rPr>
              <a:t>P</a:t>
            </a:r>
            <a:r>
              <a:rPr lang="en-US" sz="2400" b="0" strike="noStrike" spc="-1">
                <a:solidFill>
                  <a:srgbClr val="000000"/>
                </a:solidFill>
                <a:latin typeface="Arial"/>
              </a:rPr>
              <a:t>HP: </a:t>
            </a:r>
            <a:r>
              <a:rPr lang="en-US" sz="2400" b="1" strike="noStrike" spc="-1">
                <a:solidFill>
                  <a:srgbClr val="000000"/>
                </a:solidFill>
                <a:latin typeface="Arial"/>
              </a:rPr>
              <a:t>H</a:t>
            </a:r>
            <a:r>
              <a:rPr lang="en-US" sz="2400" b="0" strike="noStrike" spc="-1">
                <a:solidFill>
                  <a:srgbClr val="000000"/>
                </a:solidFill>
                <a:latin typeface="Arial"/>
              </a:rPr>
              <a:t>ypertext </a:t>
            </a:r>
            <a:r>
              <a:rPr lang="en-US" sz="2400" b="1" strike="noStrike" spc="-1">
                <a:solidFill>
                  <a:srgbClr val="000000"/>
                </a:solidFill>
                <a:latin typeface="Arial"/>
              </a:rPr>
              <a:t>P</a:t>
            </a:r>
            <a:r>
              <a:rPr lang="en-US" sz="2400" b="0" strike="noStrike" spc="-1">
                <a:solidFill>
                  <a:srgbClr val="000000"/>
                </a:solidFill>
                <a:latin typeface="Arial"/>
              </a:rPr>
              <a:t>reprocessor</a:t>
            </a:r>
          </a:p>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Web site: </a:t>
            </a:r>
            <a:r>
              <a:rPr lang="en-US" sz="2400" b="0" u="sng" strike="noStrike" spc="-1">
                <a:solidFill>
                  <a:srgbClr val="CC9900"/>
                </a:solidFill>
                <a:uFillTx/>
                <a:latin typeface="Arial"/>
                <a:hlinkClick r:id="rId5"/>
              </a:rPr>
              <a:t>www.php.net</a:t>
            </a:r>
            <a:endParaRPr lang="en-US" sz="2400" b="0" strike="noStrike" spc="-1">
              <a:solidFill>
                <a:srgbClr val="000000"/>
              </a:solidFill>
              <a:latin typeface="Arial"/>
            </a:endParaRPr>
          </a:p>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As with other server-side scripting languages, you have the ability to insert code in web pages</a:t>
            </a:r>
          </a:p>
          <a:p>
            <a:pPr indent="0">
              <a:lnSpc>
                <a:spcPct val="90000"/>
              </a:lnSpc>
              <a:spcBef>
                <a:spcPts val="675"/>
              </a:spcBef>
              <a:buNone/>
            </a:pPr>
            <a:endParaRPr lang="en-US" sz="2400" b="0" strike="noStrike" spc="-1">
              <a:solidFill>
                <a:srgbClr val="000000"/>
              </a:solidFill>
              <a:latin typeface="Arial"/>
            </a:endParaRPr>
          </a:p>
          <a:p>
            <a:pPr indent="0">
              <a:lnSpc>
                <a:spcPct val="90000"/>
              </a:lnSpc>
              <a:spcBef>
                <a:spcPts val="675"/>
              </a:spcBef>
              <a:buNone/>
            </a:pPr>
            <a:endParaRPr lang="en-US"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75000"/>
    </mc:Choice>
    <mc:Fallback xmlns="" xmlns:p15="http://schemas.microsoft.com/office/powerpoint/2012/main">
      <p:transition spd="slow" advTm="7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a:t>
            </a:r>
            <a:endParaRPr lang="en-US" sz="3959" b="0" strike="noStrike" spc="-1">
              <a:solidFill>
                <a:srgbClr val="FFFFFF"/>
              </a:solidFill>
              <a:latin typeface="Arial"/>
            </a:endParaRPr>
          </a:p>
        </p:txBody>
      </p:sp>
      <p:sp>
        <p:nvSpPr>
          <p:cNvPr id="179" name="PlaceHolder 2"/>
          <p:cNvSpPr>
            <a:spLocks noGrp="1"/>
          </p:cNvSpPr>
          <p:nvPr>
            <p:ph/>
          </p:nvPr>
        </p:nvSpPr>
        <p:spPr>
          <a:xfrm>
            <a:off x="1119960" y="1825560"/>
            <a:ext cx="10233360" cy="4070880"/>
          </a:xfrm>
          <a:prstGeom prst="rect">
            <a:avLst/>
          </a:prstGeom>
          <a:noFill/>
          <a:ln w="0">
            <a:noFill/>
          </a:ln>
        </p:spPr>
        <p:txBody>
          <a:bodyPr anchor="t">
            <a:normAutofit lnSpcReduction="10000"/>
          </a:bodyPr>
          <a:lstStyle/>
          <a:p>
            <a:pPr marL="154440" indent="-154440">
              <a:lnSpc>
                <a:spcPct val="90000"/>
              </a:lnSpc>
              <a:spcBef>
                <a:spcPts val="675"/>
              </a:spcBef>
              <a:buClr>
                <a:srgbClr val="000000"/>
              </a:buClr>
              <a:buFont typeface="Arial"/>
              <a:buChar char="•"/>
            </a:pPr>
            <a:r>
              <a:rPr lang="en-US" sz="2850" b="0" strike="noStrike" spc="-1">
                <a:solidFill>
                  <a:srgbClr val="000000"/>
                </a:solidFill>
                <a:latin typeface="Arial"/>
              </a:rPr>
              <a:t>Key Benefits: Familiarity, Simplicity, Flexibility, Open Source</a:t>
            </a:r>
          </a:p>
          <a:p>
            <a:pPr marL="154440" indent="-154440">
              <a:lnSpc>
                <a:spcPct val="90000"/>
              </a:lnSpc>
              <a:spcBef>
                <a:spcPts val="675"/>
              </a:spcBef>
              <a:buClr>
                <a:srgbClr val="000000"/>
              </a:buClr>
              <a:buFont typeface="Arial"/>
              <a:buChar char="•"/>
            </a:pPr>
            <a:r>
              <a:rPr lang="en-US" sz="2850" b="0" strike="noStrike" spc="-1">
                <a:solidFill>
                  <a:srgbClr val="000000"/>
                </a:solidFill>
                <a:latin typeface="Arial"/>
              </a:rPr>
              <a:t>Website</a:t>
            </a:r>
          </a:p>
          <a:p>
            <a:pPr marL="462960" lvl="1" indent="-154440">
              <a:lnSpc>
                <a:spcPct val="90000"/>
              </a:lnSpc>
              <a:spcBef>
                <a:spcPts val="337"/>
              </a:spcBef>
              <a:buClr>
                <a:srgbClr val="000000"/>
              </a:buClr>
              <a:buFont typeface="Arial"/>
              <a:buChar char="•"/>
            </a:pPr>
            <a:r>
              <a:rPr lang="en-US" sz="2500" b="0" u="sng" strike="noStrike" spc="-1">
                <a:solidFill>
                  <a:srgbClr val="CC9900"/>
                </a:solidFill>
                <a:uFillTx/>
                <a:latin typeface="Arial"/>
                <a:hlinkClick r:id="rId3"/>
              </a:rPr>
              <a:t>www.php.net</a:t>
            </a:r>
            <a:endParaRPr lang="en-US" sz="2500" b="0" strike="noStrike" spc="-1">
              <a:solidFill>
                <a:srgbClr val="000000"/>
              </a:solidFill>
              <a:latin typeface="Arial"/>
            </a:endParaRPr>
          </a:p>
          <a:p>
            <a:pPr marL="154440" indent="-154440">
              <a:lnSpc>
                <a:spcPct val="90000"/>
              </a:lnSpc>
              <a:spcBef>
                <a:spcPts val="675"/>
              </a:spcBef>
              <a:buClr>
                <a:srgbClr val="000000"/>
              </a:buClr>
              <a:buFont typeface="Arial"/>
              <a:buChar char="•"/>
            </a:pPr>
            <a:r>
              <a:rPr lang="en-US" sz="2850" b="0" strike="noStrike" spc="-1">
                <a:solidFill>
                  <a:srgbClr val="000000"/>
                </a:solidFill>
                <a:latin typeface="Arial"/>
              </a:rPr>
              <a:t>Configuration is accomplished via </a:t>
            </a:r>
            <a:r>
              <a:rPr lang="en-US" sz="2850" b="1" strike="noStrike" spc="-1">
                <a:solidFill>
                  <a:srgbClr val="000000"/>
                </a:solidFill>
                <a:latin typeface="Arial"/>
              </a:rPr>
              <a:t>php.ini</a:t>
            </a:r>
            <a:r>
              <a:rPr lang="en-US" sz="2850" b="0" strike="noStrike" spc="-1">
                <a:solidFill>
                  <a:srgbClr val="000000"/>
                </a:solidFill>
                <a:latin typeface="Arial"/>
              </a:rPr>
              <a:t> file</a:t>
            </a:r>
          </a:p>
          <a:p>
            <a:pPr marL="462960" lvl="1" indent="-154440">
              <a:lnSpc>
                <a:spcPct val="90000"/>
              </a:lnSpc>
              <a:spcBef>
                <a:spcPts val="337"/>
              </a:spcBef>
              <a:buClr>
                <a:srgbClr val="000000"/>
              </a:buClr>
              <a:buFont typeface="Arial"/>
              <a:buChar char="•"/>
            </a:pPr>
            <a:r>
              <a:rPr lang="en-US" sz="2500" b="0" strike="noStrike" spc="-1">
                <a:solidFill>
                  <a:srgbClr val="000000"/>
                </a:solidFill>
                <a:latin typeface="Arial"/>
              </a:rPr>
              <a:t>Value Directives</a:t>
            </a:r>
          </a:p>
          <a:p>
            <a:pPr marL="462960" lvl="1" indent="-154440">
              <a:lnSpc>
                <a:spcPct val="90000"/>
              </a:lnSpc>
              <a:spcBef>
                <a:spcPts val="337"/>
              </a:spcBef>
              <a:buClr>
                <a:srgbClr val="000000"/>
              </a:buClr>
              <a:buFont typeface="Arial"/>
              <a:buChar char="•"/>
            </a:pPr>
            <a:r>
              <a:rPr lang="en-US" sz="2500" b="0" strike="noStrike" spc="-1">
                <a:solidFill>
                  <a:srgbClr val="000000"/>
                </a:solidFill>
                <a:latin typeface="Arial"/>
              </a:rPr>
              <a:t>Flag Directives</a:t>
            </a:r>
          </a:p>
          <a:p>
            <a:pPr marL="771480" lvl="2" indent="-154440">
              <a:lnSpc>
                <a:spcPct val="90000"/>
              </a:lnSpc>
              <a:spcBef>
                <a:spcPts val="337"/>
              </a:spcBef>
              <a:buClr>
                <a:srgbClr val="000000"/>
              </a:buClr>
              <a:buFont typeface="Arial"/>
              <a:buChar char="•"/>
            </a:pPr>
            <a:r>
              <a:rPr lang="en-US" sz="2150" b="0" strike="noStrike" spc="-1">
                <a:solidFill>
                  <a:srgbClr val="000000"/>
                </a:solidFill>
                <a:latin typeface="Arial"/>
              </a:rPr>
              <a:t>Positive Terms can be 1, On, Yes, True</a:t>
            </a:r>
          </a:p>
          <a:p>
            <a:pPr marL="771480" lvl="2" indent="-154440">
              <a:lnSpc>
                <a:spcPct val="90000"/>
              </a:lnSpc>
              <a:spcBef>
                <a:spcPts val="337"/>
              </a:spcBef>
              <a:buClr>
                <a:srgbClr val="000000"/>
              </a:buClr>
              <a:buFont typeface="Arial"/>
              <a:buChar char="•"/>
            </a:pPr>
            <a:r>
              <a:rPr lang="en-US" sz="2150" b="0" strike="noStrike" spc="-1">
                <a:solidFill>
                  <a:srgbClr val="000000"/>
                </a:solidFill>
                <a:latin typeface="Arial"/>
              </a:rPr>
              <a:t>Negative Terms can be 0, Off, No, False</a:t>
            </a:r>
          </a:p>
          <a:p>
            <a:pPr marL="154440" indent="-154440">
              <a:lnSpc>
                <a:spcPct val="90000"/>
              </a:lnSpc>
              <a:spcBef>
                <a:spcPts val="675"/>
              </a:spcBef>
              <a:buClr>
                <a:srgbClr val="000000"/>
              </a:buClr>
              <a:buFont typeface="Arial"/>
              <a:buChar char="•"/>
            </a:pPr>
            <a:r>
              <a:rPr lang="en-US" sz="2850" b="0" strike="noStrike" spc="-1">
                <a:solidFill>
                  <a:srgbClr val="000000"/>
                </a:solidFill>
                <a:latin typeface="Arial"/>
              </a:rPr>
              <a:t>ASP.net </a:t>
            </a:r>
          </a:p>
          <a:p>
            <a:pPr marL="462960" lvl="1" indent="-154440">
              <a:lnSpc>
                <a:spcPct val="90000"/>
              </a:lnSpc>
              <a:spcBef>
                <a:spcPts val="337"/>
              </a:spcBef>
              <a:buClr>
                <a:srgbClr val="000000"/>
              </a:buClr>
              <a:buFont typeface="Arial"/>
              <a:buChar char="•"/>
            </a:pPr>
            <a:r>
              <a:rPr lang="en-US" sz="2500" b="0" strike="noStrike" spc="-1">
                <a:solidFill>
                  <a:srgbClr val="000000"/>
                </a:solidFill>
                <a:latin typeface="Arial"/>
              </a:rPr>
              <a:t>similar to web.config</a:t>
            </a:r>
          </a:p>
          <a:p>
            <a:pPr indent="0">
              <a:lnSpc>
                <a:spcPct val="90000"/>
              </a:lnSpc>
              <a:spcBef>
                <a:spcPts val="675"/>
              </a:spcBef>
              <a:buNone/>
            </a:pPr>
            <a:endParaRPr lang="en-US" sz="288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18000"/>
    </mc:Choice>
    <mc:Fallback xmlns="" xmlns:p15="http://schemas.microsoft.com/office/powerpoint/2012/main">
      <p:transition spd="slow" advTm="118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6F6F6F"/>
                </a:solidFill>
                <a:latin typeface="Arial"/>
              </a:rPr>
              <a:t>PHP Security?</a:t>
            </a:r>
            <a:endParaRPr lang="en-US" sz="3959" b="0" strike="noStrike" spc="-1">
              <a:solidFill>
                <a:srgbClr val="FFFFFF"/>
              </a:solidFill>
              <a:latin typeface="Arial"/>
            </a:endParaRPr>
          </a:p>
        </p:txBody>
      </p:sp>
      <p:sp>
        <p:nvSpPr>
          <p:cNvPr id="181"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CA" sz="2880" b="0" strike="noStrike" spc="-1">
                <a:solidFill>
                  <a:srgbClr val="000000"/>
                </a:solidFill>
                <a:latin typeface="Arial"/>
              </a:rPr>
              <a:t>The basics from phpsec.org:</a:t>
            </a:r>
            <a:endParaRPr lang="en-US" sz="2880" b="0" strike="noStrike" spc="-1">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a:solidFill>
                  <a:srgbClr val="000000"/>
                </a:solidFill>
                <a:latin typeface="Arial"/>
              </a:rPr>
              <a:t>Consider illegitimate uses for your code</a:t>
            </a:r>
            <a:endParaRPr lang="en-US" sz="2520" b="0" strike="noStrike" spc="-1">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a:solidFill>
                  <a:srgbClr val="000000"/>
                </a:solidFill>
                <a:latin typeface="Arial"/>
              </a:rPr>
              <a:t>Educate yourself</a:t>
            </a:r>
            <a:endParaRPr lang="en-US" sz="2520" b="0" strike="noStrike" spc="-1">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a:solidFill>
                  <a:srgbClr val="000000"/>
                </a:solidFill>
                <a:latin typeface="Arial"/>
              </a:rPr>
              <a:t>If nothing else, FILTER ALL EXTERNAL DATA</a:t>
            </a:r>
            <a:endParaRPr lang="en-US" sz="2520" b="0" strike="noStrike" spc="-1">
              <a:solidFill>
                <a:srgbClr val="000000"/>
              </a:solidFill>
              <a:latin typeface="Arial"/>
            </a:endParaRPr>
          </a:p>
          <a:p>
            <a:pPr indent="0">
              <a:lnSpc>
                <a:spcPct val="90000"/>
              </a:lnSpc>
              <a:spcBef>
                <a:spcPts val="675"/>
              </a:spcBef>
              <a:buNone/>
            </a:pPr>
            <a:endParaRPr lang="en-US" sz="288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12000"/>
    </mc:Choice>
    <mc:Fallback xmlns="" xmlns:p15="http://schemas.microsoft.com/office/powerpoint/2012/main">
      <p:transition spd="slow" advTm="11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6F6F6F"/>
                </a:solidFill>
                <a:latin typeface="Arial"/>
              </a:rPr>
              <a:t>Lab Activity F02: Setup XAMPP environment</a:t>
            </a:r>
            <a:endParaRPr lang="en-US" sz="3959" b="0" strike="noStrike" spc="-1">
              <a:solidFill>
                <a:srgbClr val="FFFFFF"/>
              </a:solidFill>
              <a:latin typeface="Arial"/>
            </a:endParaRPr>
          </a:p>
        </p:txBody>
      </p:sp>
      <p:sp>
        <p:nvSpPr>
          <p:cNvPr id="183"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FF0000"/>
              </a:buClr>
              <a:buFont typeface="Arial"/>
              <a:buChar char="•"/>
            </a:pPr>
            <a:r>
              <a:rPr lang="en-CA" sz="2880" b="0" strike="noStrike" spc="-1">
                <a:solidFill>
                  <a:srgbClr val="FF0000"/>
                </a:solidFill>
                <a:latin typeface="Arial"/>
              </a:rPr>
              <a:t>There is no Activity 01 this year, we begin with Activity 02</a:t>
            </a:r>
            <a:endParaRPr lang="en-US" sz="2880" b="0" strike="noStrike" spc="-1">
              <a:solidFill>
                <a:srgbClr val="000000"/>
              </a:solidFill>
              <a:latin typeface="Arial"/>
            </a:endParaRPr>
          </a:p>
        </p:txBody>
      </p:sp>
      <p:pic>
        <p:nvPicPr>
          <p:cNvPr id="184" name="Picture 3"/>
          <p:cNvPicPr/>
          <p:nvPr/>
        </p:nvPicPr>
        <p:blipFill>
          <a:blip r:embed="rId3"/>
          <a:stretch/>
        </p:blipFill>
        <p:spPr>
          <a:xfrm>
            <a:off x="3962520" y="2590920"/>
            <a:ext cx="6324120" cy="4097520"/>
          </a:xfrm>
          <a:prstGeom prst="rect">
            <a:avLst/>
          </a:prstGeom>
          <a:ln w="38100">
            <a:solidFill>
              <a:srgbClr val="0070C0"/>
            </a:solidFill>
            <a:round/>
          </a:ln>
        </p:spPr>
      </p:pic>
    </p:spTree>
  </p:cSld>
  <p:clrMapOvr>
    <a:masterClrMapping/>
  </p:clrMapOvr>
  <mc:AlternateContent xmlns:mc="http://schemas.openxmlformats.org/markup-compatibility/2006" xmlns:p14="http://schemas.microsoft.com/office/powerpoint/2010/main">
    <mc:Choice Requires="p14">
      <p:transition spd="slow" p14:dur="2000" advTm="78000"/>
    </mc:Choice>
    <mc:Fallback xmlns="" xmlns:p15="http://schemas.microsoft.com/office/powerpoint/2012/main">
      <p:transition spd="slow" advTm="78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FF0000"/>
                </a:solidFill>
                <a:latin typeface="Arial"/>
              </a:rPr>
              <a:t>Using XAMPP</a:t>
            </a:r>
            <a:endParaRPr lang="en-US" sz="3959" b="0" strike="noStrike" spc="-1">
              <a:solidFill>
                <a:srgbClr val="FFFFFF"/>
              </a:solidFill>
              <a:latin typeface="Arial"/>
            </a:endParaRPr>
          </a:p>
        </p:txBody>
      </p:sp>
      <p:sp>
        <p:nvSpPr>
          <p:cNvPr id="186"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CA" sz="2880" b="0" strike="noStrike" spc="-1" dirty="0">
                <a:solidFill>
                  <a:srgbClr val="000000"/>
                </a:solidFill>
                <a:latin typeface="Arial"/>
              </a:rPr>
              <a:t>Assuming you used c:\xampp as the installation directory, save your .html and .</a:t>
            </a:r>
            <a:r>
              <a:rPr lang="en-CA" sz="2880" b="0" strike="noStrike" spc="-1" dirty="0" err="1">
                <a:solidFill>
                  <a:srgbClr val="000000"/>
                </a:solidFill>
                <a:latin typeface="Arial"/>
              </a:rPr>
              <a:t>php</a:t>
            </a:r>
            <a:r>
              <a:rPr lang="en-CA" sz="2880" b="0" strike="noStrike" spc="-1" dirty="0">
                <a:solidFill>
                  <a:srgbClr val="000000"/>
                </a:solidFill>
                <a:latin typeface="Arial"/>
              </a:rPr>
              <a:t> files to the content directory </a:t>
            </a:r>
            <a:r>
              <a:rPr lang="en-CA" sz="2880" b="1" strike="noStrike" spc="-1" dirty="0">
                <a:solidFill>
                  <a:srgbClr val="000000"/>
                </a:solidFill>
                <a:latin typeface="Arial"/>
              </a:rPr>
              <a:t>c:\xampp\htdocs</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CA" sz="2880" b="0" strike="noStrike" spc="-1" dirty="0">
                <a:solidFill>
                  <a:srgbClr val="000000"/>
                </a:solidFill>
                <a:latin typeface="Arial"/>
              </a:rPr>
              <a:t>And, do not open the .</a:t>
            </a:r>
            <a:r>
              <a:rPr lang="en-CA" sz="2880" b="0" strike="noStrike" spc="-1" dirty="0" err="1">
                <a:solidFill>
                  <a:srgbClr val="000000"/>
                </a:solidFill>
                <a:latin typeface="Arial"/>
              </a:rPr>
              <a:t>php</a:t>
            </a:r>
            <a:r>
              <a:rPr lang="en-CA" sz="2880" b="0" strike="noStrike" spc="-1" dirty="0">
                <a:solidFill>
                  <a:srgbClr val="000000"/>
                </a:solidFill>
                <a:latin typeface="Arial"/>
              </a:rPr>
              <a:t> file directly. Be sure you open your browser and surf to </a:t>
            </a:r>
            <a:r>
              <a:rPr lang="en-CA" sz="2880" b="0" u="sng" strike="noStrike" spc="-1" dirty="0">
                <a:solidFill>
                  <a:srgbClr val="000000"/>
                </a:solidFill>
                <a:uFillTx/>
                <a:latin typeface="Arial"/>
                <a:hlinkClick r:id="rId2"/>
              </a:rPr>
              <a:t>http://localhost/</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51000"/>
    </mc:Choice>
    <mc:Fallback xmlns="" xmlns:p15="http://schemas.microsoft.com/office/powerpoint/2012/main">
      <p:transition spd="slow" advTm="151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Code Example #1: helloworld.php</a:t>
            </a:r>
            <a:endParaRPr lang="en-US" sz="3959" b="0" strike="noStrike" spc="-1">
              <a:solidFill>
                <a:srgbClr val="FFFFFF"/>
              </a:solidFill>
              <a:latin typeface="Arial"/>
            </a:endParaRPr>
          </a:p>
        </p:txBody>
      </p:sp>
      <p:sp>
        <p:nvSpPr>
          <p:cNvPr id="188"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0">
              <a:lnSpc>
                <a:spcPct val="90000"/>
              </a:lnSpc>
              <a:spcBef>
                <a:spcPts val="675"/>
              </a:spcBef>
              <a:buNone/>
              <a:tabLst>
                <a:tab pos="0" algn="l"/>
              </a:tabLst>
            </a:pPr>
            <a:r>
              <a:rPr lang="en-US" sz="2000" b="1" strike="noStrike" spc="-1" dirty="0">
                <a:solidFill>
                  <a:srgbClr val="000000"/>
                </a:solidFill>
                <a:latin typeface="Courier New"/>
              </a:rPr>
              <a:t>&lt;html&gt;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&lt;head&gt;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&lt;title&gt;A wonderful PHP page&lt;/title&gt;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&lt;/head&gt;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&lt;body&gt;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3300"/>
                </a:solidFill>
                <a:latin typeface="Courier New"/>
              </a:rPr>
              <a:t>&lt;?</a:t>
            </a:r>
            <a:r>
              <a:rPr lang="en-US" sz="2000" b="1" strike="noStrike" spc="-1" dirty="0" err="1">
                <a:solidFill>
                  <a:srgbClr val="003300"/>
                </a:solidFill>
                <a:latin typeface="Courier New"/>
              </a:rPr>
              <a:t>php</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3300"/>
                </a:solidFill>
                <a:latin typeface="Courier New"/>
              </a:rPr>
              <a:t>	/* this is a comment, you won't see this */</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3300"/>
                </a:solidFill>
                <a:latin typeface="Courier New"/>
              </a:rPr>
              <a:t>	print ("&lt;h1&gt;Hello world!&lt;/h1&gt;");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3300"/>
                </a:solidFill>
                <a:latin typeface="Courier New"/>
              </a:rPr>
              <a:t>?&gt;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&lt;/body&gt;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&lt;/html&gt;</a:t>
            </a:r>
            <a:endParaRPr lang="en-US" sz="2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69000"/>
    </mc:Choice>
    <mc:Fallback xmlns="" xmlns:p15="http://schemas.microsoft.com/office/powerpoint/2012/main">
      <p:transition spd="slow" advTm="69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#1</a:t>
            </a:r>
            <a:endParaRPr lang="en-US" sz="3959" b="0" strike="noStrike" spc="-1">
              <a:solidFill>
                <a:srgbClr val="FFFFFF"/>
              </a:solidFill>
              <a:latin typeface="Arial"/>
            </a:endParaRPr>
          </a:p>
        </p:txBody>
      </p:sp>
      <p:sp>
        <p:nvSpPr>
          <p:cNvPr id="190"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Try the "hello world" example from the previous slide</a:t>
            </a: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Save it as </a:t>
            </a:r>
            <a:r>
              <a:rPr lang="en-US" sz="2880" b="0" strike="noStrike" spc="-1" dirty="0" err="1">
                <a:solidFill>
                  <a:srgbClr val="000000"/>
                </a:solidFill>
                <a:latin typeface="Arial"/>
              </a:rPr>
              <a:t>helloworld.php</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Open browser and surf to your new page </a:t>
            </a:r>
            <a:r>
              <a:rPr lang="en-US" sz="2880" b="0" u="sng" strike="noStrike" spc="-1" dirty="0">
                <a:solidFill>
                  <a:srgbClr val="CC9900"/>
                </a:solidFill>
                <a:uFillTx/>
                <a:latin typeface="Arial"/>
                <a:hlinkClick r:id="rId2"/>
              </a:rPr>
              <a:t>http://localhost/helloworld.php</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21000"/>
    </mc:Choice>
    <mc:Fallback xmlns="" xmlns:p15="http://schemas.microsoft.com/office/powerpoint/2012/main">
      <p:transition spd="slow" advTm="21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#2</a:t>
            </a:r>
            <a:endParaRPr lang="en-US" sz="3959" b="0" strike="noStrike" spc="-1">
              <a:solidFill>
                <a:srgbClr val="FFFFFF"/>
              </a:solidFill>
              <a:latin typeface="Arial"/>
            </a:endParaRPr>
          </a:p>
        </p:txBody>
      </p:sp>
      <p:sp>
        <p:nvSpPr>
          <p:cNvPr id="192" name="PlaceHolder 2"/>
          <p:cNvSpPr>
            <a:spLocks noGrp="1"/>
          </p:cNvSpPr>
          <p:nvPr>
            <p:ph/>
          </p:nvPr>
        </p:nvSpPr>
        <p:spPr>
          <a:xfrm>
            <a:off x="1119960" y="1825560"/>
            <a:ext cx="10233360" cy="4070880"/>
          </a:xfrm>
          <a:prstGeom prst="rect">
            <a:avLst/>
          </a:prstGeom>
          <a:noFill/>
          <a:ln w="0">
            <a:noFill/>
          </a:ln>
        </p:spPr>
        <p:txBody>
          <a:bodyPr anchor="t">
            <a:normAutofit fontScale="97000" lnSpcReduction="10000"/>
          </a:bodyPr>
          <a:lstStyle/>
          <a:p>
            <a:pPr marL="161640" indent="-161640">
              <a:lnSpc>
                <a:spcPct val="80000"/>
              </a:lnSpc>
              <a:spcBef>
                <a:spcPts val="675"/>
              </a:spcBef>
              <a:buClr>
                <a:srgbClr val="000000"/>
              </a:buClr>
              <a:buFont typeface="Arial"/>
              <a:buChar char="•"/>
            </a:pPr>
            <a:r>
              <a:rPr lang="en-US" sz="1800" b="0" strike="noStrike" spc="-1" dirty="0">
                <a:solidFill>
                  <a:srgbClr val="000000"/>
                </a:solidFill>
                <a:latin typeface="Arial"/>
              </a:rPr>
              <a:t>Let's combine HTML and PHP</a:t>
            </a:r>
          </a:p>
          <a:p>
            <a:pPr indent="0">
              <a:lnSpc>
                <a:spcPct val="80000"/>
              </a:lnSpc>
              <a:spcBef>
                <a:spcPts val="675"/>
              </a:spcBef>
              <a:buNone/>
            </a:pP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&lt;html&gt;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&lt;head&gt;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	&lt;title&gt;A PHP script including HTML&lt;/title&gt;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&lt;/head&gt;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&lt;body&gt;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&lt;b&gt;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a:t>
            </a:r>
            <a:r>
              <a:rPr lang="en-US" sz="1800" b="1" strike="noStrike" spc="-1" dirty="0" err="1">
                <a:solidFill>
                  <a:srgbClr val="000000"/>
                </a:solidFill>
                <a:latin typeface="Courier New"/>
              </a:rPr>
              <a:t>php</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	print ("Hello Web!");</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&lt;/b&gt;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&lt;/body&gt;</a:t>
            </a:r>
            <a:endParaRPr lang="en-US" sz="1800" b="0" strike="noStrike" spc="-1" dirty="0">
              <a:solidFill>
                <a:srgbClr val="000000"/>
              </a:solidFill>
              <a:latin typeface="Arial"/>
            </a:endParaRPr>
          </a:p>
          <a:p>
            <a:pPr marL="161640" indent="0">
              <a:lnSpc>
                <a:spcPct val="80000"/>
              </a:lnSpc>
              <a:spcBef>
                <a:spcPts val="675"/>
              </a:spcBef>
              <a:buNone/>
              <a:tabLst>
                <a:tab pos="0" algn="l"/>
              </a:tabLst>
            </a:pPr>
            <a:r>
              <a:rPr lang="en-US" sz="1800" b="1" strike="noStrike" spc="-1" dirty="0">
                <a:solidFill>
                  <a:srgbClr val="000000"/>
                </a:solidFill>
                <a:latin typeface="Courier New"/>
              </a:rPr>
              <a:t>&lt;/html&gt;</a:t>
            </a:r>
            <a:endParaRPr lang="en-US" sz="1800" b="0" strike="noStrike" spc="-1" dirty="0">
              <a:solidFill>
                <a:srgbClr val="000000"/>
              </a:solidFill>
              <a:latin typeface="Arial"/>
            </a:endParaRPr>
          </a:p>
          <a:p>
            <a:pPr marL="161640" indent="0">
              <a:lnSpc>
                <a:spcPct val="80000"/>
              </a:lnSpc>
              <a:spcBef>
                <a:spcPts val="675"/>
              </a:spcBef>
              <a:buNone/>
              <a:tabLst>
                <a:tab pos="0" algn="l"/>
              </a:tabLst>
            </a:pPr>
            <a:endParaRPr lang="en-US" sz="18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7000"/>
    </mc:Choice>
    <mc:Fallback xmlns="" xmlns:p15="http://schemas.microsoft.com/office/powerpoint/2012/main">
      <p:transition spd="slow" advTm="17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Things to note</a:t>
            </a:r>
            <a:endParaRPr lang="en-US" sz="3959" b="0" strike="noStrike" spc="-1">
              <a:solidFill>
                <a:srgbClr val="FFFFFF"/>
              </a:solidFill>
              <a:latin typeface="Arial"/>
            </a:endParaRPr>
          </a:p>
        </p:txBody>
      </p:sp>
      <p:sp>
        <p:nvSpPr>
          <p:cNvPr id="194"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The browser receives HTML</a:t>
            </a:r>
          </a:p>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User will not see your PHP code</a:t>
            </a:r>
          </a:p>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Can have as many </a:t>
            </a:r>
            <a:r>
              <a:rPr lang="en-US" sz="2880" b="1" strike="noStrike" spc="-1">
                <a:solidFill>
                  <a:srgbClr val="000000"/>
                </a:solidFill>
                <a:latin typeface="Courier New"/>
              </a:rPr>
              <a:t>&lt;?php   ?&gt;</a:t>
            </a:r>
            <a:r>
              <a:rPr lang="en-US" sz="2880" b="0" strike="noStrike" spc="-1">
                <a:solidFill>
                  <a:srgbClr val="000000"/>
                </a:solidFill>
                <a:latin typeface="Arial"/>
              </a:rPr>
              <a:t> blocks as you need spread throughout your HTML</a:t>
            </a:r>
          </a:p>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You could use the informal </a:t>
            </a:r>
            <a:r>
              <a:rPr lang="en-US" sz="2880" b="1" strike="noStrike" spc="-1">
                <a:solidFill>
                  <a:srgbClr val="000000"/>
                </a:solidFill>
                <a:latin typeface="Courier New"/>
              </a:rPr>
              <a:t>&lt;?   ?&gt;</a:t>
            </a:r>
            <a:r>
              <a:rPr lang="en-US" sz="2880" b="0" strike="noStrike" spc="-1">
                <a:solidFill>
                  <a:srgbClr val="000000"/>
                </a:solidFill>
                <a:latin typeface="Arial"/>
              </a:rPr>
              <a:t> block notation instead but for style reasons many people like the more formal </a:t>
            </a:r>
            <a:r>
              <a:rPr lang="en-US" sz="2880" b="1" strike="noStrike" spc="-1">
                <a:solidFill>
                  <a:srgbClr val="000000"/>
                </a:solidFill>
                <a:latin typeface="Courier New"/>
              </a:rPr>
              <a:t>&lt;?php   ?&gt;</a:t>
            </a:r>
            <a:endParaRPr lang="en-US" sz="288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85000"/>
    </mc:Choice>
    <mc:Fallback xmlns="" xmlns:p15="http://schemas.microsoft.com/office/powerpoint/2012/main">
      <p:transition spd="slow" advTm="85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#3</a:t>
            </a:r>
            <a:endParaRPr lang="en-US" sz="3959" b="0" strike="noStrike" spc="-1">
              <a:solidFill>
                <a:srgbClr val="FFFFFF"/>
              </a:solidFill>
              <a:latin typeface="Arial"/>
            </a:endParaRPr>
          </a:p>
        </p:txBody>
      </p:sp>
      <p:sp>
        <p:nvSpPr>
          <p:cNvPr id="196"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80000"/>
              </a:lnSpc>
              <a:spcBef>
                <a:spcPts val="675"/>
              </a:spcBef>
              <a:buClr>
                <a:srgbClr val="000000"/>
              </a:buClr>
              <a:buFont typeface="Arial"/>
              <a:buChar char="•"/>
            </a:pPr>
            <a:r>
              <a:rPr lang="en-US" sz="2400" b="0" strike="noStrike" spc="-1" dirty="0">
                <a:solidFill>
                  <a:srgbClr val="000000"/>
                </a:solidFill>
                <a:latin typeface="Arial"/>
              </a:rPr>
              <a:t>Add this line inside your code block:</a:t>
            </a:r>
          </a:p>
          <a:p>
            <a:pPr indent="0">
              <a:lnSpc>
                <a:spcPct val="80000"/>
              </a:lnSpc>
              <a:spcBef>
                <a:spcPts val="675"/>
              </a:spcBef>
              <a:buNone/>
            </a:pP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0" strike="noStrike" spc="-1" dirty="0">
                <a:solidFill>
                  <a:srgbClr val="000000"/>
                </a:solidFill>
                <a:latin typeface="Arial"/>
              </a:rPr>
              <a:t>	</a:t>
            </a:r>
            <a:r>
              <a:rPr lang="en-US" sz="2400" b="1" strike="noStrike" spc="-1" dirty="0" err="1">
                <a:solidFill>
                  <a:srgbClr val="000000"/>
                </a:solidFill>
                <a:latin typeface="Courier New"/>
              </a:rPr>
              <a:t>phpinfo</a:t>
            </a:r>
            <a:r>
              <a:rPr lang="en-US" sz="2400" b="1" strike="noStrike" spc="-1" dirty="0">
                <a:solidFill>
                  <a:srgbClr val="000000"/>
                </a:solidFill>
                <a:latin typeface="Courier New"/>
              </a:rPr>
              <a:t>();</a:t>
            </a:r>
            <a:endParaRPr lang="en-US" sz="2400" b="0" strike="noStrike" spc="-1" dirty="0">
              <a:solidFill>
                <a:srgbClr val="000000"/>
              </a:solidFill>
              <a:latin typeface="Arial"/>
            </a:endParaRPr>
          </a:p>
          <a:p>
            <a:pPr indent="0">
              <a:lnSpc>
                <a:spcPct val="80000"/>
              </a:lnSpc>
              <a:spcBef>
                <a:spcPts val="675"/>
              </a:spcBef>
              <a:buNone/>
              <a:tabLst>
                <a:tab pos="0" algn="l"/>
              </a:tabLst>
            </a:pPr>
            <a:endParaRPr lang="en-US" sz="2400" b="0" strike="noStrike" spc="-1" dirty="0">
              <a:solidFill>
                <a:srgbClr val="000000"/>
              </a:solidFill>
              <a:latin typeface="Arial"/>
            </a:endParaRPr>
          </a:p>
          <a:p>
            <a:pPr marL="154440" indent="-154440">
              <a:lnSpc>
                <a:spcPct val="80000"/>
              </a:lnSpc>
              <a:spcBef>
                <a:spcPts val="675"/>
              </a:spcBef>
              <a:buClr>
                <a:srgbClr val="000000"/>
              </a:buClr>
              <a:buFont typeface="Arial"/>
              <a:buChar char="•"/>
              <a:tabLst>
                <a:tab pos="0" algn="l"/>
              </a:tabLst>
            </a:pPr>
            <a:r>
              <a:rPr lang="en-US" sz="2400" b="0" strike="noStrike" spc="-1" dirty="0">
                <a:solidFill>
                  <a:srgbClr val="000000"/>
                </a:solidFill>
                <a:latin typeface="Arial"/>
              </a:rPr>
              <a:t>What do you see as output?</a:t>
            </a:r>
          </a:p>
          <a:p>
            <a:pPr indent="0">
              <a:lnSpc>
                <a:spcPct val="80000"/>
              </a:lnSpc>
              <a:spcBef>
                <a:spcPts val="675"/>
              </a:spcBef>
              <a:buNone/>
              <a:tabLst>
                <a:tab pos="0" algn="l"/>
              </a:tabLst>
            </a:pPr>
            <a:endParaRPr lang="en-US" sz="2400" b="0" strike="noStrike" spc="-1" dirty="0">
              <a:solidFill>
                <a:srgbClr val="000000"/>
              </a:solidFill>
              <a:latin typeface="Arial"/>
            </a:endParaRPr>
          </a:p>
          <a:p>
            <a:pPr marL="154440" indent="-154440">
              <a:lnSpc>
                <a:spcPct val="80000"/>
              </a:lnSpc>
              <a:spcBef>
                <a:spcPts val="675"/>
              </a:spcBef>
              <a:buClr>
                <a:srgbClr val="000000"/>
              </a:buClr>
              <a:buFont typeface="Arial"/>
              <a:buChar char="•"/>
              <a:tabLst>
                <a:tab pos="0" algn="l"/>
              </a:tabLst>
            </a:pPr>
            <a:r>
              <a:rPr lang="en-US" sz="2400" b="0" strike="noStrike" spc="-1" dirty="0" err="1">
                <a:solidFill>
                  <a:srgbClr val="000000"/>
                </a:solidFill>
                <a:latin typeface="Arial"/>
              </a:rPr>
              <a:t>phpinfo</a:t>
            </a:r>
            <a:r>
              <a:rPr lang="en-US" sz="2400" b="0" strike="noStrike" spc="-1" dirty="0">
                <a:solidFill>
                  <a:srgbClr val="000000"/>
                </a:solidFill>
                <a:latin typeface="Arial"/>
              </a:rPr>
              <a:t>() is a built-in function</a:t>
            </a:r>
          </a:p>
          <a:p>
            <a:pPr marL="154440" indent="-154440">
              <a:lnSpc>
                <a:spcPct val="80000"/>
              </a:lnSpc>
              <a:spcBef>
                <a:spcPts val="675"/>
              </a:spcBef>
              <a:buClr>
                <a:srgbClr val="000000"/>
              </a:buClr>
              <a:buFont typeface="Arial"/>
              <a:buChar char="•"/>
              <a:tabLst>
                <a:tab pos="0" algn="l"/>
              </a:tabLst>
            </a:pPr>
            <a:r>
              <a:rPr lang="en-US" sz="2400" b="0" strike="noStrike" spc="-1" dirty="0">
                <a:solidFill>
                  <a:srgbClr val="000000"/>
                </a:solidFill>
                <a:latin typeface="Arial"/>
              </a:rPr>
              <a:t>Anytime you want information on a built-in function, surf to </a:t>
            </a:r>
            <a:r>
              <a:rPr lang="en-US" sz="2400" b="0" u="sng" strike="noStrike" spc="-1" dirty="0">
                <a:solidFill>
                  <a:srgbClr val="CC9900"/>
                </a:solidFill>
                <a:uFillTx/>
                <a:latin typeface="Arial"/>
                <a:hlinkClick r:id="rId2"/>
              </a:rPr>
              <a:t>www.php.net/</a:t>
            </a:r>
            <a:r>
              <a:rPr lang="en-US" sz="2400" b="0" i="1" u="sng" strike="noStrike" spc="-1" dirty="0">
                <a:solidFill>
                  <a:srgbClr val="CC9900"/>
                </a:solidFill>
                <a:uFillTx/>
                <a:latin typeface="Arial"/>
                <a:hlinkClick r:id="rId2"/>
              </a:rPr>
              <a:t>functionname</a:t>
            </a:r>
            <a:endParaRPr lang="en-US" sz="2400" b="0" strike="noStrike" spc="-1" dirty="0">
              <a:solidFill>
                <a:srgbClr val="000000"/>
              </a:solidFill>
              <a:latin typeface="Arial"/>
            </a:endParaRPr>
          </a:p>
          <a:p>
            <a:pPr marL="154440" indent="-154440">
              <a:lnSpc>
                <a:spcPct val="80000"/>
              </a:lnSpc>
              <a:spcBef>
                <a:spcPts val="675"/>
              </a:spcBef>
              <a:buClr>
                <a:srgbClr val="000000"/>
              </a:buClr>
              <a:buFont typeface="Arial"/>
              <a:buChar char="•"/>
              <a:tabLst>
                <a:tab pos="0" algn="l"/>
              </a:tabLst>
            </a:pPr>
            <a:r>
              <a:rPr lang="en-US" sz="2400" b="0" strike="noStrike" spc="-1" dirty="0">
                <a:solidFill>
                  <a:srgbClr val="000000"/>
                </a:solidFill>
                <a:latin typeface="Arial"/>
              </a:rPr>
              <a:t>Example: </a:t>
            </a:r>
            <a:r>
              <a:rPr lang="en-US" sz="2400" b="0" u="sng" strike="noStrike" spc="-1" dirty="0">
                <a:solidFill>
                  <a:srgbClr val="CC9900"/>
                </a:solidFill>
                <a:uFillTx/>
                <a:latin typeface="Arial"/>
                <a:hlinkClick r:id="rId3"/>
              </a:rPr>
              <a:t>www.php.net/phpinfo</a:t>
            </a:r>
            <a:endParaRPr lang="en-US" sz="2400" b="0" strike="noStrike" spc="-1" dirty="0">
              <a:solidFill>
                <a:srgbClr val="000000"/>
              </a:solidFill>
              <a:latin typeface="Arial"/>
            </a:endParaRPr>
          </a:p>
          <a:p>
            <a:pPr indent="0">
              <a:lnSpc>
                <a:spcPct val="80000"/>
              </a:lnSpc>
              <a:spcBef>
                <a:spcPts val="675"/>
              </a:spcBef>
              <a:buNone/>
              <a:tabLst>
                <a:tab pos="0" algn="l"/>
              </a:tabLst>
            </a:pPr>
            <a:endParaRPr lang="en-US" sz="24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66000"/>
    </mc:Choice>
    <mc:Fallback xmlns="" xmlns:p15="http://schemas.microsoft.com/office/powerpoint/2012/main">
      <p:transition spd="slow" advTm="66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1"/>
          <p:cNvPicPr/>
          <p:nvPr/>
        </p:nvPicPr>
        <p:blipFill>
          <a:blip r:embed="rId2"/>
          <a:stretch/>
        </p:blipFill>
        <p:spPr>
          <a:xfrm>
            <a:off x="228600" y="457200"/>
            <a:ext cx="11810520" cy="63385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advTm="54000"/>
    </mc:Choice>
    <mc:Fallback xmlns="" xmlns:p15="http://schemas.microsoft.com/office/powerpoint/2012/main">
      <p:transition spd="slow" advTm="54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Comments</a:t>
            </a:r>
            <a:endParaRPr lang="en-US" sz="3959" b="0" strike="noStrike" spc="-1">
              <a:solidFill>
                <a:srgbClr val="FFFFFF"/>
              </a:solidFill>
              <a:latin typeface="Arial"/>
            </a:endParaRPr>
          </a:p>
        </p:txBody>
      </p:sp>
      <p:sp>
        <p:nvSpPr>
          <p:cNvPr id="199"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If you know how to comment in C# or Java, you now how to comment in PHP!</a:t>
            </a:r>
          </a:p>
          <a:p>
            <a:pPr marL="462960" lvl="1" indent="-154440">
              <a:lnSpc>
                <a:spcPct val="90000"/>
              </a:lnSpc>
              <a:spcBef>
                <a:spcPts val="337"/>
              </a:spcBef>
              <a:buClr>
                <a:srgbClr val="000000"/>
              </a:buClr>
              <a:buFont typeface="Arial"/>
              <a:buChar char="•"/>
            </a:pPr>
            <a:r>
              <a:rPr lang="en-US" sz="2520" b="1" strike="noStrike" spc="-1" dirty="0">
                <a:solidFill>
                  <a:srgbClr val="000000"/>
                </a:solidFill>
                <a:latin typeface="Courier New"/>
              </a:rPr>
              <a:t>/* 	some comments    */</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US" sz="2520" b="1" strike="noStrike" spc="-1" dirty="0">
                <a:solidFill>
                  <a:srgbClr val="000000"/>
                </a:solidFill>
                <a:latin typeface="Courier New"/>
              </a:rPr>
              <a:t>// 	one-line comment</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US" sz="2520" b="1" strike="noStrike" spc="-1" dirty="0">
                <a:solidFill>
                  <a:srgbClr val="000000"/>
                </a:solidFill>
                <a:latin typeface="Courier New"/>
              </a:rPr>
              <a:t>#  	a UNIX-style one-line comment</a:t>
            </a:r>
            <a:endParaRPr lang="en-US" sz="2520" b="0" strike="noStrike" spc="-1" dirty="0">
              <a:solidFill>
                <a:srgbClr val="000000"/>
              </a:solidFill>
              <a:latin typeface="Arial"/>
            </a:endParaRPr>
          </a:p>
          <a:p>
            <a:pPr indent="0">
              <a:lnSpc>
                <a:spcPct val="90000"/>
              </a:lnSpc>
              <a:spcBef>
                <a:spcPts val="337"/>
              </a:spcBef>
              <a:buNone/>
            </a:pPr>
            <a:endParaRPr lang="en-US" sz="252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77000"/>
    </mc:Choice>
    <mc:Fallback xmlns="" xmlns:p15="http://schemas.microsoft.com/office/powerpoint/2012/main">
      <p:transition spd="slow" advTm="77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Identifiers in PHP</a:t>
            </a:r>
            <a:endParaRPr lang="en-US" sz="3959" b="0" strike="noStrike" spc="-1">
              <a:solidFill>
                <a:srgbClr val="FFFFFF"/>
              </a:solidFill>
              <a:latin typeface="Arial"/>
            </a:endParaRPr>
          </a:p>
        </p:txBody>
      </p:sp>
      <p:sp>
        <p:nvSpPr>
          <p:cNvPr id="201" name="PlaceHolder 2"/>
          <p:cNvSpPr>
            <a:spLocks noGrp="1"/>
          </p:cNvSpPr>
          <p:nvPr>
            <p:ph/>
          </p:nvPr>
        </p:nvSpPr>
        <p:spPr>
          <a:xfrm>
            <a:off x="1119960" y="1825560"/>
            <a:ext cx="10233360" cy="4070880"/>
          </a:xfrm>
          <a:prstGeom prst="rect">
            <a:avLst/>
          </a:prstGeom>
          <a:noFill/>
          <a:ln w="0">
            <a:noFill/>
          </a:ln>
        </p:spPr>
        <p:txBody>
          <a:bodyPr anchor="t">
            <a:noAutofit/>
          </a:bodyPr>
          <a:lstStyle/>
          <a:p>
            <a:pPr marL="462960" indent="0">
              <a:lnSpc>
                <a:spcPct val="90000"/>
              </a:lnSpc>
              <a:spcBef>
                <a:spcPts val="337"/>
              </a:spcBef>
              <a:buNone/>
              <a:tabLst>
                <a:tab pos="0" algn="l"/>
              </a:tabLst>
            </a:pPr>
            <a:r>
              <a:rPr lang="en-US" sz="2520" b="1" strike="noStrike" spc="-1">
                <a:solidFill>
                  <a:srgbClr val="000000"/>
                </a:solidFill>
                <a:latin typeface="Courier New"/>
              </a:rPr>
              <a:t>$some_Var6 = "a value";</a:t>
            </a:r>
            <a:endParaRPr lang="en-US" sz="2520" b="0" strike="noStrike" spc="-1">
              <a:solidFill>
                <a:srgbClr val="000000"/>
              </a:solidFill>
              <a:latin typeface="Arial"/>
            </a:endParaRPr>
          </a:p>
          <a:p>
            <a:pPr indent="0">
              <a:lnSpc>
                <a:spcPct val="90000"/>
              </a:lnSpc>
              <a:spcBef>
                <a:spcPts val="675"/>
              </a:spcBef>
              <a:buNone/>
              <a:tabLst>
                <a:tab pos="0" algn="l"/>
              </a:tabLst>
            </a:pPr>
            <a:endParaRPr lang="en-US" sz="2880" b="0" strike="noStrike" spc="-1">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880" b="0" strike="noStrike" spc="-1">
                <a:solidFill>
                  <a:srgbClr val="000000"/>
                </a:solidFill>
                <a:latin typeface="Arial"/>
              </a:rPr>
              <a:t>Variables in PHP start with a $ sign, then a letter or an underscore</a:t>
            </a:r>
          </a:p>
          <a:p>
            <a:pPr marL="154440" indent="-154440">
              <a:lnSpc>
                <a:spcPct val="90000"/>
              </a:lnSpc>
              <a:spcBef>
                <a:spcPts val="675"/>
              </a:spcBef>
              <a:buClr>
                <a:srgbClr val="000000"/>
              </a:buClr>
              <a:buFont typeface="Arial"/>
              <a:buChar char="•"/>
              <a:tabLst>
                <a:tab pos="0" algn="l"/>
              </a:tabLst>
            </a:pPr>
            <a:r>
              <a:rPr lang="en-US" sz="2880" b="0" strike="noStrike" spc="-1">
                <a:solidFill>
                  <a:srgbClr val="000000"/>
                </a:solidFill>
                <a:latin typeface="Arial"/>
              </a:rPr>
              <a:t>The rest of the name can be letters, numbers, underscores</a:t>
            </a:r>
          </a:p>
          <a:p>
            <a:pPr marL="154440" indent="-154440">
              <a:lnSpc>
                <a:spcPct val="90000"/>
              </a:lnSpc>
              <a:spcBef>
                <a:spcPts val="675"/>
              </a:spcBef>
              <a:buClr>
                <a:srgbClr val="000000"/>
              </a:buClr>
              <a:buFont typeface="Arial"/>
              <a:buChar char="•"/>
              <a:tabLst>
                <a:tab pos="0" algn="l"/>
              </a:tabLst>
            </a:pPr>
            <a:r>
              <a:rPr lang="en-US" sz="2880" b="0" strike="noStrike" spc="-1">
                <a:solidFill>
                  <a:srgbClr val="000000"/>
                </a:solidFill>
                <a:latin typeface="Arial"/>
              </a:rPr>
              <a:t>Case sensitive</a:t>
            </a:r>
          </a:p>
        </p:txBody>
      </p:sp>
    </p:spTree>
  </p:cSld>
  <p:clrMapOvr>
    <a:masterClrMapping/>
  </p:clrMapOvr>
  <mc:AlternateContent xmlns:mc="http://schemas.openxmlformats.org/markup-compatibility/2006" xmlns:p14="http://schemas.microsoft.com/office/powerpoint/2010/main">
    <mc:Choice Requires="p14">
      <p:transition spd="slow" p14:dur="2000" advTm="52000"/>
    </mc:Choice>
    <mc:Fallback xmlns="" xmlns:p15="http://schemas.microsoft.com/office/powerpoint/2012/main">
      <p:transition spd="slow" advTm="5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Arrays</a:t>
            </a:r>
            <a:endParaRPr lang="en-US" sz="3959" b="0" strike="noStrike" spc="-1">
              <a:solidFill>
                <a:srgbClr val="FFFFFF"/>
              </a:solidFill>
              <a:latin typeface="Arial"/>
            </a:endParaRPr>
          </a:p>
        </p:txBody>
      </p:sp>
      <p:sp>
        <p:nvSpPr>
          <p:cNvPr id="203"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Each item in an array can be accessed directly via its index, starting at 0 for the first element</a:t>
            </a:r>
          </a:p>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In PHP, you can also access an element by name</a:t>
            </a:r>
          </a:p>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When you submit an HTML form with data in it, it is passed in as an array.</a:t>
            </a:r>
          </a:p>
          <a:p>
            <a:pPr marL="154440" indent="-154440">
              <a:lnSpc>
                <a:spcPct val="90000"/>
              </a:lnSpc>
              <a:spcBef>
                <a:spcPts val="675"/>
              </a:spcBef>
              <a:buClr>
                <a:srgbClr val="000000"/>
              </a:buClr>
              <a:buFont typeface="Arial"/>
              <a:buChar char="•"/>
            </a:pPr>
            <a:r>
              <a:rPr lang="en-US" sz="2400" b="0" strike="noStrike" spc="-1">
                <a:solidFill>
                  <a:srgbClr val="000000"/>
                </a:solidFill>
                <a:latin typeface="Arial"/>
              </a:rPr>
              <a:t>Example:</a:t>
            </a:r>
          </a:p>
          <a:p>
            <a:pPr marL="462960" indent="0">
              <a:lnSpc>
                <a:spcPct val="90000"/>
              </a:lnSpc>
              <a:spcBef>
                <a:spcPts val="337"/>
              </a:spcBef>
              <a:buNone/>
              <a:tabLst>
                <a:tab pos="0" algn="l"/>
              </a:tabLst>
            </a:pPr>
            <a:r>
              <a:rPr lang="en-US" sz="2000" b="1" strike="noStrike" spc="-1">
                <a:solidFill>
                  <a:srgbClr val="000000"/>
                </a:solidFill>
                <a:latin typeface="Courier New"/>
              </a:rPr>
              <a:t>$_POST['formfield']</a:t>
            </a:r>
            <a:endParaRPr lang="en-US" sz="2000" b="0" strike="noStrike" spc="-1">
              <a:solidFill>
                <a:srgbClr val="000000"/>
              </a:solidFill>
              <a:latin typeface="Arial"/>
            </a:endParaRPr>
          </a:p>
          <a:p>
            <a:pPr marL="462960" indent="0">
              <a:lnSpc>
                <a:spcPct val="90000"/>
              </a:lnSpc>
              <a:spcBef>
                <a:spcPts val="337"/>
              </a:spcBef>
              <a:buNone/>
              <a:tabLst>
                <a:tab pos="0" algn="l"/>
              </a:tabLst>
            </a:pPr>
            <a:r>
              <a:rPr lang="en-US" sz="2000" b="1" strike="noStrike" spc="-1">
                <a:solidFill>
                  <a:srgbClr val="000000"/>
                </a:solidFill>
                <a:latin typeface="Courier New"/>
              </a:rPr>
              <a:t>$_GET['formfield']</a:t>
            </a:r>
            <a:endParaRPr lang="en-US" sz="2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96000"/>
    </mc:Choice>
    <mc:Fallback xmlns="" xmlns:p15="http://schemas.microsoft.com/office/powerpoint/2012/main">
      <p:transition spd="slow" advTm="96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dirty="0">
                <a:solidFill>
                  <a:srgbClr val="6F6F6F"/>
                </a:solidFill>
                <a:latin typeface="Arial"/>
              </a:rPr>
              <a:t>Let's Code #4</a:t>
            </a:r>
            <a:endParaRPr lang="en-US" sz="3959" b="0" strike="noStrike" spc="-1" dirty="0">
              <a:solidFill>
                <a:srgbClr val="FFFFFF"/>
              </a:solidFill>
              <a:latin typeface="Arial"/>
            </a:endParaRPr>
          </a:p>
        </p:txBody>
      </p:sp>
      <p:sp>
        <p:nvSpPr>
          <p:cNvPr id="205"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Try this:</a:t>
            </a:r>
          </a:p>
          <a:p>
            <a:pPr indent="0">
              <a:lnSpc>
                <a:spcPct val="90000"/>
              </a:lnSpc>
              <a:spcBef>
                <a:spcPts val="675"/>
              </a:spcBef>
              <a:buNone/>
            </a:pPr>
            <a:endParaRPr lang="en-US" sz="24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$name = "Lisa";</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print("Hello $name");     // Hello List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print('Hello $name’);     // Hello $name</a:t>
            </a:r>
            <a:endParaRPr lang="en-US" sz="2000" b="0" strike="noStrike" spc="-1" dirty="0">
              <a:solidFill>
                <a:srgbClr val="000000"/>
              </a:solidFill>
              <a:latin typeface="Arial"/>
            </a:endParaRPr>
          </a:p>
          <a:p>
            <a:pPr indent="0">
              <a:lnSpc>
                <a:spcPct val="90000"/>
              </a:lnSpc>
              <a:spcBef>
                <a:spcPts val="675"/>
              </a:spcBef>
              <a:buNone/>
              <a:tabLst>
                <a:tab pos="0" algn="l"/>
              </a:tabLst>
            </a:pPr>
            <a:endParaRPr lang="en-US" sz="2400" b="0" strike="noStrike" spc="-1" dirty="0">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400" b="0" strike="noStrike" spc="-1" dirty="0">
                <a:solidFill>
                  <a:srgbClr val="000000"/>
                </a:solidFill>
                <a:latin typeface="Arial"/>
              </a:rPr>
              <a:t>What happened?</a:t>
            </a:r>
          </a:p>
          <a:p>
            <a:pPr marL="154440" indent="-154440">
              <a:lnSpc>
                <a:spcPct val="90000"/>
              </a:lnSpc>
              <a:spcBef>
                <a:spcPts val="675"/>
              </a:spcBef>
              <a:buClr>
                <a:srgbClr val="000000"/>
              </a:buClr>
              <a:buFont typeface="Arial"/>
              <a:buChar char="•"/>
              <a:tabLst>
                <a:tab pos="0" algn="l"/>
              </a:tabLst>
            </a:pPr>
            <a:r>
              <a:rPr lang="en-US" sz="2400" b="0" strike="noStrike" spc="-1" dirty="0">
                <a:solidFill>
                  <a:srgbClr val="000000"/>
                </a:solidFill>
                <a:latin typeface="Arial"/>
              </a:rPr>
              <a:t>Can you tell based on this example what the difference is between single quotes and double quotes?</a:t>
            </a:r>
          </a:p>
        </p:txBody>
      </p:sp>
      <p:sp>
        <p:nvSpPr>
          <p:cNvPr id="3" name="TextBox 2">
            <a:extLst>
              <a:ext uri="{FF2B5EF4-FFF2-40B4-BE49-F238E27FC236}">
                <a16:creationId xmlns:a16="http://schemas.microsoft.com/office/drawing/2014/main" id="{896972FE-A3E0-FB64-4969-CA211C9420EE}"/>
              </a:ext>
            </a:extLst>
          </p:cNvPr>
          <p:cNvSpPr txBox="1"/>
          <p:nvPr/>
        </p:nvSpPr>
        <p:spPr>
          <a:xfrm>
            <a:off x="6577780" y="5133738"/>
            <a:ext cx="6096000" cy="646331"/>
          </a:xfrm>
          <a:prstGeom prst="rect">
            <a:avLst/>
          </a:prstGeom>
          <a:noFill/>
        </p:spPr>
        <p:txBody>
          <a:bodyPr wrap="square">
            <a:spAutoFit/>
          </a:bodyPr>
          <a:lstStyle/>
          <a:p>
            <a:pPr>
              <a:buNone/>
            </a:pPr>
            <a:r>
              <a:rPr lang="en-US" b="1" dirty="0"/>
              <a:t>Double quotes (</a:t>
            </a:r>
            <a:r>
              <a:rPr lang="en-US" b="1" dirty="0">
                <a:latin typeface="Courier New" panose="02070309020205020404" pitchFamily="49" charset="0"/>
              </a:rPr>
              <a:t>" "</a:t>
            </a:r>
            <a:r>
              <a:rPr lang="en-US" b="1" dirty="0"/>
              <a:t>)</a:t>
            </a:r>
            <a:endParaRPr lang="en-US" dirty="0"/>
          </a:p>
          <a:p>
            <a:pPr>
              <a:buFont typeface="Arial" panose="020B0604020202020204" pitchFamily="34" charset="0"/>
              <a:buChar char="•"/>
            </a:pPr>
            <a:r>
              <a:rPr lang="en-US" dirty="0"/>
              <a:t>PHP will </a:t>
            </a:r>
            <a:r>
              <a:rPr lang="en-US" b="1" dirty="0"/>
              <a:t>interpolate variables</a:t>
            </a:r>
            <a:r>
              <a:rPr lang="en-US" dirty="0"/>
              <a:t> inside the string.</a:t>
            </a:r>
          </a:p>
        </p:txBody>
      </p:sp>
    </p:spTree>
  </p:cSld>
  <p:clrMapOvr>
    <a:masterClrMapping/>
  </p:clrMapOvr>
  <mc:AlternateContent xmlns:mc="http://schemas.openxmlformats.org/markup-compatibility/2006" xmlns:p14="http://schemas.microsoft.com/office/powerpoint/2010/main">
    <mc:Choice Requires="p14">
      <p:transition spd="slow" p14:dur="2000" advTm="61000"/>
    </mc:Choice>
    <mc:Fallback xmlns="" xmlns:p15="http://schemas.microsoft.com/office/powerpoint/2012/main">
      <p:transition spd="slow" advTm="61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Print vs. Echo</a:t>
            </a:r>
            <a:endParaRPr lang="en-US" sz="3959" b="0" strike="noStrike" spc="-1">
              <a:solidFill>
                <a:srgbClr val="FFFFFF"/>
              </a:solidFill>
              <a:latin typeface="Arial"/>
            </a:endParaRPr>
          </a:p>
        </p:txBody>
      </p:sp>
      <p:sp>
        <p:nvSpPr>
          <p:cNvPr id="207"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The only difference between </a:t>
            </a:r>
            <a:r>
              <a:rPr lang="en-US" sz="2880" b="1" strike="noStrike" spc="-1" dirty="0">
                <a:solidFill>
                  <a:srgbClr val="000000"/>
                </a:solidFill>
                <a:latin typeface="Arial"/>
              </a:rPr>
              <a:t>print</a:t>
            </a:r>
            <a:r>
              <a:rPr lang="en-US" sz="2880" b="0" strike="noStrike" spc="-1" dirty="0">
                <a:solidFill>
                  <a:srgbClr val="000000"/>
                </a:solidFill>
                <a:latin typeface="Arial"/>
              </a:rPr>
              <a:t> and </a:t>
            </a:r>
            <a:r>
              <a:rPr lang="en-US" sz="2880" b="1" strike="noStrike" spc="-1" dirty="0">
                <a:solidFill>
                  <a:srgbClr val="000000"/>
                </a:solidFill>
                <a:latin typeface="Arial"/>
              </a:rPr>
              <a:t>echo</a:t>
            </a:r>
            <a:r>
              <a:rPr lang="en-US" sz="2880" b="0" strike="noStrike" spc="-1" dirty="0">
                <a:solidFill>
                  <a:srgbClr val="000000"/>
                </a:solidFill>
                <a:latin typeface="Arial"/>
              </a:rPr>
              <a:t> is that </a:t>
            </a:r>
            <a:r>
              <a:rPr lang="en-US" sz="2880" b="1" strike="noStrike" spc="-1" dirty="0">
                <a:solidFill>
                  <a:srgbClr val="000000"/>
                </a:solidFill>
                <a:latin typeface="Arial"/>
              </a:rPr>
              <a:t>print</a:t>
            </a:r>
            <a:r>
              <a:rPr lang="en-US" sz="2880" b="0" strike="noStrike" spc="-1" dirty="0">
                <a:solidFill>
                  <a:srgbClr val="000000"/>
                </a:solidFill>
                <a:latin typeface="Arial"/>
              </a:rPr>
              <a:t> can return an error code that can be checked… 1 if it worked, 0 if it did not</a:t>
            </a: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1" strike="noStrike" spc="-1" dirty="0">
                <a:solidFill>
                  <a:srgbClr val="000000"/>
                </a:solidFill>
                <a:latin typeface="Arial"/>
              </a:rPr>
              <a:t>print</a:t>
            </a:r>
            <a:r>
              <a:rPr lang="en-US" sz="2880" b="0" strike="noStrike" spc="-1" dirty="0">
                <a:solidFill>
                  <a:srgbClr val="000000"/>
                </a:solidFill>
                <a:latin typeface="Arial"/>
              </a:rPr>
              <a:t> returns an </a:t>
            </a:r>
            <a:r>
              <a:rPr lang="en-US" sz="2880" b="1" strike="noStrike" spc="-1" dirty="0">
                <a:solidFill>
                  <a:srgbClr val="000000"/>
                </a:solidFill>
                <a:latin typeface="Arial"/>
              </a:rPr>
              <a:t>int</a:t>
            </a: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1" strike="noStrike" spc="-1" dirty="0">
                <a:solidFill>
                  <a:srgbClr val="000000"/>
                </a:solidFill>
                <a:latin typeface="Arial"/>
              </a:rPr>
              <a:t>echo</a:t>
            </a:r>
            <a:r>
              <a:rPr lang="en-US" sz="2880" b="0" strike="noStrike" spc="-1" dirty="0">
                <a:solidFill>
                  <a:srgbClr val="000000"/>
                </a:solidFill>
                <a:latin typeface="Arial"/>
              </a:rPr>
              <a:t> returns </a:t>
            </a:r>
            <a:r>
              <a:rPr lang="en-US" sz="2880" b="1" strike="noStrike" spc="-1" dirty="0">
                <a:solidFill>
                  <a:srgbClr val="000000"/>
                </a:solidFill>
                <a:latin typeface="Arial"/>
              </a:rPr>
              <a:t>void</a:t>
            </a: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What is void?</a:t>
            </a:r>
          </a:p>
          <a:p>
            <a:pPr marL="154440" indent="-154440">
              <a:lnSpc>
                <a:spcPct val="90000"/>
              </a:lnSpc>
              <a:spcBef>
                <a:spcPts val="675"/>
              </a:spcBef>
              <a:buClr>
                <a:srgbClr val="000000"/>
              </a:buClr>
              <a:buFont typeface="Arial"/>
              <a:buChar char="•"/>
            </a:pPr>
            <a:r>
              <a:rPr lang="en-US" sz="2000" b="0" i="0" dirty="0">
                <a:solidFill>
                  <a:srgbClr val="1F1F1F"/>
                </a:solidFill>
                <a:effectLst/>
                <a:latin typeface="Google Sans"/>
              </a:rPr>
              <a:t>void is </a:t>
            </a:r>
            <a:r>
              <a:rPr lang="en-US" sz="2000" b="0" i="0" dirty="0">
                <a:solidFill>
                  <a:srgbClr val="040C28"/>
                </a:solidFill>
                <a:effectLst/>
                <a:latin typeface="Google Sans"/>
              </a:rPr>
              <a:t>a return-only type declaration indicating the function does not return a value, but the function may still terminate</a:t>
            </a:r>
            <a:r>
              <a:rPr lang="en-US" sz="2000" b="0" i="0" dirty="0">
                <a:solidFill>
                  <a:srgbClr val="1F1F1F"/>
                </a:solidFill>
                <a:effectLst/>
                <a:latin typeface="Google Sans"/>
              </a:rPr>
              <a:t>. Therefore, it cannot be part of a union type declaration</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xmlns:p15="http://schemas.microsoft.com/office/powerpoint/2012/main">
      <p:transition spd="slow" advTm="25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Example #5</a:t>
            </a:r>
            <a:endParaRPr lang="en-US" sz="3959" b="0" strike="noStrike" spc="-1">
              <a:solidFill>
                <a:srgbClr val="FFFFFF"/>
              </a:solidFill>
              <a:latin typeface="Arial"/>
            </a:endParaRPr>
          </a:p>
        </p:txBody>
      </p:sp>
      <p:sp>
        <p:nvSpPr>
          <p:cNvPr id="209"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0">
              <a:lnSpc>
                <a:spcPct val="90000"/>
              </a:lnSpc>
              <a:spcBef>
                <a:spcPts val="675"/>
              </a:spcBef>
              <a:buNone/>
              <a:tabLst>
                <a:tab pos="0" algn="l"/>
              </a:tabLst>
            </a:pPr>
            <a:r>
              <a:rPr lang="en-US" sz="2000" b="1" strike="noStrike" spc="-1" dirty="0">
                <a:solidFill>
                  <a:srgbClr val="000000"/>
                </a:solidFill>
                <a:latin typeface="Courier New"/>
              </a:rPr>
              <a:t>&lt;html&gt;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&lt;head&gt;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&lt;title&gt;PHP Example 1b&lt;/title&gt;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&lt;/head&gt;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&lt;body&gt;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a:t>
            </a:r>
            <a:r>
              <a:rPr lang="en-US" sz="2000" b="1" strike="noStrike" spc="-1" dirty="0" err="1">
                <a:solidFill>
                  <a:srgbClr val="000000"/>
                </a:solidFill>
                <a:latin typeface="Courier New"/>
              </a:rPr>
              <a:t>php</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#yes I am a shell script fanatic</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echo "Hello world!";</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&lt;/body&gt;</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&lt;/html&gt;</a:t>
            </a:r>
            <a:endParaRPr lang="en-US" sz="2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4000"/>
    </mc:Choice>
    <mc:Fallback xmlns="" xmlns:p15="http://schemas.microsoft.com/office/powerpoint/2012/main">
      <p:transition spd="slow" advTm="14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statements</a:t>
            </a:r>
            <a:endParaRPr lang="en-US" sz="3959" b="0" strike="noStrike" spc="-1">
              <a:solidFill>
                <a:srgbClr val="FFFFFF"/>
              </a:solidFill>
              <a:latin typeface="Arial"/>
            </a:endParaRPr>
          </a:p>
        </p:txBody>
      </p:sp>
      <p:sp>
        <p:nvSpPr>
          <p:cNvPr id="211"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If you know how to code an if statement in Java, you know how to do it in PHP!</a:t>
            </a:r>
          </a:p>
          <a:p>
            <a:pPr marL="462960" lvl="1" indent="-154440">
              <a:lnSpc>
                <a:spcPct val="90000"/>
              </a:lnSpc>
              <a:spcBef>
                <a:spcPts val="337"/>
              </a:spcBef>
              <a:buClr>
                <a:srgbClr val="000000"/>
              </a:buClr>
              <a:buFont typeface="Arial"/>
              <a:buChar char="•"/>
            </a:pPr>
            <a:r>
              <a:rPr lang="en-US" sz="2520" b="1" strike="noStrike" spc="-1" dirty="0">
                <a:solidFill>
                  <a:srgbClr val="000000"/>
                </a:solidFill>
                <a:latin typeface="Courier New"/>
              </a:rPr>
              <a:t>if ($</a:t>
            </a:r>
            <a:r>
              <a:rPr lang="en-US" sz="2520" b="1" strike="noStrike" spc="-1" dirty="0" err="1">
                <a:solidFill>
                  <a:srgbClr val="000000"/>
                </a:solidFill>
                <a:latin typeface="Courier New"/>
              </a:rPr>
              <a:t>cond_one</a:t>
            </a:r>
            <a:r>
              <a:rPr lang="en-US" sz="2520" b="1" strike="noStrike" spc="-1" dirty="0">
                <a:solidFill>
                  <a:srgbClr val="000000"/>
                </a:solidFill>
                <a:latin typeface="Courier New"/>
              </a:rPr>
              <a:t> &amp;&amp; $</a:t>
            </a:r>
            <a:r>
              <a:rPr lang="en-US" sz="2520" b="1" strike="noStrike" spc="-1" dirty="0" err="1">
                <a:solidFill>
                  <a:srgbClr val="000000"/>
                </a:solidFill>
                <a:latin typeface="Courier New"/>
              </a:rPr>
              <a:t>cond_two</a:t>
            </a:r>
            <a:r>
              <a:rPr lang="en-US" sz="2520" b="1" strike="noStrike" spc="-1" dirty="0">
                <a:solidFill>
                  <a:srgbClr val="000000"/>
                </a:solidFill>
                <a:latin typeface="Courier New"/>
              </a:rPr>
              <a:t>)</a:t>
            </a:r>
            <a:endParaRPr lang="en-US" sz="2520" b="0" strike="noStrike" spc="-1" dirty="0">
              <a:solidFill>
                <a:srgbClr val="000000"/>
              </a:solidFill>
              <a:latin typeface="Arial"/>
            </a:endParaRPr>
          </a:p>
          <a:p>
            <a:pPr marL="771480" indent="0">
              <a:lnSpc>
                <a:spcPct val="90000"/>
              </a:lnSpc>
              <a:spcBef>
                <a:spcPts val="337"/>
              </a:spcBef>
              <a:buNone/>
              <a:tabLst>
                <a:tab pos="0" algn="l"/>
              </a:tabLst>
            </a:pPr>
            <a:r>
              <a:rPr lang="en-US" sz="2160" b="1" strike="noStrike" spc="-1" dirty="0">
                <a:solidFill>
                  <a:srgbClr val="000000"/>
                </a:solidFill>
                <a:latin typeface="Courier New"/>
              </a:rPr>
              <a:t>{</a:t>
            </a:r>
            <a:endParaRPr lang="en-US" sz="2160" b="0" strike="noStrike" spc="-1" dirty="0">
              <a:solidFill>
                <a:srgbClr val="000000"/>
              </a:solidFill>
              <a:latin typeface="Arial"/>
            </a:endParaRPr>
          </a:p>
          <a:p>
            <a:pPr marL="1080000" indent="0">
              <a:lnSpc>
                <a:spcPct val="90000"/>
              </a:lnSpc>
              <a:spcBef>
                <a:spcPts val="337"/>
              </a:spcBef>
              <a:buNone/>
              <a:tabLst>
                <a:tab pos="0" algn="l"/>
              </a:tabLst>
            </a:pPr>
            <a:r>
              <a:rPr lang="en-US" sz="1800" b="1" strike="noStrike" spc="-1" dirty="0">
                <a:solidFill>
                  <a:srgbClr val="000000"/>
                </a:solidFill>
                <a:latin typeface="Courier New"/>
              </a:rPr>
              <a:t>//do this</a:t>
            </a:r>
            <a:endParaRPr lang="en-US" sz="1800" b="0" strike="noStrike" spc="-1" dirty="0">
              <a:solidFill>
                <a:srgbClr val="000000"/>
              </a:solidFill>
              <a:latin typeface="Arial"/>
            </a:endParaRPr>
          </a:p>
          <a:p>
            <a:pPr marL="771480" indent="0">
              <a:lnSpc>
                <a:spcPct val="90000"/>
              </a:lnSpc>
              <a:spcBef>
                <a:spcPts val="337"/>
              </a:spcBef>
              <a:buNone/>
              <a:tabLst>
                <a:tab pos="0" algn="l"/>
              </a:tabLst>
            </a:pPr>
            <a:r>
              <a:rPr lang="en-US" sz="2160" b="1" strike="noStrike" spc="-1" dirty="0">
                <a:solidFill>
                  <a:srgbClr val="000000"/>
                </a:solidFill>
                <a:latin typeface="Courier New"/>
              </a:rPr>
              <a:t>}</a:t>
            </a:r>
            <a:endParaRPr lang="en-US" sz="2160" b="0" strike="noStrike" spc="-1" dirty="0">
              <a:solidFill>
                <a:srgbClr val="000000"/>
              </a:solidFill>
              <a:latin typeface="Arial"/>
            </a:endParaRPr>
          </a:p>
          <a:p>
            <a:pPr indent="0">
              <a:lnSpc>
                <a:spcPct val="90000"/>
              </a:lnSpc>
              <a:spcBef>
                <a:spcPts val="337"/>
              </a:spcBef>
              <a:buNone/>
              <a:tabLst>
                <a:tab pos="0" algn="l"/>
              </a:tabLst>
            </a:pPr>
            <a:endParaRPr lang="en-US" sz="252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9000"/>
    </mc:Choice>
    <mc:Fallback xmlns="" xmlns:p15="http://schemas.microsoft.com/office/powerpoint/2012/main">
      <p:transition spd="slow" advTm="19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statements</a:t>
            </a:r>
            <a:endParaRPr lang="en-US" sz="3959" b="0" strike="noStrike" spc="-1">
              <a:solidFill>
                <a:srgbClr val="FFFFFF"/>
              </a:solidFill>
              <a:latin typeface="Arial"/>
            </a:endParaRPr>
          </a:p>
        </p:txBody>
      </p:sp>
      <p:sp>
        <p:nvSpPr>
          <p:cNvPr id="213"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80000"/>
              </a:lnSpc>
              <a:spcBef>
                <a:spcPts val="675"/>
              </a:spcBef>
              <a:buClr>
                <a:srgbClr val="000000"/>
              </a:buClr>
              <a:buFont typeface="Arial"/>
              <a:buChar char="•"/>
            </a:pPr>
            <a:r>
              <a:rPr lang="en-US" sz="2000" b="0" strike="noStrike" spc="-1" dirty="0">
                <a:solidFill>
                  <a:srgbClr val="000000"/>
                </a:solidFill>
                <a:latin typeface="Arial"/>
              </a:rPr>
              <a:t>Consider the following code:</a:t>
            </a:r>
          </a:p>
          <a:p>
            <a:pPr indent="0">
              <a:lnSpc>
                <a:spcPct val="80000"/>
              </a:lnSpc>
              <a:spcBef>
                <a:spcPts val="675"/>
              </a:spcBef>
              <a:buNone/>
            </a:pP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&lt;?</a:t>
            </a:r>
            <a:r>
              <a:rPr lang="en-US" sz="2000" b="1" strike="noStrike" spc="-1" dirty="0" err="1">
                <a:solidFill>
                  <a:srgbClr val="000000"/>
                </a:solidFill>
                <a:latin typeface="Courier New"/>
              </a:rPr>
              <a:t>php</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if ($</a:t>
            </a:r>
            <a:r>
              <a:rPr lang="en-US" sz="2000" b="1" strike="noStrike" spc="-1" dirty="0" err="1">
                <a:solidFill>
                  <a:srgbClr val="000000"/>
                </a:solidFill>
                <a:latin typeface="Courier New"/>
              </a:rPr>
              <a:t>cond_one</a:t>
            </a:r>
            <a:r>
              <a:rPr lang="en-US" sz="2000" b="1" strike="noStrike" spc="-1" dirty="0">
                <a:solidFill>
                  <a:srgbClr val="000000"/>
                </a:solidFill>
                <a:latin typeface="Courier New"/>
              </a:rPr>
              <a:t> &amp;&amp; $</a:t>
            </a:r>
            <a:r>
              <a:rPr lang="en-US" sz="2000" b="1" strike="noStrike" spc="-1" dirty="0" err="1">
                <a:solidFill>
                  <a:srgbClr val="000000"/>
                </a:solidFill>
                <a:latin typeface="Courier New"/>
              </a:rPr>
              <a:t>cond_two</a:t>
            </a:r>
            <a:r>
              <a:rPr lang="en-US" sz="2000" b="1" strike="noStrike" spc="-1" dirty="0">
                <a:solidFill>
                  <a:srgbClr val="000000"/>
                </a:solidFill>
                <a:latin typeface="Courier New"/>
              </a:rPr>
              <a:t>)</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?&gt;</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		&lt;h1&gt;This is some HTML!&lt;/h1&gt;</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&lt;?</a:t>
            </a:r>
            <a:r>
              <a:rPr lang="en-US" sz="2000" b="1" strike="noStrike" spc="-1" dirty="0" err="1">
                <a:solidFill>
                  <a:srgbClr val="000000"/>
                </a:solidFill>
                <a:latin typeface="Courier New"/>
              </a:rPr>
              <a:t>php</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?&gt;</a:t>
            </a:r>
            <a:endParaRPr lang="en-US" sz="2000" b="0" strike="noStrike" spc="-1" dirty="0">
              <a:solidFill>
                <a:srgbClr val="000000"/>
              </a:solidFill>
              <a:latin typeface="Arial"/>
            </a:endParaRPr>
          </a:p>
          <a:p>
            <a:pPr indent="0">
              <a:lnSpc>
                <a:spcPct val="80000"/>
              </a:lnSpc>
              <a:spcBef>
                <a:spcPts val="675"/>
              </a:spcBef>
              <a:buNone/>
              <a:tabLst>
                <a:tab pos="0" algn="l"/>
              </a:tabLst>
            </a:pPr>
            <a:endParaRPr lang="en-US" sz="2000" b="0" strike="noStrike" spc="-1" dirty="0">
              <a:solidFill>
                <a:srgbClr val="000000"/>
              </a:solidFill>
              <a:latin typeface="Arial"/>
            </a:endParaRPr>
          </a:p>
          <a:p>
            <a:pPr marL="154440" indent="-154440">
              <a:lnSpc>
                <a:spcPct val="80000"/>
              </a:lnSpc>
              <a:spcBef>
                <a:spcPts val="675"/>
              </a:spcBef>
              <a:buClr>
                <a:srgbClr val="000000"/>
              </a:buClr>
              <a:buFont typeface="Arial"/>
              <a:buChar char="•"/>
              <a:tabLst>
                <a:tab pos="0" algn="l"/>
              </a:tabLst>
            </a:pPr>
            <a:r>
              <a:rPr lang="en-US" sz="2000" b="0" strike="noStrike" spc="-1" dirty="0">
                <a:solidFill>
                  <a:srgbClr val="000000"/>
                </a:solidFill>
                <a:latin typeface="Arial"/>
              </a:rPr>
              <a:t>Is it valid?  How does it work?</a:t>
            </a:r>
          </a:p>
          <a:p>
            <a:pPr indent="0">
              <a:lnSpc>
                <a:spcPct val="80000"/>
              </a:lnSpc>
              <a:spcBef>
                <a:spcPts val="337"/>
              </a:spcBef>
              <a:buNone/>
              <a:tabLst>
                <a:tab pos="0" algn="l"/>
              </a:tabLst>
            </a:pPr>
            <a:endParaRPr lang="en-US" sz="1800" b="0" strike="noStrike" spc="-1" dirty="0">
              <a:solidFill>
                <a:srgbClr val="000000"/>
              </a:solidFill>
              <a:latin typeface="Arial"/>
            </a:endParaRPr>
          </a:p>
        </p:txBody>
      </p:sp>
      <p:sp>
        <p:nvSpPr>
          <p:cNvPr id="3" name="TextBox 2">
            <a:extLst>
              <a:ext uri="{FF2B5EF4-FFF2-40B4-BE49-F238E27FC236}">
                <a16:creationId xmlns:a16="http://schemas.microsoft.com/office/drawing/2014/main" id="{93D0840F-8D56-61AD-7581-25CAA1DB963D}"/>
              </a:ext>
            </a:extLst>
          </p:cNvPr>
          <p:cNvSpPr txBox="1"/>
          <p:nvPr/>
        </p:nvSpPr>
        <p:spPr>
          <a:xfrm>
            <a:off x="5732206" y="5250109"/>
            <a:ext cx="6096000" cy="646331"/>
          </a:xfrm>
          <a:prstGeom prst="rect">
            <a:avLst/>
          </a:prstGeom>
          <a:noFill/>
        </p:spPr>
        <p:txBody>
          <a:bodyPr wrap="square">
            <a:spAutoFit/>
          </a:bodyPr>
          <a:lstStyle/>
          <a:p>
            <a:r>
              <a:rPr lang="en-US" dirty="0"/>
              <a:t>YES! PHP allows you to </a:t>
            </a:r>
            <a:r>
              <a:rPr lang="en-US" b="1" dirty="0"/>
              <a:t>jump in and out of PHP mode</a:t>
            </a:r>
            <a:r>
              <a:rPr lang="en-US" dirty="0"/>
              <a:t> using </a:t>
            </a:r>
            <a:r>
              <a:rPr lang="en-US" dirty="0">
                <a:latin typeface="Courier New" panose="02070309020205020404" pitchFamily="49" charset="0"/>
              </a:rPr>
              <a:t>&lt;?</a:t>
            </a:r>
            <a:r>
              <a:rPr lang="en-US" dirty="0" err="1">
                <a:latin typeface="Courier New" panose="02070309020205020404" pitchFamily="49" charset="0"/>
              </a:rPr>
              <a:t>php</a:t>
            </a:r>
            <a:r>
              <a:rPr lang="en-US" dirty="0">
                <a:latin typeface="Courier New" panose="02070309020205020404" pitchFamily="49" charset="0"/>
              </a:rPr>
              <a:t> ... ?&gt;</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61000"/>
    </mc:Choice>
    <mc:Fallback xmlns="" xmlns:p15="http://schemas.microsoft.com/office/powerpoint/2012/main">
      <p:transition spd="slow" advTm="61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statements</a:t>
            </a:r>
            <a:endParaRPr lang="en-US" sz="3959" b="0" strike="noStrike" spc="-1">
              <a:solidFill>
                <a:srgbClr val="FFFFFF"/>
              </a:solidFill>
              <a:latin typeface="Arial"/>
            </a:endParaRPr>
          </a:p>
        </p:txBody>
      </p:sp>
      <p:sp>
        <p:nvSpPr>
          <p:cNvPr id="215"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If you know how to code a loop in Java, you know how to do it in PHP!</a:t>
            </a:r>
          </a:p>
          <a:p>
            <a:pPr indent="0">
              <a:lnSpc>
                <a:spcPct val="90000"/>
              </a:lnSpc>
              <a:spcBef>
                <a:spcPts val="337"/>
              </a:spcBef>
              <a:buNone/>
            </a:pPr>
            <a:endParaRPr lang="en-US" sz="2520" b="0" strike="noStrike" spc="-1" dirty="0">
              <a:solidFill>
                <a:srgbClr val="000000"/>
              </a:solidFill>
              <a:latin typeface="Arial"/>
            </a:endParaRPr>
          </a:p>
          <a:p>
            <a:pPr marL="462960" indent="0">
              <a:lnSpc>
                <a:spcPct val="90000"/>
              </a:lnSpc>
              <a:spcBef>
                <a:spcPts val="337"/>
              </a:spcBef>
              <a:buNone/>
              <a:tabLst>
                <a:tab pos="0" algn="l"/>
              </a:tabLst>
            </a:pPr>
            <a:r>
              <a:rPr lang="en-US" sz="2520" b="1" strike="noStrike" spc="-1" dirty="0">
                <a:solidFill>
                  <a:srgbClr val="000000"/>
                </a:solidFill>
                <a:latin typeface="Courier New"/>
              </a:rPr>
              <a:t>for ($</a:t>
            </a:r>
            <a:r>
              <a:rPr lang="en-US" sz="2520" b="1" strike="noStrike" spc="-1" dirty="0" err="1">
                <a:solidFill>
                  <a:srgbClr val="000000"/>
                </a:solidFill>
                <a:latin typeface="Courier New"/>
              </a:rPr>
              <a:t>i</a:t>
            </a:r>
            <a:r>
              <a:rPr lang="en-US" sz="2520" b="1" strike="noStrike" spc="-1" dirty="0">
                <a:solidFill>
                  <a:srgbClr val="000000"/>
                </a:solidFill>
                <a:latin typeface="Courier New"/>
              </a:rPr>
              <a:t>=0; $</a:t>
            </a:r>
            <a:r>
              <a:rPr lang="en-US" sz="2520" b="1" strike="noStrike" spc="-1" dirty="0" err="1">
                <a:solidFill>
                  <a:srgbClr val="000000"/>
                </a:solidFill>
                <a:latin typeface="Courier New"/>
              </a:rPr>
              <a:t>i</a:t>
            </a:r>
            <a:r>
              <a:rPr lang="en-US" sz="2520" b="1" strike="noStrike" spc="-1" dirty="0">
                <a:solidFill>
                  <a:srgbClr val="000000"/>
                </a:solidFill>
                <a:latin typeface="Courier New"/>
              </a:rPr>
              <a:t>&lt;5; $</a:t>
            </a:r>
            <a:r>
              <a:rPr lang="en-US" sz="2520" b="1" strike="noStrike" spc="-1" dirty="0" err="1">
                <a:solidFill>
                  <a:srgbClr val="000000"/>
                </a:solidFill>
                <a:latin typeface="Courier New"/>
              </a:rPr>
              <a:t>i</a:t>
            </a:r>
            <a:r>
              <a:rPr lang="en-US" sz="2520" b="1" strike="noStrike" spc="-1" dirty="0">
                <a:solidFill>
                  <a:srgbClr val="000000"/>
                </a:solidFill>
                <a:latin typeface="Courier New"/>
              </a:rPr>
              <a:t>++)</a:t>
            </a:r>
            <a:endParaRPr lang="en-US" sz="2520" b="0" strike="noStrike" spc="-1" dirty="0">
              <a:solidFill>
                <a:srgbClr val="000000"/>
              </a:solidFill>
              <a:latin typeface="Arial"/>
            </a:endParaRPr>
          </a:p>
          <a:p>
            <a:pPr marL="462960" indent="0">
              <a:lnSpc>
                <a:spcPct val="90000"/>
              </a:lnSpc>
              <a:spcBef>
                <a:spcPts val="337"/>
              </a:spcBef>
              <a:buNone/>
              <a:tabLst>
                <a:tab pos="0" algn="l"/>
              </a:tabLst>
            </a:pPr>
            <a:r>
              <a:rPr lang="en-US" sz="2520" b="1" strike="noStrike" spc="-1" dirty="0">
                <a:solidFill>
                  <a:srgbClr val="000000"/>
                </a:solidFill>
                <a:latin typeface="Courier New"/>
              </a:rPr>
              <a:t>{</a:t>
            </a:r>
            <a:endParaRPr lang="en-US" sz="2520" b="0" strike="noStrike" spc="-1" dirty="0">
              <a:solidFill>
                <a:srgbClr val="000000"/>
              </a:solidFill>
              <a:latin typeface="Arial"/>
            </a:endParaRPr>
          </a:p>
          <a:p>
            <a:pPr marL="462960" indent="0">
              <a:lnSpc>
                <a:spcPct val="90000"/>
              </a:lnSpc>
              <a:spcBef>
                <a:spcPts val="337"/>
              </a:spcBef>
              <a:buNone/>
              <a:tabLst>
                <a:tab pos="0" algn="l"/>
              </a:tabLst>
            </a:pPr>
            <a:r>
              <a:rPr lang="en-US" sz="2520" b="1" strike="noStrike" spc="-1" dirty="0">
                <a:solidFill>
                  <a:srgbClr val="000000"/>
                </a:solidFill>
                <a:latin typeface="Courier New"/>
              </a:rPr>
              <a:t>		/* do this */</a:t>
            </a:r>
            <a:endParaRPr lang="en-US" sz="2520" b="0" strike="noStrike" spc="-1" dirty="0">
              <a:solidFill>
                <a:srgbClr val="000000"/>
              </a:solidFill>
              <a:latin typeface="Arial"/>
            </a:endParaRPr>
          </a:p>
          <a:p>
            <a:pPr marL="462960" indent="0">
              <a:lnSpc>
                <a:spcPct val="90000"/>
              </a:lnSpc>
              <a:spcBef>
                <a:spcPts val="337"/>
              </a:spcBef>
              <a:buNone/>
              <a:tabLst>
                <a:tab pos="0" algn="l"/>
              </a:tabLst>
            </a:pPr>
            <a:r>
              <a:rPr lang="en-US" sz="2520" b="1" strike="noStrike" spc="-1" dirty="0">
                <a:solidFill>
                  <a:srgbClr val="000000"/>
                </a:solidFill>
                <a:latin typeface="Courier New"/>
              </a:rPr>
              <a:t>}</a:t>
            </a:r>
            <a:endParaRPr lang="en-US" sz="252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5000"/>
    </mc:Choice>
    <mc:Fallback xmlns="" xmlns:p15="http://schemas.microsoft.com/office/powerpoint/2012/main">
      <p:transition spd="slow" advTm="15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#5</a:t>
            </a:r>
            <a:endParaRPr lang="en-US" sz="3959" b="0" strike="noStrike" spc="-1">
              <a:solidFill>
                <a:srgbClr val="FFFFFF"/>
              </a:solidFill>
              <a:latin typeface="Arial"/>
            </a:endParaRPr>
          </a:p>
        </p:txBody>
      </p:sp>
      <p:sp>
        <p:nvSpPr>
          <p:cNvPr id="217"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Add a </a:t>
            </a:r>
            <a:r>
              <a:rPr lang="en-US" sz="2880" b="1" strike="noStrike" spc="-1" dirty="0">
                <a:solidFill>
                  <a:srgbClr val="000000"/>
                </a:solidFill>
                <a:latin typeface="Arial"/>
              </a:rPr>
              <a:t>for</a:t>
            </a:r>
            <a:r>
              <a:rPr lang="en-US" sz="2880" b="0" strike="noStrike" spc="-1" dirty="0">
                <a:solidFill>
                  <a:srgbClr val="000000"/>
                </a:solidFill>
                <a:latin typeface="Arial"/>
              </a:rPr>
              <a:t> loop to your "hello world" example that prints “hello world” a random number of times.</a:t>
            </a:r>
          </a:p>
        </p:txBody>
      </p:sp>
      <p:sp>
        <p:nvSpPr>
          <p:cNvPr id="3" name="TextBox 2">
            <a:extLst>
              <a:ext uri="{FF2B5EF4-FFF2-40B4-BE49-F238E27FC236}">
                <a16:creationId xmlns:a16="http://schemas.microsoft.com/office/drawing/2014/main" id="{BC11FF9D-432A-0F62-C82B-A5D2895DB025}"/>
              </a:ext>
            </a:extLst>
          </p:cNvPr>
          <p:cNvSpPr txBox="1"/>
          <p:nvPr/>
        </p:nvSpPr>
        <p:spPr>
          <a:xfrm>
            <a:off x="1366685" y="2892479"/>
            <a:ext cx="6096000" cy="3139321"/>
          </a:xfrm>
          <a:prstGeom prst="rect">
            <a:avLst/>
          </a:prstGeom>
          <a:noFill/>
        </p:spPr>
        <p:txBody>
          <a:bodyPr wrap="square">
            <a:spAutoFit/>
          </a:bodyPr>
          <a:lstStyle/>
          <a:p>
            <a:r>
              <a:rPr lang="en-US" dirty="0"/>
              <a:t>&lt;?</a:t>
            </a:r>
            <a:r>
              <a:rPr lang="en-US" dirty="0" err="1"/>
              <a:t>php</a:t>
            </a:r>
            <a:endParaRPr lang="en-US" dirty="0"/>
          </a:p>
          <a:p>
            <a:r>
              <a:rPr lang="en-US" dirty="0"/>
              <a:t># Pick a random number between 1 and 10</a:t>
            </a:r>
          </a:p>
          <a:p>
            <a:r>
              <a:rPr lang="en-US" dirty="0"/>
              <a:t>$times = rand(1, 10);</a:t>
            </a:r>
          </a:p>
          <a:p>
            <a:endParaRPr lang="en-US" dirty="0"/>
          </a:p>
          <a:p>
            <a:r>
              <a:rPr lang="en-US" dirty="0"/>
              <a:t># Loop and print "Hello world" that many times</a:t>
            </a:r>
          </a:p>
          <a:p>
            <a:r>
              <a:rPr lang="en-US" dirty="0"/>
              <a:t>for ($</a:t>
            </a:r>
            <a:r>
              <a:rPr lang="en-US" dirty="0" err="1"/>
              <a:t>i</a:t>
            </a:r>
            <a:r>
              <a:rPr lang="en-US" dirty="0"/>
              <a:t> = 0; $</a:t>
            </a:r>
            <a:r>
              <a:rPr lang="en-US" dirty="0" err="1"/>
              <a:t>i</a:t>
            </a:r>
            <a:r>
              <a:rPr lang="en-US" dirty="0"/>
              <a:t> &lt; $times; $</a:t>
            </a:r>
            <a:r>
              <a:rPr lang="en-US" dirty="0" err="1"/>
              <a:t>i</a:t>
            </a:r>
            <a:r>
              <a:rPr lang="en-US" dirty="0"/>
              <a:t>++) {</a:t>
            </a:r>
          </a:p>
          <a:p>
            <a:r>
              <a:rPr lang="en-US" dirty="0"/>
              <a:t>    echo "Hello world!&lt;</a:t>
            </a:r>
            <a:r>
              <a:rPr lang="en-US" dirty="0" err="1"/>
              <a:t>br</a:t>
            </a:r>
            <a:r>
              <a:rPr lang="en-US" dirty="0"/>
              <a:t>&gt;";</a:t>
            </a:r>
          </a:p>
          <a:p>
            <a:r>
              <a:rPr lang="en-US" dirty="0"/>
              <a:t>}</a:t>
            </a:r>
          </a:p>
          <a:p>
            <a:endParaRPr lang="en-US" dirty="0"/>
          </a:p>
          <a:p>
            <a:r>
              <a:rPr lang="en-US" dirty="0"/>
              <a:t>echo "&lt;p&gt;Printed $times times.&lt;/p&gt;";</a:t>
            </a:r>
          </a:p>
          <a:p>
            <a:r>
              <a:rPr lang="en-US" dirty="0"/>
              <a:t>?&gt;</a:t>
            </a:r>
          </a:p>
        </p:txBody>
      </p:sp>
    </p:spTree>
  </p:cSld>
  <p:clrMapOvr>
    <a:masterClrMapping/>
  </p:clrMapOvr>
  <mc:AlternateContent xmlns:mc="http://schemas.openxmlformats.org/markup-compatibility/2006" xmlns:p14="http://schemas.microsoft.com/office/powerpoint/2010/main">
    <mc:Choice Requires="p14">
      <p:transition spd="slow" p14:dur="2000" advTm="14000"/>
    </mc:Choice>
    <mc:Fallback xmlns="" xmlns:p15="http://schemas.microsoft.com/office/powerpoint/2012/main">
      <p:transition spd="slow" advTm="14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Variables</a:t>
            </a:r>
            <a:endParaRPr lang="en-US" sz="3959" b="0" strike="noStrike" spc="-1">
              <a:solidFill>
                <a:srgbClr val="FFFFFF"/>
              </a:solidFill>
              <a:latin typeface="Arial"/>
            </a:endParaRPr>
          </a:p>
        </p:txBody>
      </p:sp>
      <p:sp>
        <p:nvSpPr>
          <p:cNvPr id="219" name="PlaceHolder 2"/>
          <p:cNvSpPr>
            <a:spLocks noGrp="1"/>
          </p:cNvSpPr>
          <p:nvPr>
            <p:ph type="sldNum" idx="11"/>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2B790E66-24AC-4DF3-97AF-B763378B7983}" type="slidenum">
              <a:rPr lang="en-US" sz="810" b="0" strike="noStrike" spc="-1">
                <a:solidFill>
                  <a:srgbClr val="D9D9D9"/>
                </a:solidFill>
                <a:latin typeface="Arial"/>
              </a:rPr>
              <a:t>27</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5000"/>
    </mc:Choice>
    <mc:Fallback xmlns="" xmlns:p15="http://schemas.microsoft.com/office/powerpoint/2012/main">
      <p:transition spd="slow" advTm="5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Identifiers in PHP</a:t>
            </a:r>
            <a:endParaRPr lang="en-US" sz="3959" b="0" strike="noStrike" spc="-1">
              <a:solidFill>
                <a:srgbClr val="FFFFFF"/>
              </a:solidFill>
              <a:latin typeface="Arial"/>
            </a:endParaRPr>
          </a:p>
        </p:txBody>
      </p:sp>
      <p:sp>
        <p:nvSpPr>
          <p:cNvPr id="221"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Identifiers in PHP can begin with a letter or an underscore</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Any length</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Consist of letters, numbers, underscores and other ASCII characters from 127 through 255</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Case sensitive</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Cannot use any of PHP keywords</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Example:</a:t>
            </a:r>
          </a:p>
          <a:p>
            <a:pPr marL="462960" indent="0">
              <a:lnSpc>
                <a:spcPct val="90000"/>
              </a:lnSpc>
              <a:spcBef>
                <a:spcPts val="337"/>
              </a:spcBef>
              <a:buNone/>
              <a:tabLst>
                <a:tab pos="0" algn="l"/>
              </a:tabLst>
            </a:pPr>
            <a:r>
              <a:rPr lang="en-US" sz="2000" b="1" strike="noStrike" spc="-1" dirty="0">
                <a:solidFill>
                  <a:srgbClr val="000000"/>
                </a:solidFill>
                <a:latin typeface="Courier New"/>
              </a:rPr>
              <a:t>$some_Var6 = "a value";</a:t>
            </a:r>
            <a:endParaRPr lang="en-US" sz="2000" b="0" strike="noStrike" spc="-1" dirty="0">
              <a:solidFill>
                <a:srgbClr val="000000"/>
              </a:solidFill>
              <a:latin typeface="Arial"/>
            </a:endParaRPr>
          </a:p>
        </p:txBody>
      </p:sp>
      <p:sp>
        <p:nvSpPr>
          <p:cNvPr id="222" name="PlaceHolder 3"/>
          <p:cNvSpPr>
            <a:spLocks noGrp="1"/>
          </p:cNvSpPr>
          <p:nvPr>
            <p:ph type="sldNum" idx="12"/>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82BD98D5-3249-4D29-B3D0-735E510E7B57}" type="slidenum">
              <a:rPr lang="en-US" sz="810" b="0" strike="noStrike" spc="-1">
                <a:solidFill>
                  <a:srgbClr val="D9D9D9"/>
                </a:solidFill>
                <a:latin typeface="Arial"/>
              </a:rPr>
              <a:t>28</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8000"/>
    </mc:Choice>
    <mc:Fallback xmlns="" xmlns:p15="http://schemas.microsoft.com/office/powerpoint/2012/main">
      <p:transition spd="slow" advTm="8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Variables (continued)</a:t>
            </a:r>
            <a:endParaRPr lang="en-US" sz="3959" b="0" strike="noStrike" spc="-1">
              <a:solidFill>
                <a:srgbClr val="FFFFFF"/>
              </a:solidFill>
              <a:latin typeface="Arial"/>
            </a:endParaRPr>
          </a:p>
        </p:txBody>
      </p:sp>
      <p:sp>
        <p:nvSpPr>
          <p:cNvPr id="224"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PHP variable names are preceded by a dollar (</a:t>
            </a:r>
            <a:r>
              <a:rPr lang="en-US" sz="2400" b="1" strike="noStrike" spc="-1" dirty="0">
                <a:solidFill>
                  <a:srgbClr val="000000"/>
                </a:solidFill>
                <a:latin typeface="Arial"/>
              </a:rPr>
              <a:t>$</a:t>
            </a:r>
            <a:r>
              <a:rPr lang="en-US" sz="2400" b="0" strike="noStrike" spc="-1" dirty="0">
                <a:solidFill>
                  <a:srgbClr val="000000"/>
                </a:solidFill>
                <a:latin typeface="Arial"/>
              </a:rPr>
              <a:t>) sign.</a:t>
            </a:r>
          </a:p>
          <a:p>
            <a:pPr indent="0">
              <a:lnSpc>
                <a:spcPct val="90000"/>
              </a:lnSpc>
              <a:spcBef>
                <a:spcPts val="337"/>
              </a:spcBef>
              <a:buNone/>
            </a:pPr>
            <a:endParaRPr lang="en-US" sz="18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$test = "Joe";</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print "hi there $test";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print 'hi there '.$test;</a:t>
            </a:r>
            <a:endParaRPr lang="en-US" sz="2000" b="0" strike="noStrike" spc="-1" dirty="0">
              <a:solidFill>
                <a:srgbClr val="000000"/>
              </a:solidFill>
              <a:latin typeface="Arial"/>
            </a:endParaRPr>
          </a:p>
          <a:p>
            <a:pPr indent="0">
              <a:lnSpc>
                <a:spcPct val="90000"/>
              </a:lnSpc>
              <a:spcBef>
                <a:spcPts val="337"/>
              </a:spcBef>
              <a:buNone/>
              <a:tabLst>
                <a:tab pos="0" algn="l"/>
              </a:tabLst>
            </a:pPr>
            <a:endParaRPr lang="en-US" sz="2000" b="0" strike="noStrike" spc="-1" dirty="0">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400" b="0" strike="noStrike" spc="-1" dirty="0">
                <a:solidFill>
                  <a:srgbClr val="000000"/>
                </a:solidFill>
                <a:latin typeface="Arial"/>
              </a:rPr>
              <a:t>Note how you add strings together in PHP: use a </a:t>
            </a:r>
            <a:r>
              <a:rPr lang="en-US" sz="2400" b="1" strike="noStrike" spc="-1" dirty="0">
                <a:solidFill>
                  <a:srgbClr val="000000"/>
                </a:solidFill>
                <a:latin typeface="Arial"/>
              </a:rPr>
              <a:t>.</a:t>
            </a:r>
            <a:r>
              <a:rPr lang="en-US" sz="2400" b="0" strike="noStrike" spc="-1" dirty="0">
                <a:solidFill>
                  <a:srgbClr val="000000"/>
                </a:solidFill>
                <a:latin typeface="Arial"/>
              </a:rPr>
              <a:t> (dot) NOT a plus sign</a:t>
            </a:r>
          </a:p>
        </p:txBody>
      </p:sp>
      <p:sp>
        <p:nvSpPr>
          <p:cNvPr id="225" name="PlaceHolder 3"/>
          <p:cNvSpPr>
            <a:spLocks noGrp="1"/>
          </p:cNvSpPr>
          <p:nvPr>
            <p:ph type="sldNum" idx="13"/>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F861D151-2742-496D-8632-24B468A7EEA9}" type="slidenum">
              <a:rPr lang="en-US" sz="810" b="0" strike="noStrike" spc="-1">
                <a:solidFill>
                  <a:srgbClr val="D9D9D9"/>
                </a:solidFill>
                <a:latin typeface="Arial"/>
              </a:rPr>
              <a:t>29</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66000"/>
    </mc:Choice>
    <mc:Fallback xmlns="" xmlns:p15="http://schemas.microsoft.com/office/powerpoint/2012/main">
      <p:transition spd="slow" advTm="66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#6</a:t>
            </a:r>
            <a:endParaRPr lang="en-US" sz="3959" b="0" strike="noStrike" spc="-1">
              <a:solidFill>
                <a:srgbClr val="FFFFFF"/>
              </a:solidFill>
              <a:latin typeface="Arial"/>
            </a:endParaRPr>
          </a:p>
        </p:txBody>
      </p:sp>
      <p:sp>
        <p:nvSpPr>
          <p:cNvPr id="227" name="PlaceHolder 2"/>
          <p:cNvSpPr>
            <a:spLocks noGrp="1"/>
          </p:cNvSpPr>
          <p:nvPr>
            <p:ph/>
          </p:nvPr>
        </p:nvSpPr>
        <p:spPr>
          <a:xfrm>
            <a:off x="1119960" y="1393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Create two variables, </a:t>
            </a:r>
            <a:r>
              <a:rPr lang="en-US" sz="2880" b="1" strike="noStrike" spc="-1" dirty="0">
                <a:solidFill>
                  <a:srgbClr val="000000"/>
                </a:solidFill>
                <a:latin typeface="Arial"/>
              </a:rPr>
              <a:t>$x</a:t>
            </a:r>
            <a:r>
              <a:rPr lang="en-US" sz="2880" b="0" strike="noStrike" spc="-1" dirty="0">
                <a:solidFill>
                  <a:srgbClr val="000000"/>
                </a:solidFill>
                <a:latin typeface="Arial"/>
              </a:rPr>
              <a:t> and </a:t>
            </a:r>
            <a:r>
              <a:rPr lang="en-US" sz="2880" b="1" strike="noStrike" spc="-1" dirty="0">
                <a:solidFill>
                  <a:srgbClr val="000000"/>
                </a:solidFill>
                <a:latin typeface="Arial"/>
              </a:rPr>
              <a:t>$y</a:t>
            </a: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Assign numbers to them</a:t>
            </a: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Add the two numbers together and save the result in </a:t>
            </a:r>
            <a:r>
              <a:rPr lang="en-US" sz="2880" b="1" strike="noStrike" spc="-1" dirty="0">
                <a:solidFill>
                  <a:srgbClr val="000000"/>
                </a:solidFill>
                <a:latin typeface="Arial"/>
              </a:rPr>
              <a:t>$z</a:t>
            </a: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Print the result</a:t>
            </a:r>
          </a:p>
          <a:p>
            <a:pPr marL="154440" indent="-154440">
              <a:lnSpc>
                <a:spcPct val="90000"/>
              </a:lnSpc>
              <a:spcBef>
                <a:spcPts val="675"/>
              </a:spcBef>
              <a:buClr>
                <a:srgbClr val="000000"/>
              </a:buClr>
              <a:buFont typeface="Arial"/>
              <a:buChar char="•"/>
            </a:pPr>
            <a:endParaRPr lang="en-US" sz="2880" spc="-1" dirty="0">
              <a:solidFill>
                <a:srgbClr val="000000"/>
              </a:solidFill>
              <a:latin typeface="Arial"/>
            </a:endParaRPr>
          </a:p>
          <a:p>
            <a:pPr marL="0" indent="0">
              <a:lnSpc>
                <a:spcPct val="90000"/>
              </a:lnSpc>
              <a:spcBef>
                <a:spcPts val="675"/>
              </a:spcBef>
              <a:buClr>
                <a:srgbClr val="000000"/>
              </a:buClr>
              <a:buNone/>
            </a:pPr>
            <a:r>
              <a:rPr lang="en-US" sz="2000" dirty="0"/>
              <a:t>&lt;?</a:t>
            </a:r>
            <a:r>
              <a:rPr lang="en-US" sz="2000" dirty="0" err="1"/>
              <a:t>php</a:t>
            </a:r>
            <a:r>
              <a:rPr lang="en-US" sz="2000" dirty="0"/>
              <a:t> </a:t>
            </a:r>
          </a:p>
          <a:p>
            <a:pPr marL="0" indent="0">
              <a:lnSpc>
                <a:spcPct val="90000"/>
              </a:lnSpc>
              <a:spcBef>
                <a:spcPts val="675"/>
              </a:spcBef>
              <a:buClr>
                <a:srgbClr val="000000"/>
              </a:buClr>
              <a:buNone/>
            </a:pPr>
            <a:r>
              <a:rPr lang="en-US" sz="2000" dirty="0"/>
              <a:t>$x = 5; </a:t>
            </a:r>
          </a:p>
          <a:p>
            <a:pPr marL="0" indent="0">
              <a:lnSpc>
                <a:spcPct val="90000"/>
              </a:lnSpc>
              <a:spcBef>
                <a:spcPts val="675"/>
              </a:spcBef>
              <a:buClr>
                <a:srgbClr val="000000"/>
              </a:buClr>
              <a:buNone/>
            </a:pPr>
            <a:r>
              <a:rPr lang="en-US" sz="2000" dirty="0"/>
              <a:t>$y = 10; </a:t>
            </a:r>
          </a:p>
          <a:p>
            <a:pPr marL="0" indent="0">
              <a:lnSpc>
                <a:spcPct val="90000"/>
              </a:lnSpc>
              <a:spcBef>
                <a:spcPts val="675"/>
              </a:spcBef>
              <a:buClr>
                <a:srgbClr val="000000"/>
              </a:buClr>
              <a:buNone/>
            </a:pPr>
            <a:r>
              <a:rPr lang="en-US" sz="2000" dirty="0"/>
              <a:t>$z = $x + $y;</a:t>
            </a:r>
          </a:p>
          <a:p>
            <a:pPr marL="0" indent="0">
              <a:lnSpc>
                <a:spcPct val="90000"/>
              </a:lnSpc>
              <a:spcBef>
                <a:spcPts val="675"/>
              </a:spcBef>
              <a:buClr>
                <a:srgbClr val="000000"/>
              </a:buClr>
              <a:buNone/>
            </a:pPr>
            <a:r>
              <a:rPr lang="en-US" sz="2000" dirty="0"/>
              <a:t>echo "The result of adding $x and $y is: " . $z;</a:t>
            </a:r>
          </a:p>
          <a:p>
            <a:pPr marL="0" indent="0">
              <a:lnSpc>
                <a:spcPct val="90000"/>
              </a:lnSpc>
              <a:spcBef>
                <a:spcPts val="675"/>
              </a:spcBef>
              <a:buClr>
                <a:srgbClr val="000000"/>
              </a:buClr>
              <a:buNone/>
            </a:pPr>
            <a:r>
              <a:rPr lang="en-US" sz="2000" dirty="0"/>
              <a:t>?&gt;</a:t>
            </a: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endParaRPr lang="en-US" sz="2880" b="0" strike="noStrike" spc="-1" dirty="0">
              <a:solidFill>
                <a:srgbClr val="000000"/>
              </a:solidFill>
              <a:latin typeface="Arial"/>
            </a:endParaRPr>
          </a:p>
        </p:txBody>
      </p:sp>
      <p:sp>
        <p:nvSpPr>
          <p:cNvPr id="228" name="PlaceHolder 3"/>
          <p:cNvSpPr>
            <a:spLocks noGrp="1"/>
          </p:cNvSpPr>
          <p:nvPr>
            <p:ph type="sldNum" idx="14"/>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E82C1816-5B83-453C-B0BB-C96649AD1244}" type="slidenum">
              <a:rPr lang="en-US" sz="810" b="0" strike="noStrike" spc="-1">
                <a:solidFill>
                  <a:srgbClr val="D9D9D9"/>
                </a:solidFill>
                <a:latin typeface="Arial"/>
              </a:rPr>
              <a:t>30</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4000"/>
    </mc:Choice>
    <mc:Fallback xmlns="" xmlns:p15="http://schemas.microsoft.com/office/powerpoint/2012/main">
      <p:transition spd="slow" advTm="14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6F6F6F"/>
                </a:solidFill>
                <a:latin typeface="Arial"/>
              </a:rPr>
              <a:t>Substitution Shortcut</a:t>
            </a:r>
            <a:endParaRPr lang="en-US" sz="3959" b="0" strike="noStrike" spc="-1">
              <a:solidFill>
                <a:srgbClr val="FFFFFF"/>
              </a:solidFill>
              <a:latin typeface="Arial"/>
            </a:endParaRPr>
          </a:p>
        </p:txBody>
      </p:sp>
      <p:sp>
        <p:nvSpPr>
          <p:cNvPr id="230"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CA" sz="2880" b="0" strike="noStrike" spc="-1" dirty="0">
                <a:solidFill>
                  <a:srgbClr val="000000"/>
                </a:solidFill>
                <a:latin typeface="Arial"/>
              </a:rPr>
              <a:t>Instead of </a:t>
            </a:r>
            <a:r>
              <a:rPr lang="en-CA" sz="2880" b="1" strike="noStrike" spc="-1" dirty="0">
                <a:solidFill>
                  <a:srgbClr val="000000"/>
                </a:solidFill>
                <a:latin typeface="Arial"/>
              </a:rPr>
              <a:t>&lt;?</a:t>
            </a:r>
            <a:r>
              <a:rPr lang="en-CA" sz="2880" b="1" strike="noStrike" spc="-1" dirty="0" err="1">
                <a:solidFill>
                  <a:srgbClr val="000000"/>
                </a:solidFill>
                <a:latin typeface="Arial"/>
              </a:rPr>
              <a:t>php</a:t>
            </a:r>
            <a:r>
              <a:rPr lang="en-CA" sz="2880" b="1" strike="noStrike" spc="-1" dirty="0">
                <a:solidFill>
                  <a:srgbClr val="000000"/>
                </a:solidFill>
                <a:latin typeface="Arial"/>
              </a:rPr>
              <a:t> echo $x; ?&gt;</a:t>
            </a: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CA" sz="2880" b="0" strike="noStrike" spc="-1" dirty="0">
                <a:solidFill>
                  <a:srgbClr val="000000"/>
                </a:solidFill>
                <a:latin typeface="Arial"/>
              </a:rPr>
              <a:t>If short tags are enabled in php.ini, you could use </a:t>
            </a:r>
            <a:r>
              <a:rPr lang="en-CA" sz="2880" b="1" strike="noStrike" spc="-1" dirty="0">
                <a:solidFill>
                  <a:srgbClr val="000000"/>
                </a:solidFill>
                <a:latin typeface="Arial"/>
              </a:rPr>
              <a:t>&lt;?= $x ?&gt;</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CA" sz="2880" b="0" strike="noStrike" spc="-1" dirty="0">
                <a:solidFill>
                  <a:srgbClr val="000000"/>
                </a:solidFill>
                <a:latin typeface="Arial"/>
              </a:rPr>
              <a:t>This is particularly useful when you need to insert a lot of values into a web page</a:t>
            </a:r>
            <a:endParaRPr lang="en-US" sz="2880" b="0" strike="noStrike" spc="-1" dirty="0">
              <a:solidFill>
                <a:srgbClr val="000000"/>
              </a:solidFill>
              <a:latin typeface="Arial"/>
            </a:endParaRPr>
          </a:p>
          <a:p>
            <a:pPr marL="154440" indent="0">
              <a:lnSpc>
                <a:spcPct val="90000"/>
              </a:lnSpc>
              <a:spcBef>
                <a:spcPts val="675"/>
              </a:spcBef>
              <a:buNone/>
              <a:tabLst>
                <a:tab pos="0" algn="l"/>
              </a:tabLst>
            </a:pPr>
            <a:r>
              <a:rPr lang="en-CA" sz="1800" b="1" strike="noStrike" spc="-1" dirty="0">
                <a:solidFill>
                  <a:srgbClr val="000000"/>
                </a:solidFill>
                <a:latin typeface="Courier New"/>
              </a:rPr>
              <a:t>&lt;input type='text' name='user' value='&lt;?= $user ?&gt;'&gt;</a:t>
            </a:r>
            <a:endParaRPr lang="en-US" sz="1800" b="0" strike="noStrike" spc="-1" dirty="0">
              <a:solidFill>
                <a:srgbClr val="000000"/>
              </a:solidFill>
              <a:latin typeface="Arial"/>
            </a:endParaRPr>
          </a:p>
        </p:txBody>
      </p:sp>
      <p:sp>
        <p:nvSpPr>
          <p:cNvPr id="231" name="PlaceHolder 3"/>
          <p:cNvSpPr>
            <a:spLocks noGrp="1"/>
          </p:cNvSpPr>
          <p:nvPr>
            <p:ph type="sldNum" idx="15"/>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3AFDF18C-6651-4883-9000-CF631C01A1EE}" type="slidenum">
              <a:rPr lang="en-US" sz="810" b="0" strike="noStrike" spc="-1">
                <a:solidFill>
                  <a:srgbClr val="D9D9D9"/>
                </a:solidFill>
                <a:latin typeface="Arial"/>
              </a:rPr>
              <a:t>31</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1000"/>
    </mc:Choice>
    <mc:Fallback xmlns="" xmlns:p15="http://schemas.microsoft.com/office/powerpoint/2012/main">
      <p:transition spd="slow" advTm="21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#7</a:t>
            </a:r>
            <a:endParaRPr lang="en-US" sz="3959" b="0" strike="noStrike" spc="-1">
              <a:solidFill>
                <a:srgbClr val="FFFFFF"/>
              </a:solidFill>
              <a:latin typeface="Arial"/>
            </a:endParaRPr>
          </a:p>
        </p:txBody>
      </p:sp>
      <p:sp>
        <p:nvSpPr>
          <p:cNvPr id="233"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Test to see if the value of $z is 15</a:t>
            </a:r>
          </a:p>
        </p:txBody>
      </p:sp>
      <p:sp>
        <p:nvSpPr>
          <p:cNvPr id="234" name="PlaceHolder 3"/>
          <p:cNvSpPr>
            <a:spLocks noGrp="1"/>
          </p:cNvSpPr>
          <p:nvPr>
            <p:ph type="sldNum" idx="16"/>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E5908CD0-5196-4438-8F5C-F8495A1F1C25}" type="slidenum">
              <a:rPr lang="en-US" sz="810" b="0" strike="noStrike" spc="-1">
                <a:solidFill>
                  <a:srgbClr val="D9D9D9"/>
                </a:solidFill>
                <a:latin typeface="Arial"/>
              </a:rPr>
              <a:t>32</a:t>
            </a:fld>
            <a:endParaRPr lang="en-US" sz="810" b="0" strike="noStrike" spc="-1">
              <a:solidFill>
                <a:srgbClr val="000000"/>
              </a:solidFill>
              <a:latin typeface="Times New Roman"/>
            </a:endParaRPr>
          </a:p>
        </p:txBody>
      </p:sp>
      <p:sp>
        <p:nvSpPr>
          <p:cNvPr id="5" name="TextBox 4">
            <a:extLst>
              <a:ext uri="{FF2B5EF4-FFF2-40B4-BE49-F238E27FC236}">
                <a16:creationId xmlns:a16="http://schemas.microsoft.com/office/drawing/2014/main" id="{804BF589-1875-60F8-6283-016A540095C0}"/>
              </a:ext>
            </a:extLst>
          </p:cNvPr>
          <p:cNvSpPr txBox="1"/>
          <p:nvPr/>
        </p:nvSpPr>
        <p:spPr>
          <a:xfrm>
            <a:off x="1366683" y="2731276"/>
            <a:ext cx="7826477" cy="1754326"/>
          </a:xfrm>
          <a:prstGeom prst="rect">
            <a:avLst/>
          </a:prstGeom>
          <a:noFill/>
        </p:spPr>
        <p:txBody>
          <a:bodyPr wrap="square">
            <a:spAutoFit/>
          </a:bodyPr>
          <a:lstStyle/>
          <a:p>
            <a:endParaRPr lang="en-US" dirty="0"/>
          </a:p>
          <a:p>
            <a:r>
              <a:rPr lang="en-US" dirty="0"/>
              <a:t>if ($z == 15) {</a:t>
            </a:r>
          </a:p>
          <a:p>
            <a:r>
              <a:rPr lang="en-US" dirty="0"/>
              <a:t>    echo "Yes, the value of \$z is 15.";</a:t>
            </a:r>
          </a:p>
          <a:p>
            <a:r>
              <a:rPr lang="en-US" dirty="0"/>
              <a:t>} else {</a:t>
            </a:r>
          </a:p>
          <a:p>
            <a:r>
              <a:rPr lang="en-US" dirty="0"/>
              <a:t>    echo "No, the value of \$z is not 15.";</a:t>
            </a:r>
          </a:p>
          <a:p>
            <a:r>
              <a:rPr lang="en-US" dirty="0"/>
              <a:t>}</a:t>
            </a:r>
          </a:p>
        </p:txBody>
      </p:sp>
    </p:spTree>
  </p:cSld>
  <p:clrMapOvr>
    <a:masterClrMapping/>
  </p:clrMapOvr>
  <mc:AlternateContent xmlns:mc="http://schemas.openxmlformats.org/markup-compatibility/2006" xmlns:p14="http://schemas.microsoft.com/office/powerpoint/2010/main">
    <mc:Choice Requires="p14">
      <p:transition spd="slow" p14:dur="2000" advTm="7000"/>
    </mc:Choice>
    <mc:Fallback xmlns="" xmlns:p15="http://schemas.microsoft.com/office/powerpoint/2012/main">
      <p:transition spd="slow" advTm="7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dirty="0">
                <a:solidFill>
                  <a:srgbClr val="6F6F6F"/>
                </a:solidFill>
                <a:latin typeface="Arial"/>
              </a:rPr>
              <a:t>Let's Code #8</a:t>
            </a:r>
            <a:endParaRPr lang="en-US" sz="3959" b="0" strike="noStrike" spc="-1" dirty="0">
              <a:solidFill>
                <a:srgbClr val="FFFFFF"/>
              </a:solidFill>
              <a:latin typeface="Arial"/>
            </a:endParaRPr>
          </a:p>
        </p:txBody>
      </p:sp>
      <p:sp>
        <p:nvSpPr>
          <p:cNvPr id="236"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Print out the value of this expression:</a:t>
            </a:r>
          </a:p>
          <a:p>
            <a:pPr indent="0">
              <a:lnSpc>
                <a:spcPct val="90000"/>
              </a:lnSpc>
              <a:spcBef>
                <a:spcPts val="675"/>
              </a:spcBef>
              <a:buNone/>
            </a:pPr>
            <a:endParaRPr lang="en-US" sz="2880" b="0" strike="noStrike" spc="-1" dirty="0">
              <a:solidFill>
                <a:srgbClr val="000000"/>
              </a:solidFill>
              <a:latin typeface="Arial"/>
            </a:endParaRPr>
          </a:p>
          <a:p>
            <a:pPr marL="154440" indent="0">
              <a:lnSpc>
                <a:spcPct val="90000"/>
              </a:lnSpc>
              <a:spcBef>
                <a:spcPts val="675"/>
              </a:spcBef>
              <a:buNone/>
              <a:tabLst>
                <a:tab pos="0" algn="l"/>
              </a:tabLst>
            </a:pPr>
            <a:r>
              <a:rPr lang="en-US" sz="2880" b="0" strike="noStrike" spc="-1" dirty="0">
                <a:solidFill>
                  <a:srgbClr val="000000"/>
                </a:solidFill>
                <a:latin typeface="Arial"/>
              </a:rPr>
              <a:t>	</a:t>
            </a:r>
            <a:r>
              <a:rPr lang="en-US" sz="2880" b="1" strike="noStrike" spc="-1" dirty="0">
                <a:solidFill>
                  <a:srgbClr val="000000"/>
                </a:solidFill>
                <a:latin typeface="Courier New"/>
              </a:rPr>
              <a:t>2 + 2 * "nonsense" + TRUE</a:t>
            </a:r>
            <a:endParaRPr lang="en-US" sz="2880" b="0" strike="noStrike" spc="-1" dirty="0">
              <a:solidFill>
                <a:srgbClr val="000000"/>
              </a:solidFill>
              <a:latin typeface="Arial"/>
            </a:endParaRPr>
          </a:p>
          <a:p>
            <a:pPr indent="0">
              <a:lnSpc>
                <a:spcPct val="90000"/>
              </a:lnSpc>
              <a:spcBef>
                <a:spcPts val="675"/>
              </a:spcBef>
              <a:buNone/>
              <a:tabLst>
                <a:tab pos="0" algn="l"/>
              </a:tabLst>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880" b="0" strike="noStrike" spc="-1" dirty="0">
                <a:solidFill>
                  <a:srgbClr val="000000"/>
                </a:solidFill>
                <a:latin typeface="Arial"/>
              </a:rPr>
              <a:t>Why is this valid syntax?</a:t>
            </a:r>
          </a:p>
          <a:p>
            <a:pPr marL="154440" indent="-154440">
              <a:lnSpc>
                <a:spcPct val="90000"/>
              </a:lnSpc>
              <a:spcBef>
                <a:spcPts val="675"/>
              </a:spcBef>
              <a:buClr>
                <a:srgbClr val="000000"/>
              </a:buClr>
              <a:buFont typeface="Arial"/>
              <a:buChar char="•"/>
              <a:tabLst>
                <a:tab pos="0" algn="l"/>
              </a:tabLst>
            </a:pPr>
            <a:r>
              <a:rPr lang="en-US" sz="2880" b="0" strike="noStrike" spc="-1" dirty="0">
                <a:solidFill>
                  <a:srgbClr val="000000"/>
                </a:solidFill>
                <a:latin typeface="Arial"/>
              </a:rPr>
              <a:t>What is the answer?  Can you figure out why?</a:t>
            </a:r>
          </a:p>
          <a:p>
            <a:pPr marL="154440" indent="-154440">
              <a:lnSpc>
                <a:spcPct val="90000"/>
              </a:lnSpc>
              <a:spcBef>
                <a:spcPts val="675"/>
              </a:spcBef>
              <a:buClr>
                <a:srgbClr val="000000"/>
              </a:buClr>
              <a:buFont typeface="Arial"/>
              <a:buChar char="•"/>
              <a:tabLst>
                <a:tab pos="0" algn="l"/>
              </a:tabLst>
            </a:pPr>
            <a:r>
              <a:rPr lang="en-US" sz="2880" b="0" strike="noStrike" spc="-1" dirty="0">
                <a:solidFill>
                  <a:srgbClr val="000000"/>
                </a:solidFill>
                <a:latin typeface="Arial"/>
              </a:rPr>
              <a:t>Does this present a security problem?</a:t>
            </a:r>
          </a:p>
        </p:txBody>
      </p:sp>
      <p:sp>
        <p:nvSpPr>
          <p:cNvPr id="237" name="PlaceHolder 3"/>
          <p:cNvSpPr>
            <a:spLocks noGrp="1"/>
          </p:cNvSpPr>
          <p:nvPr>
            <p:ph type="sldNum" idx="17"/>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179043D7-7341-48E9-A5CD-5014BEAE4DAE}" type="slidenum">
              <a:rPr lang="en-US" sz="810" b="0" strike="noStrike" spc="-1">
                <a:solidFill>
                  <a:srgbClr val="D9D9D9"/>
                </a:solidFill>
                <a:latin typeface="Arial"/>
              </a:rPr>
              <a:t>33</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5000"/>
    </mc:Choice>
    <mc:Fallback xmlns="" xmlns:p15="http://schemas.microsoft.com/office/powerpoint/2012/main">
      <p:transition spd="slow" advTm="15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569DF01-6E96-493C-18DD-D02D7C2100EB}"/>
              </a:ext>
            </a:extLst>
          </p:cNvPr>
          <p:cNvSpPr>
            <a:spLocks noGrp="1"/>
          </p:cNvSpPr>
          <p:nvPr>
            <p:ph type="subTitle"/>
          </p:nvPr>
        </p:nvSpPr>
        <p:spPr>
          <a:xfrm>
            <a:off x="1090464" y="1009483"/>
            <a:ext cx="10233360" cy="5125846"/>
          </a:xfrm>
        </p:spPr>
        <p:txBody>
          <a:bodyPr/>
          <a:lstStyle/>
          <a:p>
            <a:r>
              <a:rPr lang="en-US" sz="1800" dirty="0"/>
              <a:t>$result = 2 + 2 * "nonsense" + true;</a:t>
            </a:r>
          </a:p>
          <a:p>
            <a:r>
              <a:rPr lang="en-US" sz="1800" dirty="0"/>
              <a:t>// * has higher precedence than +</a:t>
            </a:r>
          </a:p>
          <a:p>
            <a:endParaRPr lang="en-US" sz="1800" dirty="0"/>
          </a:p>
          <a:p>
            <a:r>
              <a:rPr lang="en-US" sz="1800" dirty="0"/>
              <a:t>What PHP does:</a:t>
            </a:r>
          </a:p>
          <a:p>
            <a:r>
              <a:rPr lang="en-US" sz="1800" dirty="0"/>
              <a:t>"nonsense" → converted to </a:t>
            </a:r>
            <a:r>
              <a:rPr lang="en-US" sz="1800" b="1" dirty="0"/>
              <a:t>0</a:t>
            </a:r>
            <a:r>
              <a:rPr lang="en-US" sz="1800" dirty="0"/>
              <a:t> when used in arithmetic (and emits a warning in modern PHP).</a:t>
            </a:r>
          </a:p>
          <a:p>
            <a:r>
              <a:rPr lang="en-US" sz="1800" dirty="0"/>
              <a:t>true → converted to </a:t>
            </a:r>
            <a:r>
              <a:rPr lang="en-US" sz="1800" b="1" dirty="0"/>
              <a:t>1</a:t>
            </a:r>
            <a:r>
              <a:rPr lang="en-US" sz="1800" dirty="0"/>
              <a:t>.</a:t>
            </a:r>
          </a:p>
          <a:p>
            <a:r>
              <a:rPr lang="en-US" sz="1800" dirty="0"/>
              <a:t>Evaluate: 2 * 0 = 0, then 2 + 0 + 1 = 3.</a:t>
            </a:r>
          </a:p>
          <a:p>
            <a:endParaRPr lang="en-US" sz="1800" dirty="0"/>
          </a:p>
          <a:p>
            <a:r>
              <a:rPr lang="en-US" sz="1800" b="1" dirty="0"/>
              <a:t>Why it’s valid: </a:t>
            </a:r>
            <a:r>
              <a:rPr lang="en-US" sz="1800" dirty="0"/>
              <a:t>In arithmetic contexts, PHP auto-converts types: .</a:t>
            </a:r>
          </a:p>
          <a:p>
            <a:r>
              <a:rPr lang="en-US" sz="1800" dirty="0"/>
              <a:t>non-numeric strings → </a:t>
            </a:r>
            <a:r>
              <a:rPr lang="en-US" dirty="0"/>
              <a:t>0</a:t>
            </a:r>
            <a:r>
              <a:rPr lang="en-US" sz="1800" dirty="0"/>
              <a:t>      </a:t>
            </a:r>
            <a:r>
              <a:rPr lang="en-US" dirty="0"/>
              <a:t>true</a:t>
            </a:r>
            <a:r>
              <a:rPr lang="en-US" sz="1800" dirty="0"/>
              <a:t> → </a:t>
            </a:r>
            <a:r>
              <a:rPr lang="en-US" dirty="0"/>
              <a:t>1</a:t>
            </a:r>
            <a:r>
              <a:rPr lang="en-US" sz="1800" dirty="0"/>
              <a:t>, </a:t>
            </a:r>
            <a:r>
              <a:rPr lang="en-US" dirty="0"/>
              <a:t>false</a:t>
            </a:r>
            <a:r>
              <a:rPr lang="en-US" sz="1800" dirty="0"/>
              <a:t> → </a:t>
            </a:r>
            <a:r>
              <a:rPr lang="en-US" dirty="0"/>
              <a:t>0</a:t>
            </a:r>
            <a:endParaRPr lang="en-US" sz="1800" dirty="0"/>
          </a:p>
          <a:p>
            <a:r>
              <a:rPr lang="en-US" sz="1800" dirty="0"/>
              <a:t>Yes, it can be risky: </a:t>
            </a:r>
            <a:r>
              <a:rPr lang="en-US" sz="1800" b="1" dirty="0"/>
              <a:t>Type juggling bugs</a:t>
            </a:r>
            <a:r>
              <a:rPr lang="en-US" sz="1800" dirty="0"/>
              <a:t> (e.g., == comparisons where "0" equals 0 and false; "0e1234" can equal 0). Silent coercions can hide logic errors or enable auth/bypass vulnerabilities.</a:t>
            </a:r>
          </a:p>
          <a:p>
            <a:endParaRPr lang="en-US" sz="1800" dirty="0"/>
          </a:p>
          <a:p>
            <a:endParaRPr lang="en-US" sz="1800" dirty="0"/>
          </a:p>
          <a:p>
            <a:endParaRPr lang="en-US" sz="1800" dirty="0"/>
          </a:p>
          <a:p>
            <a:endParaRPr lang="en-US" sz="1800" dirty="0"/>
          </a:p>
          <a:p>
            <a:endParaRPr lang="en-US" dirty="0"/>
          </a:p>
        </p:txBody>
      </p:sp>
    </p:spTree>
    <p:extLst>
      <p:ext uri="{BB962C8B-B14F-4D97-AF65-F5344CB8AC3E}">
        <p14:creationId xmlns:p14="http://schemas.microsoft.com/office/powerpoint/2010/main" val="4121474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C0F0-C76F-878A-8C27-5E4E52F53F41}"/>
              </a:ext>
            </a:extLst>
          </p:cNvPr>
          <p:cNvSpPr>
            <a:spLocks noGrp="1"/>
          </p:cNvSpPr>
          <p:nvPr>
            <p:ph type="title"/>
          </p:nvPr>
        </p:nvSpPr>
        <p:spPr/>
        <p:txBody>
          <a:bodyPr/>
          <a:lstStyle/>
          <a:p>
            <a:r>
              <a:rPr lang="en-US" dirty="0"/>
              <a:t>Security problem?</a:t>
            </a:r>
          </a:p>
        </p:txBody>
      </p:sp>
      <p:sp>
        <p:nvSpPr>
          <p:cNvPr id="4" name="Rectangle 1">
            <a:extLst>
              <a:ext uri="{FF2B5EF4-FFF2-40B4-BE49-F238E27FC236}">
                <a16:creationId xmlns:a16="http://schemas.microsoft.com/office/drawing/2014/main" id="{E5C6EE99-2480-9AD2-52ED-EA8F20E6D241}"/>
              </a:ext>
            </a:extLst>
          </p:cNvPr>
          <p:cNvSpPr>
            <a:spLocks noGrp="1" noChangeArrowheads="1"/>
          </p:cNvSpPr>
          <p:nvPr>
            <p:ph type="subTitle"/>
          </p:nvPr>
        </p:nvSpPr>
        <p:spPr bwMode="auto">
          <a:xfrm>
            <a:off x="1119960" y="2429841"/>
            <a:ext cx="1100718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Yes, it can present security risks, especially if you are handling user inputs.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If PHP silently converts invalid or unexpected values, it could lead 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Unexpected behaviors</a:t>
            </a:r>
            <a:r>
              <a:rPr kumimoji="0" lang="en-US" altLang="en-US" sz="1800" b="0" i="0" u="none" strike="noStrike" cap="none" normalizeH="0" baseline="0" dirty="0">
                <a:ln>
                  <a:noFill/>
                </a:ln>
                <a:solidFill>
                  <a:schemeClr val="tx1"/>
                </a:solidFill>
                <a:effectLst/>
                <a:latin typeface="Arial" panose="020B0604020202020204" pitchFamily="34" charset="0"/>
              </a:rPr>
              <a:t>: Logic errors may arise if the code assumes a numeric value but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receives an unexpected type like a string.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SQL injection vulnerabilities</a:t>
            </a:r>
            <a:r>
              <a:rPr kumimoji="0" lang="en-US" altLang="en-US" sz="1800" b="0" i="0" u="none" strike="noStrike" cap="none" normalizeH="0" baseline="0" dirty="0">
                <a:ln>
                  <a:noFill/>
                </a:ln>
                <a:solidFill>
                  <a:schemeClr val="tx1"/>
                </a:solidFill>
                <a:effectLst/>
                <a:latin typeface="Arial" panose="020B0604020202020204" pitchFamily="34" charset="0"/>
              </a:rPr>
              <a:t>: If you use input values without proper sanitization, attackers could exploit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implicit type conversions to inject malicious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Loose comparisons issues</a:t>
            </a:r>
            <a:r>
              <a:rPr kumimoji="0" lang="en-US" altLang="en-US" sz="1800" b="0" i="0" u="none" strike="noStrike" cap="none" normalizeH="0" baseline="0" dirty="0">
                <a:ln>
                  <a:noFill/>
                </a:ln>
                <a:solidFill>
                  <a:schemeClr val="tx1"/>
                </a:solidFill>
                <a:effectLst/>
                <a:latin typeface="Arial" panose="020B0604020202020204" pitchFamily="34" charset="0"/>
              </a:rPr>
              <a:t>: Type juggling can cause problems with comparisons, especially when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comparing different types like strings, integers, or </a:t>
            </a:r>
            <a:r>
              <a:rPr kumimoji="0" lang="en-US" altLang="en-US" sz="1800" b="0" i="0" u="none" strike="noStrike" cap="none" normalizeH="0" baseline="0" dirty="0" err="1">
                <a:ln>
                  <a:noFill/>
                </a:ln>
                <a:solidFill>
                  <a:schemeClr val="tx1"/>
                </a:solidFill>
                <a:effectLst/>
                <a:latin typeface="Arial" panose="020B0604020202020204" pitchFamily="34" charset="0"/>
              </a:rPr>
              <a:t>booleans</a:t>
            </a:r>
            <a:r>
              <a:rPr kumimoji="0" lang="en-US" altLang="en-US" sz="1800" b="0" i="0" u="none" strike="noStrike" cap="none" normalizeH="0" baseline="0" dirty="0">
                <a:ln>
                  <a:noFill/>
                </a:ln>
                <a:solidFill>
                  <a:schemeClr val="tx1"/>
                </a:solidFill>
                <a:effectLst/>
                <a:latin typeface="Arial" panose="020B0604020202020204" pitchFamily="34" charset="0"/>
              </a:rPr>
              <a:t> (e.g., </a:t>
            </a:r>
            <a:r>
              <a:rPr kumimoji="0" lang="en-US" altLang="en-US" sz="1000" b="0" i="0" u="none" strike="noStrike" cap="none" normalizeH="0" baseline="0" dirty="0">
                <a:ln>
                  <a:noFill/>
                </a:ln>
                <a:solidFill>
                  <a:schemeClr val="tx1"/>
                </a:solidFill>
                <a:effectLst/>
                <a:latin typeface="Arial Unicode MS"/>
              </a:rPr>
              <a:t>"0" == FALSE</a:t>
            </a:r>
            <a:r>
              <a:rPr kumimoji="0" lang="en-US" altLang="en-US" sz="800" b="0" i="0" u="none" strike="noStrike" cap="none" normalizeH="0" baseline="0" dirty="0">
                <a:ln>
                  <a:noFill/>
                </a:ln>
                <a:solidFill>
                  <a:schemeClr val="tx1"/>
                </a:solidFill>
                <a:effectLst/>
              </a:rPr>
              <a:t> returns </a:t>
            </a:r>
            <a:r>
              <a:rPr kumimoji="0" lang="en-US" altLang="en-US" sz="1000" b="0" i="0" u="none" strike="noStrike" cap="none" normalizeH="0" baseline="0" dirty="0">
                <a:ln>
                  <a:noFill/>
                </a:ln>
                <a:solidFill>
                  <a:schemeClr val="tx1"/>
                </a:solidFill>
                <a:effectLst/>
                <a:latin typeface="Arial Unicode MS"/>
              </a:rPr>
              <a:t>TRUE</a:t>
            </a:r>
            <a:r>
              <a:rPr kumimoji="0" lang="en-US" altLang="en-US" sz="800" b="0" i="0" u="none" strike="noStrike" cap="none" normalizeH="0" baseline="0" dirty="0">
                <a:ln>
                  <a:noFill/>
                </a:ln>
                <a:solidFill>
                  <a:schemeClr val="tx1"/>
                </a:solidFill>
                <a:effectLst/>
              </a:rPr>
              <a:t> in PHP).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2472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73FA4-A025-EDE3-5064-EEF6DD80007C}"/>
              </a:ext>
            </a:extLst>
          </p:cNvPr>
          <p:cNvSpPr>
            <a:spLocks noGrp="1"/>
          </p:cNvSpPr>
          <p:nvPr>
            <p:ph type="title"/>
          </p:nvPr>
        </p:nvSpPr>
        <p:spPr/>
        <p:txBody>
          <a:bodyPr/>
          <a:lstStyle/>
          <a:p>
            <a:r>
              <a:rPr lang="en-US" dirty="0"/>
              <a:t>Safer Practices</a:t>
            </a:r>
          </a:p>
        </p:txBody>
      </p:sp>
      <p:sp>
        <p:nvSpPr>
          <p:cNvPr id="4" name="Rectangle 1">
            <a:extLst>
              <a:ext uri="{FF2B5EF4-FFF2-40B4-BE49-F238E27FC236}">
                <a16:creationId xmlns:a16="http://schemas.microsoft.com/office/drawing/2014/main" id="{DA767553-ECD8-3702-D2BB-764F2FC1FC0D}"/>
              </a:ext>
            </a:extLst>
          </p:cNvPr>
          <p:cNvSpPr>
            <a:spLocks noGrp="1" noChangeArrowheads="1"/>
          </p:cNvSpPr>
          <p:nvPr>
            <p:ph type="subTitle"/>
          </p:nvPr>
        </p:nvSpPr>
        <p:spPr bwMode="auto">
          <a:xfrm>
            <a:off x="1070799" y="1764661"/>
            <a:ext cx="6989414"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Use </a:t>
            </a:r>
            <a:r>
              <a:rPr kumimoji="0" lang="en-US" altLang="en-US" sz="2200" b="1" i="0" u="none" strike="noStrike" cap="none" normalizeH="0" baseline="0" dirty="0">
                <a:ln>
                  <a:noFill/>
                </a:ln>
                <a:solidFill>
                  <a:schemeClr val="tx1"/>
                </a:solidFill>
                <a:effectLst/>
                <a:latin typeface="Arial" panose="020B0604020202020204" pitchFamily="34" charset="0"/>
              </a:rPr>
              <a:t>strict comparisons</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Unicode MS"/>
              </a:rPr>
              <a:t>===</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a:ln>
                  <a:noFill/>
                </a:ln>
                <a:solidFill>
                  <a:schemeClr val="tx1"/>
                </a:solidFill>
                <a:effectLst/>
                <a:latin typeface="Arial Unicode MS"/>
              </a:rPr>
              <a:t>!==</a:t>
            </a:r>
            <a:r>
              <a:rPr kumimoji="0" lang="en-US" altLang="en-US" sz="2200" b="0" i="0" u="none" strike="noStrike" cap="none" normalizeH="0" baseline="0" dirty="0">
                <a:ln>
                  <a:noFill/>
                </a:ln>
                <a:solidFill>
                  <a:schemeClr val="tx1"/>
                </a:solidFill>
                <a:effectLst/>
              </a:rPr>
              <a:t>) instead of </a:t>
            </a:r>
            <a:r>
              <a:rPr kumimoji="0" lang="en-US" altLang="en-US" sz="2200" b="0" i="0" u="none" strike="noStrike" cap="none" normalizeH="0" baseline="0" dirty="0">
                <a:ln>
                  <a:noFill/>
                </a:ln>
                <a:solidFill>
                  <a:schemeClr val="tx1"/>
                </a:solidFill>
                <a:effectLst/>
                <a:latin typeface="Arial Unicode MS"/>
              </a:rPr>
              <a:t>==</a:t>
            </a:r>
            <a:r>
              <a:rPr kumimoji="0" lang="en-US" altLang="en-US" sz="22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Validate inputs (</a:t>
            </a:r>
            <a:r>
              <a:rPr kumimoji="0" lang="en-US" altLang="en-US" sz="2200" b="0" i="0" u="none" strike="noStrike" cap="none" normalizeH="0" baseline="0" dirty="0" err="1">
                <a:ln>
                  <a:noFill/>
                </a:ln>
                <a:solidFill>
                  <a:schemeClr val="tx1"/>
                </a:solidFill>
                <a:effectLst/>
                <a:latin typeface="Arial Unicode MS"/>
              </a:rPr>
              <a:t>is_numeric</a:t>
            </a:r>
            <a:r>
              <a:rPr kumimoji="0" lang="en-US" altLang="en-US" sz="2200" b="0" i="0" u="none" strike="noStrike" cap="none" normalizeH="0" baseline="0" dirty="0">
                <a:ln>
                  <a:noFill/>
                </a:ln>
                <a:solidFill>
                  <a:schemeClr val="tx1"/>
                </a:solidFill>
                <a:effectLst/>
                <a:latin typeface="Arial Unicode MS"/>
              </a:rPr>
              <a:t>()</a:t>
            </a:r>
            <a:r>
              <a:rPr kumimoji="0" lang="en-US" altLang="en-US" sz="2200" b="0" i="0" u="none" strike="noStrike" cap="none" normalizeH="0" baseline="0" dirty="0">
                <a:ln>
                  <a:noFill/>
                </a:ln>
                <a:solidFill>
                  <a:schemeClr val="tx1"/>
                </a:solidFill>
                <a:effectLst/>
              </a:rPr>
              <a:t>), and </a:t>
            </a:r>
            <a:r>
              <a:rPr kumimoji="0" lang="en-US" altLang="en-US" sz="2200" b="1" i="0" u="none" strike="noStrike" cap="none" normalizeH="0" baseline="0" dirty="0">
                <a:ln>
                  <a:noFill/>
                </a:ln>
                <a:solidFill>
                  <a:schemeClr val="tx1"/>
                </a:solidFill>
                <a:effectLst/>
                <a:latin typeface="Arial" panose="020B0604020202020204" pitchFamily="34" charset="0"/>
              </a:rPr>
              <a:t>cast explicitly</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Consider </a:t>
            </a:r>
            <a:r>
              <a:rPr kumimoji="0" lang="en-US" altLang="en-US" sz="2200" b="0" i="0" u="none" strike="noStrike" cap="none" normalizeH="0" baseline="0" dirty="0">
                <a:ln>
                  <a:noFill/>
                </a:ln>
                <a:solidFill>
                  <a:schemeClr val="tx1"/>
                </a:solidFill>
                <a:effectLst/>
                <a:latin typeface="Arial Unicode MS"/>
              </a:rPr>
              <a:t>declare(</a:t>
            </a:r>
            <a:r>
              <a:rPr kumimoji="0" lang="en-US" altLang="en-US" sz="2200" b="0" i="0" u="none" strike="noStrike" cap="none" normalizeH="0" baseline="0" dirty="0" err="1">
                <a:ln>
                  <a:noFill/>
                </a:ln>
                <a:solidFill>
                  <a:schemeClr val="tx1"/>
                </a:solidFill>
                <a:effectLst/>
                <a:latin typeface="Arial Unicode MS"/>
              </a:rPr>
              <a:t>strict_types</a:t>
            </a:r>
            <a:r>
              <a:rPr kumimoji="0" lang="en-US" altLang="en-US" sz="2200" b="0" i="0" u="none" strike="noStrike" cap="none" normalizeH="0" baseline="0" dirty="0">
                <a:ln>
                  <a:noFill/>
                </a:ln>
                <a:solidFill>
                  <a:schemeClr val="tx1"/>
                </a:solidFill>
                <a:effectLst/>
                <a:latin typeface="Arial Unicode MS"/>
              </a:rPr>
              <a:t>=1);</a:t>
            </a:r>
            <a:r>
              <a:rPr kumimoji="0" lang="en-US" altLang="en-US" sz="2200" b="0" i="0" u="none" strike="noStrike" cap="none" normalizeH="0" baseline="0" dirty="0">
                <a:ln>
                  <a:noFill/>
                </a:ln>
                <a:solidFill>
                  <a:schemeClr val="tx1"/>
                </a:solidFill>
                <a:effectLst/>
              </a:rPr>
              <a:t> for stricter code.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Enable error reporting in dev to catch these warnings.</a:t>
            </a:r>
          </a:p>
        </p:txBody>
      </p:sp>
    </p:spTree>
    <p:extLst>
      <p:ext uri="{BB962C8B-B14F-4D97-AF65-F5344CB8AC3E}">
        <p14:creationId xmlns:p14="http://schemas.microsoft.com/office/powerpoint/2010/main" val="3514775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Data Types in PHP</a:t>
            </a:r>
            <a:endParaRPr lang="en-US" sz="3959" b="0" strike="noStrike" spc="-1">
              <a:solidFill>
                <a:srgbClr val="FFFFFF"/>
              </a:solidFill>
              <a:latin typeface="Arial"/>
            </a:endParaRPr>
          </a:p>
        </p:txBody>
      </p:sp>
      <p:sp>
        <p:nvSpPr>
          <p:cNvPr id="239"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Variables are loosely typed</a:t>
            </a:r>
          </a:p>
          <a:p>
            <a:pPr marL="462960" lvl="1" indent="-154440">
              <a:lnSpc>
                <a:spcPct val="90000"/>
              </a:lnSpc>
              <a:spcBef>
                <a:spcPts val="337"/>
              </a:spcBef>
              <a:buClr>
                <a:srgbClr val="000000"/>
              </a:buClr>
              <a:buFont typeface="Arial"/>
              <a:buChar char="•"/>
            </a:pPr>
            <a:r>
              <a:rPr lang="en-US" sz="2000" b="0" strike="noStrike" spc="-1" dirty="0">
                <a:solidFill>
                  <a:srgbClr val="000000"/>
                </a:solidFill>
                <a:latin typeface="Arial"/>
              </a:rPr>
              <a:t>Data types are determined automatically as data is assigned to a variable</a:t>
            </a:r>
          </a:p>
          <a:p>
            <a:pPr marL="462960" lvl="1" indent="-154440">
              <a:lnSpc>
                <a:spcPct val="90000"/>
              </a:lnSpc>
              <a:spcBef>
                <a:spcPts val="337"/>
              </a:spcBef>
              <a:buClr>
                <a:srgbClr val="000000"/>
              </a:buClr>
              <a:buFont typeface="Arial"/>
              <a:buChar char="•"/>
            </a:pPr>
            <a:r>
              <a:rPr lang="en-US" sz="2000" b="0" strike="noStrike" spc="-1" dirty="0">
                <a:solidFill>
                  <a:srgbClr val="000000"/>
                </a:solidFill>
                <a:latin typeface="Arial"/>
              </a:rPr>
              <a:t>Advantages:  Variable can contain string at one point and an integer at another</a:t>
            </a:r>
          </a:p>
          <a:p>
            <a:pPr marL="462960" lvl="1" indent="-154440">
              <a:lnSpc>
                <a:spcPct val="90000"/>
              </a:lnSpc>
              <a:spcBef>
                <a:spcPts val="337"/>
              </a:spcBef>
              <a:buClr>
                <a:srgbClr val="000000"/>
              </a:buClr>
              <a:buFont typeface="Arial"/>
              <a:buChar char="•"/>
            </a:pPr>
            <a:r>
              <a:rPr lang="en-US" sz="2000" b="0" strike="noStrike" spc="-1" dirty="0">
                <a:solidFill>
                  <a:srgbClr val="000000"/>
                </a:solidFill>
                <a:latin typeface="Arial"/>
              </a:rPr>
              <a:t>Disadvantages: code may be expecting an array in a variable when the variable in fact contains an integer</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However, there are ways of testing a variable's type and deliberately setting a variable's type in PHP</a:t>
            </a:r>
          </a:p>
        </p:txBody>
      </p:sp>
      <p:sp>
        <p:nvSpPr>
          <p:cNvPr id="240" name="PlaceHolder 3"/>
          <p:cNvSpPr>
            <a:spLocks noGrp="1"/>
          </p:cNvSpPr>
          <p:nvPr>
            <p:ph type="sldNum" idx="18"/>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CDDAC2F4-D80D-4B17-AA77-C01C704A003E}" type="slidenum">
              <a:rPr lang="en-US" sz="810" b="0" strike="noStrike" spc="-1">
                <a:solidFill>
                  <a:srgbClr val="D9D9D9"/>
                </a:solidFill>
                <a:latin typeface="Arial"/>
              </a:rPr>
              <a:t>37</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47000"/>
    </mc:Choice>
    <mc:Fallback xmlns="" xmlns:p15="http://schemas.microsoft.com/office/powerpoint/2012/main">
      <p:transition spd="slow" advTm="47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Reassigning Variables</a:t>
            </a:r>
            <a:endParaRPr lang="en-US" sz="3959" b="0" strike="noStrike" spc="-1">
              <a:solidFill>
                <a:srgbClr val="FFFFFF"/>
              </a:solidFill>
              <a:latin typeface="Arial"/>
            </a:endParaRPr>
          </a:p>
        </p:txBody>
      </p:sp>
      <p:sp>
        <p:nvSpPr>
          <p:cNvPr id="242" name="PlaceHolder 2"/>
          <p:cNvSpPr>
            <a:spLocks noGrp="1"/>
          </p:cNvSpPr>
          <p:nvPr>
            <p:ph/>
          </p:nvPr>
        </p:nvSpPr>
        <p:spPr>
          <a:xfrm>
            <a:off x="979020" y="1324115"/>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Is this legal?</a:t>
            </a:r>
          </a:p>
          <a:p>
            <a:pPr indent="0">
              <a:lnSpc>
                <a:spcPct val="90000"/>
              </a:lnSpc>
              <a:spcBef>
                <a:spcPts val="675"/>
              </a:spcBef>
              <a:buNone/>
            </a:pPr>
            <a:endParaRPr lang="en-US" sz="2400" b="0" strike="noStrike" spc="-1" dirty="0">
              <a:solidFill>
                <a:srgbClr val="000000"/>
              </a:solidFill>
              <a:latin typeface="Arial"/>
            </a:endParaRPr>
          </a:p>
          <a:p>
            <a:pPr marL="154440" indent="0">
              <a:lnSpc>
                <a:spcPct val="90000"/>
              </a:lnSpc>
              <a:spcBef>
                <a:spcPts val="675"/>
              </a:spcBef>
              <a:buNone/>
              <a:tabLst>
                <a:tab pos="0" algn="l"/>
              </a:tabLst>
            </a:pPr>
            <a:r>
              <a:rPr lang="en-US" sz="2400" b="1" strike="noStrike" spc="-1" dirty="0">
                <a:solidFill>
                  <a:srgbClr val="000000"/>
                </a:solidFill>
                <a:latin typeface="Courier New"/>
              </a:rPr>
              <a:t>$</a:t>
            </a:r>
            <a:r>
              <a:rPr lang="en-US" sz="2400" b="1" strike="noStrike" spc="-1" dirty="0" err="1">
                <a:solidFill>
                  <a:srgbClr val="000000"/>
                </a:solidFill>
                <a:latin typeface="Courier New"/>
              </a:rPr>
              <a:t>my_num_var</a:t>
            </a:r>
            <a:r>
              <a:rPr lang="en-US" sz="2400" b="1" strike="noStrike" spc="-1" dirty="0">
                <a:solidFill>
                  <a:srgbClr val="000000"/>
                </a:solidFill>
                <a:latin typeface="Courier New"/>
              </a:rPr>
              <a:t> = "Should be numeric";</a:t>
            </a:r>
            <a:endParaRPr lang="en-US" sz="2400" b="0" strike="noStrike" spc="-1" dirty="0">
              <a:solidFill>
                <a:srgbClr val="000000"/>
              </a:solidFill>
              <a:latin typeface="Arial"/>
            </a:endParaRPr>
          </a:p>
          <a:p>
            <a:pPr marL="154440" indent="0">
              <a:lnSpc>
                <a:spcPct val="90000"/>
              </a:lnSpc>
              <a:spcBef>
                <a:spcPts val="675"/>
              </a:spcBef>
              <a:buNone/>
              <a:tabLst>
                <a:tab pos="0" algn="l"/>
              </a:tabLst>
            </a:pPr>
            <a:endParaRPr lang="en-US" sz="2400" b="0" strike="noStrike" spc="-1" dirty="0">
              <a:solidFill>
                <a:srgbClr val="000000"/>
              </a:solidFill>
              <a:latin typeface="Arial"/>
            </a:endParaRPr>
          </a:p>
          <a:p>
            <a:pPr marL="154440" indent="0">
              <a:lnSpc>
                <a:spcPct val="90000"/>
              </a:lnSpc>
              <a:spcBef>
                <a:spcPts val="675"/>
              </a:spcBef>
              <a:buNone/>
              <a:tabLst>
                <a:tab pos="0" algn="l"/>
              </a:tabLst>
            </a:pPr>
            <a:r>
              <a:rPr lang="en-US" sz="2400" b="1" strike="noStrike" spc="-1" dirty="0">
                <a:solidFill>
                  <a:srgbClr val="000000"/>
                </a:solidFill>
                <a:latin typeface="Courier New"/>
              </a:rPr>
              <a:t>$</a:t>
            </a:r>
            <a:r>
              <a:rPr lang="en-US" sz="2400" b="1" strike="noStrike" spc="-1" dirty="0" err="1">
                <a:solidFill>
                  <a:srgbClr val="000000"/>
                </a:solidFill>
                <a:latin typeface="Courier New"/>
              </a:rPr>
              <a:t>my_num_var</a:t>
            </a:r>
            <a:r>
              <a:rPr lang="en-US" sz="2400" b="1" strike="noStrike" spc="-1" dirty="0">
                <a:solidFill>
                  <a:srgbClr val="000000"/>
                </a:solidFill>
                <a:latin typeface="Courier New"/>
              </a:rPr>
              <a:t> = 5;</a:t>
            </a:r>
            <a:endParaRPr lang="en-US" sz="2400" b="0" strike="noStrike" spc="-1" dirty="0">
              <a:solidFill>
                <a:srgbClr val="000000"/>
              </a:solidFill>
              <a:latin typeface="Arial"/>
            </a:endParaRPr>
          </a:p>
          <a:p>
            <a:pPr indent="0">
              <a:lnSpc>
                <a:spcPct val="90000"/>
              </a:lnSpc>
              <a:spcBef>
                <a:spcPts val="675"/>
              </a:spcBef>
              <a:buNone/>
              <a:tabLst>
                <a:tab pos="0" algn="l"/>
              </a:tabLst>
            </a:pPr>
            <a:endParaRPr lang="en-US" sz="2400" b="0" strike="noStrike" spc="-1" dirty="0">
              <a:solidFill>
                <a:srgbClr val="000000"/>
              </a:solidFill>
              <a:latin typeface="Arial"/>
            </a:endParaRPr>
          </a:p>
          <a:p>
            <a:pPr indent="0">
              <a:lnSpc>
                <a:spcPct val="90000"/>
              </a:lnSpc>
              <a:spcBef>
                <a:spcPts val="675"/>
              </a:spcBef>
              <a:buNone/>
              <a:tabLst>
                <a:tab pos="0" algn="l"/>
              </a:tabLst>
            </a:pPr>
            <a:endParaRPr lang="en-US" sz="2400" b="0" strike="noStrike" spc="-1" dirty="0">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400" b="0" strike="noStrike" spc="-1" dirty="0">
                <a:solidFill>
                  <a:srgbClr val="000000"/>
                </a:solidFill>
                <a:latin typeface="Arial"/>
              </a:rPr>
              <a:t>Why or why not?</a:t>
            </a:r>
          </a:p>
          <a:p>
            <a:pPr marL="154440" indent="-154440">
              <a:lnSpc>
                <a:spcPct val="90000"/>
              </a:lnSpc>
              <a:spcBef>
                <a:spcPts val="675"/>
              </a:spcBef>
              <a:buClr>
                <a:srgbClr val="000000"/>
              </a:buClr>
              <a:buFont typeface="Arial"/>
              <a:buChar char="•"/>
              <a:tabLst>
                <a:tab pos="0" algn="l"/>
              </a:tabLst>
            </a:pPr>
            <a:r>
              <a:rPr lang="en-US" sz="2400" b="0" strike="noStrike" spc="-1" dirty="0">
                <a:solidFill>
                  <a:srgbClr val="000000"/>
                </a:solidFill>
                <a:latin typeface="Arial"/>
              </a:rPr>
              <a:t>Does this cause a security problem?</a:t>
            </a:r>
          </a:p>
          <a:p>
            <a:pPr marL="154440" indent="-154440">
              <a:lnSpc>
                <a:spcPct val="90000"/>
              </a:lnSpc>
              <a:spcBef>
                <a:spcPts val="675"/>
              </a:spcBef>
              <a:buClr>
                <a:srgbClr val="000000"/>
              </a:buClr>
              <a:buFont typeface="Arial"/>
              <a:buChar char="•"/>
              <a:tabLst>
                <a:tab pos="0" algn="l"/>
              </a:tabLst>
            </a:pPr>
            <a:r>
              <a:rPr lang="en-US" sz="1600" dirty="0"/>
              <a:t>Yes, </a:t>
            </a:r>
            <a:r>
              <a:rPr lang="en-US" sz="1600" b="1" dirty="0"/>
              <a:t>reassigning variables dynamically</a:t>
            </a:r>
            <a:r>
              <a:rPr lang="en-US" sz="1600" dirty="0"/>
              <a:t> in PHP, while allowed, </a:t>
            </a:r>
            <a:r>
              <a:rPr lang="en-US" sz="1600" b="1" dirty="0"/>
              <a:t>can introduce security risks</a:t>
            </a:r>
            <a:r>
              <a:rPr lang="en-US" sz="1600" dirty="0"/>
              <a:t> depending on the context in which it happens. The fact that PHP allows variables to change types on the fly can lead to vulnerabilities or bugs if not properly managed.</a:t>
            </a:r>
            <a:endParaRPr lang="en-US" sz="2400" b="0" strike="noStrike" spc="-1" dirty="0">
              <a:solidFill>
                <a:srgbClr val="000000"/>
              </a:solidFill>
              <a:latin typeface="Arial"/>
            </a:endParaRPr>
          </a:p>
          <a:p>
            <a:pPr indent="0">
              <a:lnSpc>
                <a:spcPct val="90000"/>
              </a:lnSpc>
              <a:spcBef>
                <a:spcPts val="675"/>
              </a:spcBef>
              <a:buNone/>
              <a:tabLst>
                <a:tab pos="0" algn="l"/>
              </a:tabLst>
            </a:pPr>
            <a:endParaRPr lang="en-US" sz="2400" b="0" strike="noStrike" spc="-1" dirty="0">
              <a:solidFill>
                <a:srgbClr val="000000"/>
              </a:solidFill>
              <a:latin typeface="Arial"/>
            </a:endParaRPr>
          </a:p>
        </p:txBody>
      </p:sp>
      <p:sp>
        <p:nvSpPr>
          <p:cNvPr id="243" name="PlaceHolder 3"/>
          <p:cNvSpPr>
            <a:spLocks noGrp="1"/>
          </p:cNvSpPr>
          <p:nvPr>
            <p:ph type="sldNum" idx="19"/>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02B9B7D5-5F37-442A-8241-38DC1D946AF0}" type="slidenum">
              <a:rPr lang="en-US" sz="810" b="0" strike="noStrike" spc="-1">
                <a:solidFill>
                  <a:srgbClr val="D9D9D9"/>
                </a:solidFill>
                <a:latin typeface="Arial"/>
              </a:rPr>
              <a:t>38</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8000"/>
    </mc:Choice>
    <mc:Fallback xmlns="" xmlns:p15="http://schemas.microsoft.com/office/powerpoint/2012/main">
      <p:transition spd="slow" advTm="28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Standard Data Types</a:t>
            </a:r>
            <a:endParaRPr lang="en-US" sz="3959" b="0" strike="noStrike" spc="-1">
              <a:solidFill>
                <a:srgbClr val="FFFFFF"/>
              </a:solidFill>
              <a:latin typeface="Arial"/>
            </a:endParaRPr>
          </a:p>
        </p:txBody>
      </p:sp>
      <p:sp>
        <p:nvSpPr>
          <p:cNvPr id="248" name="PlaceHolder 2"/>
          <p:cNvSpPr>
            <a:spLocks noGrp="1"/>
          </p:cNvSpPr>
          <p:nvPr>
            <p:ph type="sldNum" idx="21"/>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84014372-1B96-4C1C-966F-EE96743F6778}" type="slidenum">
              <a:rPr lang="en-US" sz="810" b="0" strike="noStrike" spc="-1">
                <a:solidFill>
                  <a:srgbClr val="D9D9D9"/>
                </a:solidFill>
                <a:latin typeface="Arial"/>
              </a:rPr>
              <a:t>39</a:t>
            </a:fld>
            <a:endParaRPr lang="en-US" sz="810" b="0" strike="noStrike" spc="-1">
              <a:solidFill>
                <a:srgbClr val="000000"/>
              </a:solidFill>
              <a:latin typeface="Times New Roman"/>
            </a:endParaRPr>
          </a:p>
        </p:txBody>
      </p:sp>
      <p:graphicFrame>
        <p:nvGraphicFramePr>
          <p:cNvPr id="249" name="Group 93"/>
          <p:cNvGraphicFramePr/>
          <p:nvPr/>
        </p:nvGraphicFramePr>
        <p:xfrm>
          <a:off x="0" y="1371600"/>
          <a:ext cx="7772040" cy="2926080"/>
        </p:xfrm>
        <a:graphic>
          <a:graphicData uri="http://schemas.openxmlformats.org/drawingml/2006/table">
            <a:tbl>
              <a:tblPr/>
              <a:tblGrid>
                <a:gridCol w="3581280">
                  <a:extLst>
                    <a:ext uri="{9D8B030D-6E8A-4147-A177-3AD203B41FA5}">
                      <a16:colId xmlns:a16="http://schemas.microsoft.com/office/drawing/2014/main" val="20000"/>
                    </a:ext>
                  </a:extLst>
                </a:gridCol>
                <a:gridCol w="4190760">
                  <a:extLst>
                    <a:ext uri="{9D8B030D-6E8A-4147-A177-3AD203B41FA5}">
                      <a16:colId xmlns:a16="http://schemas.microsoft.com/office/drawing/2014/main" val="20001"/>
                    </a:ext>
                  </a:extLst>
                </a:gridCol>
              </a:tblGrid>
              <a:tr h="369720">
                <a:tc>
                  <a:txBody>
                    <a:bodyPr/>
                    <a:lstStyle/>
                    <a:p>
                      <a:pPr>
                        <a:lnSpc>
                          <a:spcPct val="100000"/>
                        </a:lnSpc>
                        <a:spcBef>
                          <a:spcPts val="479"/>
                        </a:spcBef>
                        <a:tabLst>
                          <a:tab pos="0" algn="l"/>
                        </a:tabLst>
                      </a:pPr>
                      <a:r>
                        <a:rPr lang="en-US" sz="2400" b="0" u="sng" strike="noStrike" spc="-1">
                          <a:solidFill>
                            <a:srgbClr val="000000"/>
                          </a:solidFill>
                          <a:uFillTx/>
                          <a:latin typeface="Arial"/>
                        </a:rPr>
                        <a:t>Type</a:t>
                      </a:r>
                      <a:endParaRPr lang="en-US" sz="2400" b="0" strike="noStrike" spc="-1">
                        <a:solidFill>
                          <a:srgbClr val="000000"/>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79"/>
                        </a:spcBef>
                        <a:tabLst>
                          <a:tab pos="0" algn="l"/>
                        </a:tabLst>
                      </a:pPr>
                      <a:r>
                        <a:rPr lang="en-US" sz="2400" b="0" u="sng" strike="noStrike" spc="-1">
                          <a:solidFill>
                            <a:srgbClr val="000000"/>
                          </a:solidFill>
                          <a:uFillTx/>
                          <a:latin typeface="Arial"/>
                        </a:rPr>
                        <a:t>Description</a:t>
                      </a:r>
                      <a:endParaRPr lang="en-US" sz="2400" b="0" strike="noStrike" spc="-1">
                        <a:solidFill>
                          <a:srgbClr val="000000"/>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0"/>
                  </a:ext>
                </a:extLst>
              </a:tr>
              <a:tr h="369720">
                <a:tc>
                  <a:txBody>
                    <a:bodyPr/>
                    <a:lstStyle/>
                    <a:p>
                      <a:pPr>
                        <a:lnSpc>
                          <a:spcPct val="100000"/>
                        </a:lnSpc>
                        <a:spcBef>
                          <a:spcPts val="479"/>
                        </a:spcBef>
                        <a:tabLst>
                          <a:tab pos="0" algn="l"/>
                        </a:tabLst>
                      </a:pPr>
                      <a:r>
                        <a:rPr lang="en-US" sz="2400" b="0" strike="noStrike" spc="-1">
                          <a:solidFill>
                            <a:srgbClr val="000000"/>
                          </a:solidFill>
                          <a:latin typeface="Arial"/>
                        </a:rPr>
                        <a:t>Integer</a:t>
                      </a:r>
                    </a:p>
                  </a:txBody>
                  <a:tcPr>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79"/>
                        </a:spcBef>
                        <a:tabLst>
                          <a:tab pos="0" algn="l"/>
                        </a:tabLst>
                      </a:pPr>
                      <a:r>
                        <a:rPr lang="en-US" sz="2400" b="0" strike="noStrike" spc="-1">
                          <a:solidFill>
                            <a:srgbClr val="000000"/>
                          </a:solidFill>
                          <a:latin typeface="Arial"/>
                        </a:rPr>
                        <a:t>A whole number (decimal, octal starting with "0" or hex starting with "0x")</a:t>
                      </a: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1"/>
                  </a:ext>
                </a:extLst>
              </a:tr>
              <a:tr h="369720">
                <a:tc>
                  <a:txBody>
                    <a:bodyPr/>
                    <a:lstStyle/>
                    <a:p>
                      <a:pPr>
                        <a:lnSpc>
                          <a:spcPct val="100000"/>
                        </a:lnSpc>
                        <a:spcBef>
                          <a:spcPts val="479"/>
                        </a:spcBef>
                        <a:tabLst>
                          <a:tab pos="0" algn="l"/>
                        </a:tabLst>
                      </a:pPr>
                      <a:r>
                        <a:rPr lang="en-US" sz="2400" b="0" strike="noStrike" spc="-1">
                          <a:solidFill>
                            <a:srgbClr val="000000"/>
                          </a:solidFill>
                          <a:latin typeface="Arial"/>
                        </a:rPr>
                        <a:t>Floating-point Number</a:t>
                      </a:r>
                    </a:p>
                  </a:txBody>
                  <a:tcPr>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79"/>
                        </a:spcBef>
                        <a:tabLst>
                          <a:tab pos="0" algn="l"/>
                        </a:tabLst>
                      </a:pPr>
                      <a:r>
                        <a:rPr lang="en-US" sz="2400" b="0" strike="noStrike" spc="-1">
                          <a:solidFill>
                            <a:srgbClr val="000000"/>
                          </a:solidFill>
                          <a:latin typeface="Arial"/>
                        </a:rPr>
                        <a:t>Real numbers (standard or scientific notation)</a:t>
                      </a: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368280">
                <a:tc>
                  <a:txBody>
                    <a:bodyPr/>
                    <a:lstStyle/>
                    <a:p>
                      <a:pPr>
                        <a:lnSpc>
                          <a:spcPct val="100000"/>
                        </a:lnSpc>
                        <a:spcBef>
                          <a:spcPts val="479"/>
                        </a:spcBef>
                        <a:tabLst>
                          <a:tab pos="0" algn="l"/>
                        </a:tabLst>
                      </a:pPr>
                      <a:r>
                        <a:rPr lang="en-US" sz="2400" b="0" strike="noStrike" spc="-1">
                          <a:solidFill>
                            <a:srgbClr val="000000"/>
                          </a:solidFill>
                          <a:latin typeface="Arial"/>
                        </a:rPr>
                        <a:t>String</a:t>
                      </a:r>
                    </a:p>
                  </a:txBody>
                  <a:tcPr>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79"/>
                        </a:spcBef>
                        <a:tabLst>
                          <a:tab pos="0" algn="l"/>
                        </a:tabLst>
                      </a:pPr>
                      <a:r>
                        <a:rPr lang="en-US" sz="2400" b="0" strike="noStrike" spc="-1">
                          <a:solidFill>
                            <a:srgbClr val="000000"/>
                          </a:solidFill>
                          <a:latin typeface="Arial"/>
                        </a:rPr>
                        <a:t>A collection of characters</a:t>
                      </a: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3"/>
                  </a:ext>
                </a:extLst>
              </a:tr>
            </a:tbl>
          </a:graphicData>
        </a:graphic>
      </p:graphicFrame>
      <p:sp>
        <p:nvSpPr>
          <p:cNvPr id="250" name="Rectangle 94"/>
          <p:cNvSpPr/>
          <p:nvPr/>
        </p:nvSpPr>
        <p:spPr>
          <a:xfrm>
            <a:off x="2514600" y="4343400"/>
            <a:ext cx="7238520" cy="1614240"/>
          </a:xfrm>
          <a:prstGeom prst="rect">
            <a:avLst/>
          </a:prstGeom>
          <a:noFill/>
          <a:ln w="9525">
            <a:solidFill>
              <a:srgbClr val="FFFFFF"/>
            </a:solidFill>
            <a:miter/>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0" strike="noStrike" spc="-1">
                <a:solidFill>
                  <a:srgbClr val="000000"/>
                </a:solidFill>
                <a:latin typeface="Arial"/>
              </a:rPr>
              <a:t>Unlike other programming languages, PHP does not support a “character” or “char” data type but you can get individual characters out of a string:</a:t>
            </a:r>
          </a:p>
          <a:p>
            <a:pPr marL="457200">
              <a:lnSpc>
                <a:spcPct val="100000"/>
              </a:lnSpc>
            </a:pPr>
            <a:r>
              <a:rPr lang="en-US" sz="2000" b="1" strike="noStrike" spc="-1">
                <a:solidFill>
                  <a:srgbClr val="000000"/>
                </a:solidFill>
                <a:latin typeface="Arial"/>
              </a:rPr>
              <a:t>echo $x{3};</a:t>
            </a:r>
            <a:endParaRPr lang="en-US" sz="2000" b="0" strike="noStrike" spc="-1">
              <a:solidFill>
                <a:srgbClr val="000000"/>
              </a:solidFill>
              <a:latin typeface="Arial"/>
            </a:endParaRPr>
          </a:p>
          <a:p>
            <a:pPr marL="457200">
              <a:lnSpc>
                <a:spcPct val="100000"/>
              </a:lnSpc>
            </a:pPr>
            <a:r>
              <a:rPr lang="en-US" sz="2000" b="1" strike="noStrike" spc="-1">
                <a:solidFill>
                  <a:srgbClr val="000000"/>
                </a:solidFill>
                <a:latin typeface="Arial"/>
              </a:rPr>
              <a:t>echo $x{0};</a:t>
            </a:r>
            <a:endParaRPr lang="en-US" sz="2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18000"/>
    </mc:Choice>
    <mc:Fallback xmlns="" xmlns:p15="http://schemas.microsoft.com/office/powerpoint/2012/main">
      <p:transition spd="slow" advTm="18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Special Data Types</a:t>
            </a:r>
            <a:endParaRPr lang="en-US" sz="3959" b="0" strike="noStrike" spc="-1">
              <a:solidFill>
                <a:srgbClr val="FFFFFF"/>
              </a:solidFill>
              <a:latin typeface="Arial"/>
            </a:endParaRPr>
          </a:p>
        </p:txBody>
      </p:sp>
      <p:graphicFrame>
        <p:nvGraphicFramePr>
          <p:cNvPr id="252" name="Group 52"/>
          <p:cNvGraphicFramePr/>
          <p:nvPr/>
        </p:nvGraphicFramePr>
        <p:xfrm>
          <a:off x="2209680" y="1371600"/>
          <a:ext cx="7675200" cy="4270200"/>
        </p:xfrm>
        <a:graphic>
          <a:graphicData uri="http://schemas.openxmlformats.org/drawingml/2006/table">
            <a:tbl>
              <a:tblPr/>
              <a:tblGrid>
                <a:gridCol w="3235680">
                  <a:extLst>
                    <a:ext uri="{9D8B030D-6E8A-4147-A177-3AD203B41FA5}">
                      <a16:colId xmlns:a16="http://schemas.microsoft.com/office/drawing/2014/main" val="20000"/>
                    </a:ext>
                  </a:extLst>
                </a:gridCol>
                <a:gridCol w="4439520">
                  <a:extLst>
                    <a:ext uri="{9D8B030D-6E8A-4147-A177-3AD203B41FA5}">
                      <a16:colId xmlns:a16="http://schemas.microsoft.com/office/drawing/2014/main" val="20001"/>
                    </a:ext>
                  </a:extLst>
                </a:gridCol>
              </a:tblGrid>
              <a:tr h="374040">
                <a:tc>
                  <a:txBody>
                    <a:bodyPr/>
                    <a:lstStyle/>
                    <a:p>
                      <a:pPr>
                        <a:lnSpc>
                          <a:spcPct val="100000"/>
                        </a:lnSpc>
                        <a:spcBef>
                          <a:spcPts val="400"/>
                        </a:spcBef>
                        <a:tabLst>
                          <a:tab pos="0" algn="l"/>
                        </a:tabLst>
                      </a:pPr>
                      <a:r>
                        <a:rPr lang="en-US" sz="2000" b="0" u="sng" strike="noStrike" spc="-1">
                          <a:solidFill>
                            <a:srgbClr val="000000"/>
                          </a:solidFill>
                          <a:uFillTx/>
                          <a:latin typeface="Arial"/>
                        </a:rPr>
                        <a:t>Type</a:t>
                      </a:r>
                      <a:endParaRPr lang="en-US" sz="2000" b="0" strike="noStrike" spc="-1">
                        <a:solidFill>
                          <a:srgbClr val="000000"/>
                        </a:solidFill>
                        <a:latin typeface="Arial"/>
                      </a:endParaRP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u="sng" strike="noStrike" spc="-1">
                          <a:solidFill>
                            <a:srgbClr val="000000"/>
                          </a:solidFill>
                          <a:uFillTx/>
                          <a:latin typeface="Arial"/>
                        </a:rPr>
                        <a:t>Description</a:t>
                      </a:r>
                      <a:endParaRPr lang="en-US" sz="2000" b="0" strike="noStrike" spc="-1">
                        <a:solidFill>
                          <a:srgbClr val="000000"/>
                        </a:solidFill>
                        <a:latin typeface="Arial"/>
                      </a:endParaRP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0"/>
                  </a:ext>
                </a:extLst>
              </a:tr>
              <a:tr h="673560">
                <a:tc>
                  <a:txBody>
                    <a:bodyPr/>
                    <a:lstStyle/>
                    <a:p>
                      <a:pPr>
                        <a:lnSpc>
                          <a:spcPct val="100000"/>
                        </a:lnSpc>
                        <a:spcBef>
                          <a:spcPts val="400"/>
                        </a:spcBef>
                        <a:tabLst>
                          <a:tab pos="0" algn="l"/>
                        </a:tabLst>
                      </a:pPr>
                      <a:r>
                        <a:rPr lang="en-US" sz="2000" b="0" strike="noStrike" spc="-1">
                          <a:solidFill>
                            <a:srgbClr val="000000"/>
                          </a:solidFill>
                          <a:latin typeface="Arial"/>
                        </a:rPr>
                        <a:t>Boolean</a:t>
                      </a: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strike="noStrike" spc="-1">
                          <a:solidFill>
                            <a:srgbClr val="000000"/>
                          </a:solidFill>
                          <a:latin typeface="Arial"/>
                        </a:rPr>
                        <a:t>One of the special values true or false</a:t>
                      </a: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1"/>
                  </a:ext>
                </a:extLst>
              </a:tr>
              <a:tr h="374040">
                <a:tc>
                  <a:txBody>
                    <a:bodyPr/>
                    <a:lstStyle/>
                    <a:p>
                      <a:pPr>
                        <a:lnSpc>
                          <a:spcPct val="100000"/>
                        </a:lnSpc>
                        <a:spcBef>
                          <a:spcPts val="400"/>
                        </a:spcBef>
                        <a:tabLst>
                          <a:tab pos="0" algn="l"/>
                        </a:tabLst>
                      </a:pPr>
                      <a:r>
                        <a:rPr lang="en-US" sz="2000" b="0" strike="noStrike" spc="-1">
                          <a:solidFill>
                            <a:srgbClr val="000000"/>
                          </a:solidFill>
                          <a:latin typeface="Arial"/>
                        </a:rPr>
                        <a:t>Object</a:t>
                      </a: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strike="noStrike" spc="-1" dirty="0">
                          <a:solidFill>
                            <a:srgbClr val="000000"/>
                          </a:solidFill>
                          <a:latin typeface="Arial"/>
                        </a:rPr>
                        <a:t>Instance of class</a:t>
                      </a: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673560">
                <a:tc>
                  <a:txBody>
                    <a:bodyPr/>
                    <a:lstStyle/>
                    <a:p>
                      <a:pPr>
                        <a:lnSpc>
                          <a:spcPct val="100000"/>
                        </a:lnSpc>
                        <a:spcBef>
                          <a:spcPts val="400"/>
                        </a:spcBef>
                        <a:tabLst>
                          <a:tab pos="0" algn="l"/>
                        </a:tabLst>
                      </a:pPr>
                      <a:r>
                        <a:rPr lang="en-US" sz="2000" b="0" strike="noStrike" spc="-1">
                          <a:solidFill>
                            <a:srgbClr val="000000"/>
                          </a:solidFill>
                          <a:latin typeface="Arial"/>
                        </a:rPr>
                        <a:t>Array</a:t>
                      </a: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strike="noStrike" spc="-1" dirty="0">
                          <a:solidFill>
                            <a:srgbClr val="000000"/>
                          </a:solidFill>
                          <a:latin typeface="Arial"/>
                        </a:rPr>
                        <a:t>List of elements (indexed or associative)</a:t>
                      </a: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3"/>
                  </a:ext>
                </a:extLst>
              </a:tr>
              <a:tr h="973080">
                <a:tc>
                  <a:txBody>
                    <a:bodyPr/>
                    <a:lstStyle/>
                    <a:p>
                      <a:pPr>
                        <a:lnSpc>
                          <a:spcPct val="100000"/>
                        </a:lnSpc>
                        <a:spcBef>
                          <a:spcPts val="400"/>
                        </a:spcBef>
                        <a:tabLst>
                          <a:tab pos="0" algn="l"/>
                        </a:tabLst>
                      </a:pPr>
                      <a:r>
                        <a:rPr lang="en-US" sz="2000" b="0" strike="noStrike" spc="-1">
                          <a:solidFill>
                            <a:srgbClr val="000000"/>
                          </a:solidFill>
                          <a:latin typeface="Arial"/>
                        </a:rPr>
                        <a:t>Resource</a:t>
                      </a: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strike="noStrike" spc="-1" dirty="0">
                          <a:solidFill>
                            <a:srgbClr val="000000"/>
                          </a:solidFill>
                          <a:latin typeface="Arial"/>
                        </a:rPr>
                        <a:t>Reference to a third-party resource (a handle database connection, for example)</a:t>
                      </a: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4"/>
                  </a:ext>
                </a:extLst>
              </a:tr>
              <a:tr h="374040">
                <a:tc>
                  <a:txBody>
                    <a:bodyPr/>
                    <a:lstStyle/>
                    <a:p>
                      <a:pPr>
                        <a:lnSpc>
                          <a:spcPct val="100000"/>
                        </a:lnSpc>
                        <a:spcBef>
                          <a:spcPts val="400"/>
                        </a:spcBef>
                        <a:tabLst>
                          <a:tab pos="0" algn="l"/>
                        </a:tabLst>
                      </a:pPr>
                      <a:r>
                        <a:rPr lang="en-US" sz="2000" b="0" strike="noStrike" spc="-1">
                          <a:solidFill>
                            <a:srgbClr val="000000"/>
                          </a:solidFill>
                          <a:latin typeface="Arial"/>
                        </a:rPr>
                        <a:t>NULL</a:t>
                      </a: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strike="noStrike" spc="-1">
                          <a:solidFill>
                            <a:srgbClr val="000000"/>
                          </a:solidFill>
                          <a:latin typeface="Arial"/>
                        </a:rPr>
                        <a:t>An uninitialized variable</a:t>
                      </a: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5"/>
                  </a:ext>
                </a:extLst>
              </a:tr>
              <a:tr h="673560">
                <a:tc>
                  <a:txBody>
                    <a:bodyPr/>
                    <a:lstStyle/>
                    <a:p>
                      <a:pPr>
                        <a:lnSpc>
                          <a:spcPct val="100000"/>
                        </a:lnSpc>
                        <a:spcBef>
                          <a:spcPts val="400"/>
                        </a:spcBef>
                        <a:tabLst>
                          <a:tab pos="0" algn="l"/>
                        </a:tabLst>
                      </a:pPr>
                      <a:r>
                        <a:rPr lang="en-US" sz="2000" b="0" strike="noStrike" spc="-1">
                          <a:solidFill>
                            <a:srgbClr val="000000"/>
                          </a:solidFill>
                          <a:latin typeface="Arial"/>
                        </a:rPr>
                        <a:t>Constants</a:t>
                      </a:r>
                    </a:p>
                  </a:txBody>
                  <a:tcPr marL="90000" marR="90000">
                    <a:lnL w="12240">
                      <a:noFill/>
                      <a:prstDash val="solid"/>
                    </a:lnL>
                    <a:lnR w="12240">
                      <a:noFill/>
                      <a:prstDash val="solid"/>
                    </a:lnR>
                    <a:lnT w="12240">
                      <a:noFill/>
                      <a:prstDash val="solid"/>
                    </a:lnT>
                    <a:lnB w="12240">
                      <a:noFill/>
                      <a:prstDash val="solid"/>
                    </a:lnB>
                    <a:noFill/>
                  </a:tcPr>
                </a:tc>
                <a:tc>
                  <a:txBody>
                    <a:bodyPr/>
                    <a:lstStyle/>
                    <a:p>
                      <a:pPr>
                        <a:lnSpc>
                          <a:spcPct val="100000"/>
                        </a:lnSpc>
                        <a:spcBef>
                          <a:spcPts val="400"/>
                        </a:spcBef>
                        <a:tabLst>
                          <a:tab pos="0" algn="l"/>
                        </a:tabLst>
                      </a:pPr>
                      <a:r>
                        <a:rPr lang="en-US" sz="2000" b="0" strike="noStrike" spc="-1" dirty="0">
                          <a:solidFill>
                            <a:srgbClr val="000000"/>
                          </a:solidFill>
                          <a:latin typeface="Arial"/>
                        </a:rPr>
                        <a:t>Unalterable values represented by an identifier</a:t>
                      </a:r>
                    </a:p>
                  </a:txBody>
                  <a:tcPr marL="90000" marR="90000">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6"/>
                  </a:ext>
                </a:extLst>
              </a:tr>
            </a:tbl>
          </a:graphicData>
        </a:graphic>
      </p:graphicFrame>
      <p:sp>
        <p:nvSpPr>
          <p:cNvPr id="253" name="PlaceHolder 2"/>
          <p:cNvSpPr>
            <a:spLocks noGrp="1"/>
          </p:cNvSpPr>
          <p:nvPr>
            <p:ph type="sldNum" idx="22"/>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1C75228F-A4D7-4C9D-9F2E-849853B12E14}" type="slidenum">
              <a:rPr lang="en-US" sz="810" b="0" strike="noStrike" spc="-1">
                <a:solidFill>
                  <a:srgbClr val="D9D9D9"/>
                </a:solidFill>
                <a:latin typeface="Arial"/>
              </a:rPr>
              <a:t>40</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3000"/>
    </mc:Choice>
    <mc:Fallback xmlns="" xmlns:p15="http://schemas.microsoft.com/office/powerpoint/2012/main">
      <p:transition spd="slow" advTm="23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Strings</a:t>
            </a:r>
            <a:endParaRPr lang="en-US" sz="3959" b="0" strike="noStrike" spc="-1">
              <a:solidFill>
                <a:srgbClr val="FFFFFF"/>
              </a:solidFill>
              <a:latin typeface="Arial"/>
            </a:endParaRPr>
          </a:p>
        </p:txBody>
      </p:sp>
      <p:graphicFrame>
        <p:nvGraphicFramePr>
          <p:cNvPr id="255" name="Group 68"/>
          <p:cNvGraphicFramePr/>
          <p:nvPr/>
        </p:nvGraphicFramePr>
        <p:xfrm>
          <a:off x="3733920" y="3124080"/>
          <a:ext cx="6933960" cy="3200400"/>
        </p:xfrm>
        <a:graphic>
          <a:graphicData uri="http://schemas.openxmlformats.org/drawingml/2006/table">
            <a:tbl>
              <a:tblPr/>
              <a:tblGrid>
                <a:gridCol w="259056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85560">
                <a:tc gridSpan="2">
                  <a:txBody>
                    <a:bodyPr/>
                    <a:lstStyle/>
                    <a:p>
                      <a:endParaRPr lang="en-CA" sz="2400" b="0" u="sng" strike="noStrike" spc="-1">
                        <a:solidFill>
                          <a:srgbClr val="FFFFFF"/>
                        </a:solidFill>
                        <a:uFillTx/>
                        <a:latin typeface="Arial"/>
                      </a:endParaRPr>
                    </a:p>
                  </a:txBody>
                  <a:tcPr>
                    <a:lnL w="12240">
                      <a:noFill/>
                      <a:prstDash val="solid"/>
                    </a:lnL>
                    <a:lnR w="12240">
                      <a:noFill/>
                      <a:prstDash val="solid"/>
                    </a:lnR>
                    <a:lnT w="12240">
                      <a:noFill/>
                      <a:prstDash val="solid"/>
                    </a:lnT>
                    <a:lnB w="12240">
                      <a:noFill/>
                      <a:prstDash val="solid"/>
                    </a:lnB>
                    <a:noFill/>
                  </a:tcPr>
                </a:tc>
                <a:tc hMerge="1">
                  <a:txBody>
                    <a:bodyPr/>
                    <a:lstStyle/>
                    <a:p>
                      <a:endParaRPr lang="en-US" sz="1800" b="0" strike="noStrike" spc="-1">
                        <a:solidFill>
                          <a:srgbClr val="000000"/>
                        </a:solidFill>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85560">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1"/>
                  </a:ext>
                </a:extLst>
              </a:tr>
              <a:tr h="385560">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387000">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3"/>
                  </a:ext>
                </a:extLst>
              </a:tr>
              <a:tr h="385560">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4"/>
                  </a:ext>
                </a:extLst>
              </a:tr>
              <a:tr h="385560">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5"/>
                  </a:ext>
                </a:extLst>
              </a:tr>
              <a:tr h="385560">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tc>
                  <a:txBody>
                    <a:bodyPr/>
                    <a:lstStyle/>
                    <a:p>
                      <a:endParaRPr lang="en-CA" sz="2400" b="0" strike="noStrike" spc="-1">
                        <a:solidFill>
                          <a:srgbClr val="FFFFFF"/>
                        </a:solidFill>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6"/>
                  </a:ext>
                </a:extLst>
              </a:tr>
            </a:tbl>
          </a:graphicData>
        </a:graphic>
      </p:graphicFrame>
      <p:sp>
        <p:nvSpPr>
          <p:cNvPr id="256" name="PlaceHolder 2"/>
          <p:cNvSpPr>
            <a:spLocks noGrp="1"/>
          </p:cNvSpPr>
          <p:nvPr>
            <p:ph type="sldNum" idx="23"/>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B495BA57-13E8-4C5A-AC30-143B56405B15}" type="slidenum">
              <a:rPr lang="en-US" sz="810" b="0" strike="noStrike" spc="-1">
                <a:solidFill>
                  <a:srgbClr val="D9D9D9"/>
                </a:solidFill>
                <a:latin typeface="Arial"/>
              </a:rPr>
              <a:t>41</a:t>
            </a:fld>
            <a:endParaRPr lang="en-US" sz="810" b="0" strike="noStrike" spc="-1">
              <a:solidFill>
                <a:srgbClr val="000000"/>
              </a:solidFill>
              <a:latin typeface="Times New Roman"/>
            </a:endParaRPr>
          </a:p>
        </p:txBody>
      </p:sp>
      <p:sp>
        <p:nvSpPr>
          <p:cNvPr id="257" name="PlaceHolder 3"/>
          <p:cNvSpPr>
            <a:spLocks noGrp="1"/>
          </p:cNvSpPr>
          <p:nvPr>
            <p:ph/>
          </p:nvPr>
        </p:nvSpPr>
        <p:spPr>
          <a:xfrm>
            <a:off x="1959120" y="1825560"/>
            <a:ext cx="10232640" cy="4071600"/>
          </a:xfrm>
          <a:prstGeom prst="rect">
            <a:avLst/>
          </a:prstGeom>
          <a:noFill/>
          <a:ln w="0">
            <a:noFill/>
          </a:ln>
        </p:spPr>
        <p:txBody>
          <a:bodyPr anchor="t">
            <a:normAutofit/>
          </a:bodyPr>
          <a:lstStyle/>
          <a:p>
            <a:pPr marL="154440" indent="-154440">
              <a:lnSpc>
                <a:spcPct val="80000"/>
              </a:lnSpc>
              <a:spcBef>
                <a:spcPts val="675"/>
              </a:spcBef>
              <a:buClr>
                <a:srgbClr val="000000"/>
              </a:buClr>
              <a:buFont typeface="Arial"/>
              <a:buChar char="•"/>
            </a:pPr>
            <a:r>
              <a:rPr lang="en-US" sz="2000" b="1" strike="noStrike" spc="-1" dirty="0">
                <a:solidFill>
                  <a:srgbClr val="000000"/>
                </a:solidFill>
                <a:latin typeface="Courier New"/>
              </a:rPr>
              <a:t>print "My Homepage";</a:t>
            </a:r>
            <a:endParaRPr lang="en-US" sz="2000" b="0" strike="noStrike" spc="-1" dirty="0">
              <a:solidFill>
                <a:srgbClr val="000000"/>
              </a:solidFill>
              <a:latin typeface="Arial"/>
            </a:endParaRPr>
          </a:p>
          <a:p>
            <a:pPr marL="154440" indent="-154440">
              <a:lnSpc>
                <a:spcPct val="80000"/>
              </a:lnSpc>
              <a:spcBef>
                <a:spcPts val="675"/>
              </a:spcBef>
              <a:buClr>
                <a:srgbClr val="000000"/>
              </a:buClr>
              <a:buFont typeface="Arial"/>
              <a:buChar char="•"/>
            </a:pPr>
            <a:r>
              <a:rPr lang="en-US" sz="2000" b="1" strike="noStrike" spc="-1" dirty="0">
                <a:solidFill>
                  <a:srgbClr val="000000"/>
                </a:solidFill>
                <a:latin typeface="Courier New"/>
              </a:rPr>
              <a:t>print 'My Homepage';</a:t>
            </a:r>
            <a:endParaRPr lang="en-US" sz="2000" b="0" strike="noStrike" spc="-1" dirty="0">
              <a:solidFill>
                <a:srgbClr val="000000"/>
              </a:solidFill>
              <a:latin typeface="Arial"/>
            </a:endParaRPr>
          </a:p>
          <a:p>
            <a:pPr marL="154440" indent="-154440">
              <a:lnSpc>
                <a:spcPct val="80000"/>
              </a:lnSpc>
              <a:spcBef>
                <a:spcPts val="675"/>
              </a:spcBef>
              <a:buClr>
                <a:srgbClr val="000000"/>
              </a:buClr>
              <a:buFont typeface="Arial"/>
              <a:buChar char="•"/>
            </a:pPr>
            <a:r>
              <a:rPr lang="en-US" sz="2000" b="1" strike="noStrike" spc="-1" dirty="0">
                <a:solidFill>
                  <a:srgbClr val="000000"/>
                </a:solidFill>
                <a:latin typeface="Courier New"/>
              </a:rPr>
              <a:t>print 'Darryl\'s Homepage';</a:t>
            </a:r>
            <a:endParaRPr lang="en-US" sz="2000" b="0" strike="noStrike" spc="-1" dirty="0">
              <a:solidFill>
                <a:srgbClr val="000000"/>
              </a:solidFill>
              <a:latin typeface="Arial"/>
            </a:endParaRPr>
          </a:p>
          <a:p>
            <a:pPr marL="154440" indent="-154440">
              <a:lnSpc>
                <a:spcPct val="80000"/>
              </a:lnSpc>
              <a:spcBef>
                <a:spcPts val="675"/>
              </a:spcBef>
              <a:buClr>
                <a:srgbClr val="000000"/>
              </a:buClr>
              <a:buFont typeface="Arial"/>
              <a:buChar char="•"/>
            </a:pPr>
            <a:r>
              <a:rPr lang="en-US" sz="2000" b="1" strike="noStrike" spc="-1" dirty="0">
                <a:solidFill>
                  <a:srgbClr val="000000"/>
                </a:solidFill>
                <a:latin typeface="Courier New"/>
              </a:rPr>
              <a:t>print "Darryl's Homepage";</a:t>
            </a:r>
            <a:endParaRPr lang="en-US" sz="2000" b="0" strike="noStrike" spc="-1" dirty="0">
              <a:solidFill>
                <a:srgbClr val="000000"/>
              </a:solidFill>
              <a:latin typeface="Arial"/>
            </a:endParaRPr>
          </a:p>
          <a:p>
            <a:pPr marL="154440" indent="0">
              <a:lnSpc>
                <a:spcPct val="80000"/>
              </a:lnSpc>
              <a:spcBef>
                <a:spcPts val="675"/>
              </a:spcBef>
              <a:buNone/>
              <a:tabLst>
                <a:tab pos="0" algn="l"/>
              </a:tabLst>
            </a:pPr>
            <a:endParaRPr lang="en-US" sz="2000" b="0" strike="noStrike" spc="-1" dirty="0">
              <a:solidFill>
                <a:srgbClr val="000000"/>
              </a:solidFill>
              <a:latin typeface="Arial"/>
            </a:endParaRPr>
          </a:p>
          <a:p>
            <a:pPr marL="154440" indent="0">
              <a:lnSpc>
                <a:spcPct val="80000"/>
              </a:lnSpc>
              <a:spcBef>
                <a:spcPts val="675"/>
              </a:spcBef>
              <a:buNone/>
              <a:tabLst>
                <a:tab pos="0" algn="l"/>
              </a:tabLst>
            </a:pPr>
            <a:r>
              <a:rPr lang="en-US" sz="2000" b="0" u="sng" strike="noStrike" spc="-1" dirty="0">
                <a:solidFill>
                  <a:srgbClr val="000000"/>
                </a:solidFill>
                <a:uFillTx/>
                <a:latin typeface="Arial"/>
              </a:rPr>
              <a:t>Special Characters</a:t>
            </a:r>
            <a:endParaRPr lang="en-US" sz="2000" b="0" strike="noStrike" spc="-1" dirty="0">
              <a:solidFill>
                <a:srgbClr val="000000"/>
              </a:solidFill>
              <a:latin typeface="Arial"/>
            </a:endParaRPr>
          </a:p>
          <a:p>
            <a:pPr marL="154440" indent="0">
              <a:lnSpc>
                <a:spcPct val="80000"/>
              </a:lnSpc>
              <a:spcBef>
                <a:spcPts val="675"/>
              </a:spcBef>
              <a:buNone/>
              <a:tabLst>
                <a:tab pos="0" algn="l"/>
              </a:tabLst>
            </a:pPr>
            <a:r>
              <a:rPr lang="en-US" sz="2000" b="0" strike="noStrike" spc="-1" dirty="0">
                <a:solidFill>
                  <a:srgbClr val="000000"/>
                </a:solidFill>
                <a:latin typeface="Arial"/>
              </a:rPr>
              <a:t>\n		New line</a:t>
            </a:r>
          </a:p>
          <a:p>
            <a:pPr marL="154440" indent="0">
              <a:lnSpc>
                <a:spcPct val="80000"/>
              </a:lnSpc>
              <a:spcBef>
                <a:spcPts val="675"/>
              </a:spcBef>
              <a:buNone/>
              <a:tabLst>
                <a:tab pos="0" algn="l"/>
              </a:tabLst>
            </a:pPr>
            <a:r>
              <a:rPr lang="en-US" sz="2000" b="0" strike="noStrike" spc="-1" dirty="0">
                <a:solidFill>
                  <a:srgbClr val="000000"/>
                </a:solidFill>
                <a:latin typeface="Arial"/>
              </a:rPr>
              <a:t>\t		Horizontal Tab</a:t>
            </a:r>
          </a:p>
          <a:p>
            <a:pPr marL="154440" indent="0">
              <a:lnSpc>
                <a:spcPct val="80000"/>
              </a:lnSpc>
              <a:spcBef>
                <a:spcPts val="675"/>
              </a:spcBef>
              <a:buNone/>
              <a:tabLst>
                <a:tab pos="0" algn="l"/>
              </a:tabLst>
            </a:pPr>
            <a:r>
              <a:rPr lang="en-US" sz="2000" b="0" strike="noStrike" spc="-1" dirty="0">
                <a:solidFill>
                  <a:srgbClr val="000000"/>
                </a:solidFill>
                <a:latin typeface="Arial"/>
              </a:rPr>
              <a:t>\\		Backslash</a:t>
            </a:r>
          </a:p>
          <a:p>
            <a:pPr marL="154440" indent="0">
              <a:lnSpc>
                <a:spcPct val="80000"/>
              </a:lnSpc>
              <a:spcBef>
                <a:spcPts val="675"/>
              </a:spcBef>
              <a:buNone/>
              <a:tabLst>
                <a:tab pos="0" algn="l"/>
              </a:tabLst>
            </a:pPr>
            <a:r>
              <a:rPr lang="en-US" sz="2000" b="0" strike="noStrike" spc="-1" dirty="0">
                <a:solidFill>
                  <a:srgbClr val="000000"/>
                </a:solidFill>
                <a:latin typeface="Arial"/>
              </a:rPr>
              <a:t>\$		Dollar Sign</a:t>
            </a:r>
          </a:p>
          <a:p>
            <a:pPr marL="154440" indent="0">
              <a:lnSpc>
                <a:spcPct val="80000"/>
              </a:lnSpc>
              <a:spcBef>
                <a:spcPts val="675"/>
              </a:spcBef>
              <a:buNone/>
              <a:tabLst>
                <a:tab pos="0" algn="l"/>
              </a:tabLst>
            </a:pPr>
            <a:r>
              <a:rPr lang="en-US" sz="2000" b="0" strike="noStrike" spc="-1" dirty="0">
                <a:solidFill>
                  <a:srgbClr val="000000"/>
                </a:solidFill>
                <a:latin typeface="Arial"/>
              </a:rPr>
              <a:t>\”		Double Quotation Mark</a:t>
            </a:r>
          </a:p>
        </p:txBody>
      </p:sp>
    </p:spTree>
  </p:cSld>
  <p:clrMapOvr>
    <a:masterClrMapping/>
  </p:clrMapOvr>
  <mc:AlternateContent xmlns:mc="http://schemas.openxmlformats.org/markup-compatibility/2006" xmlns:p14="http://schemas.microsoft.com/office/powerpoint/2010/main">
    <mc:Choice Requires="p14">
      <p:transition spd="slow" p14:dur="2000" advTm="36000"/>
    </mc:Choice>
    <mc:Fallback xmlns="" xmlns:p15="http://schemas.microsoft.com/office/powerpoint/2012/main">
      <p:transition spd="slow" advTm="36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Strings</a:t>
            </a:r>
            <a:endParaRPr lang="en-US" sz="3959" b="0" strike="noStrike" spc="-1">
              <a:solidFill>
                <a:srgbClr val="FFFFFF"/>
              </a:solidFill>
              <a:latin typeface="Arial"/>
            </a:endParaRPr>
          </a:p>
        </p:txBody>
      </p:sp>
      <p:sp>
        <p:nvSpPr>
          <p:cNvPr id="259"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String Literals are in ‘Single Quotation Marks’</a:t>
            </a:r>
          </a:p>
          <a:p>
            <a:pPr marL="462960" lvl="1" indent="-154440">
              <a:lnSpc>
                <a:spcPct val="90000"/>
              </a:lnSpc>
              <a:spcBef>
                <a:spcPts val="337"/>
              </a:spcBef>
              <a:buClr>
                <a:srgbClr val="000000"/>
              </a:buClr>
              <a:buFont typeface="Arial"/>
              <a:buChar char="•"/>
            </a:pPr>
            <a:r>
              <a:rPr lang="en-US" sz="2520" b="0" strike="noStrike" spc="-1" dirty="0">
                <a:solidFill>
                  <a:srgbClr val="000000"/>
                </a:solidFill>
                <a:latin typeface="Arial"/>
              </a:rPr>
              <a:t>These are true literals</a:t>
            </a:r>
          </a:p>
          <a:p>
            <a:pPr marL="462960" lvl="1" indent="-154440">
              <a:lnSpc>
                <a:spcPct val="90000"/>
              </a:lnSpc>
              <a:spcBef>
                <a:spcPts val="337"/>
              </a:spcBef>
              <a:buClr>
                <a:srgbClr val="000000"/>
              </a:buClr>
              <a:buFont typeface="Arial"/>
              <a:buChar char="•"/>
            </a:pPr>
            <a:r>
              <a:rPr lang="en-US" sz="2520" b="0" strike="noStrike" spc="-1" dirty="0">
                <a:solidFill>
                  <a:srgbClr val="000000"/>
                </a:solidFill>
                <a:latin typeface="Arial"/>
              </a:rPr>
              <a:t>No evaluation is done by the PHP engine so that variables in the middle are not substituted</a:t>
            </a:r>
          </a:p>
        </p:txBody>
      </p:sp>
      <p:sp>
        <p:nvSpPr>
          <p:cNvPr id="260" name="PlaceHolder 3"/>
          <p:cNvSpPr>
            <a:spLocks noGrp="1"/>
          </p:cNvSpPr>
          <p:nvPr>
            <p:ph type="sldNum" idx="24"/>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BC969D19-1E70-46CD-B22A-70D838DC4031}" type="slidenum">
              <a:rPr lang="en-US" sz="810" b="0" strike="noStrike" spc="-1">
                <a:solidFill>
                  <a:srgbClr val="D9D9D9"/>
                </a:solidFill>
                <a:latin typeface="Arial"/>
              </a:rPr>
              <a:t>42</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1000"/>
    </mc:Choice>
    <mc:Fallback xmlns="" xmlns:p15="http://schemas.microsoft.com/office/powerpoint/2012/main">
      <p:transition spd="slow" advTm="11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Determining a Variable's Type</a:t>
            </a:r>
            <a:endParaRPr lang="en-US" sz="3959" b="0" strike="noStrike" spc="-1">
              <a:solidFill>
                <a:srgbClr val="FFFFFF"/>
              </a:solidFill>
              <a:latin typeface="Arial"/>
            </a:endParaRPr>
          </a:p>
        </p:txBody>
      </p:sp>
      <p:sp>
        <p:nvSpPr>
          <p:cNvPr id="262"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1" strike="noStrike" spc="-1" dirty="0">
                <a:solidFill>
                  <a:srgbClr val="000000"/>
                </a:solidFill>
                <a:latin typeface="Courier New"/>
              </a:rPr>
              <a:t>print </a:t>
            </a:r>
            <a:r>
              <a:rPr lang="en-US" sz="2880" b="1" strike="noStrike" spc="-1" dirty="0" err="1">
                <a:solidFill>
                  <a:srgbClr val="000000"/>
                </a:solidFill>
                <a:latin typeface="Courier New"/>
              </a:rPr>
              <a:t>gettype</a:t>
            </a:r>
            <a:r>
              <a:rPr lang="en-US" sz="2880" b="1" strike="noStrike" spc="-1" dirty="0">
                <a:solidFill>
                  <a:srgbClr val="000000"/>
                </a:solidFill>
                <a:latin typeface="Courier New"/>
              </a:rPr>
              <a:t>($test);</a:t>
            </a:r>
            <a:endParaRPr lang="en-US" sz="288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1" strike="noStrike" spc="-1" dirty="0">
                <a:solidFill>
                  <a:srgbClr val="000000"/>
                </a:solidFill>
                <a:latin typeface="Courier New"/>
              </a:rPr>
              <a:t>print </a:t>
            </a:r>
            <a:r>
              <a:rPr lang="en-US" sz="2880" b="1" strike="noStrike" spc="-1" dirty="0" err="1">
                <a:solidFill>
                  <a:srgbClr val="000000"/>
                </a:solidFill>
                <a:latin typeface="Courier New"/>
              </a:rPr>
              <a:t>is_int</a:t>
            </a:r>
            <a:r>
              <a:rPr lang="en-US" sz="2880" b="1" strike="noStrike" spc="-1" dirty="0">
                <a:solidFill>
                  <a:srgbClr val="000000"/>
                </a:solidFill>
                <a:latin typeface="Courier New"/>
              </a:rPr>
              <a:t>($test);</a:t>
            </a:r>
            <a:endParaRPr lang="en-US" sz="288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US" sz="2520" b="0" strike="noStrike" spc="-1" dirty="0">
                <a:solidFill>
                  <a:srgbClr val="000000"/>
                </a:solidFill>
                <a:latin typeface="Arial"/>
              </a:rPr>
              <a:t>Also </a:t>
            </a:r>
            <a:r>
              <a:rPr lang="en-US" sz="2520" b="0" strike="noStrike" spc="-1" dirty="0" err="1">
                <a:solidFill>
                  <a:srgbClr val="000000"/>
                </a:solidFill>
                <a:latin typeface="Arial"/>
              </a:rPr>
              <a:t>is_double</a:t>
            </a:r>
            <a:r>
              <a:rPr lang="en-US" sz="2520" b="0" strike="noStrike" spc="-1" dirty="0">
                <a:solidFill>
                  <a:srgbClr val="000000"/>
                </a:solidFill>
                <a:latin typeface="Arial"/>
              </a:rPr>
              <a:t>, </a:t>
            </a:r>
            <a:r>
              <a:rPr lang="en-US" sz="2520" b="0" strike="noStrike" spc="-1" dirty="0" err="1">
                <a:solidFill>
                  <a:srgbClr val="000000"/>
                </a:solidFill>
                <a:latin typeface="Arial"/>
              </a:rPr>
              <a:t>is_bool</a:t>
            </a:r>
            <a:r>
              <a:rPr lang="en-US" sz="2520" b="0" strike="noStrike" spc="-1" dirty="0">
                <a:solidFill>
                  <a:srgbClr val="000000"/>
                </a:solidFill>
                <a:latin typeface="Arial"/>
              </a:rPr>
              <a:t>, </a:t>
            </a:r>
            <a:r>
              <a:rPr lang="en-US" sz="2520" b="0" strike="noStrike" spc="-1" dirty="0" err="1">
                <a:solidFill>
                  <a:srgbClr val="000000"/>
                </a:solidFill>
                <a:latin typeface="Arial"/>
              </a:rPr>
              <a:t>is_null</a:t>
            </a:r>
            <a:r>
              <a:rPr lang="en-US" sz="2520" b="0" strike="noStrike" spc="-1" dirty="0">
                <a:solidFill>
                  <a:srgbClr val="000000"/>
                </a:solidFill>
                <a:latin typeface="Arial"/>
              </a:rPr>
              <a:t>, </a:t>
            </a:r>
            <a:r>
              <a:rPr lang="en-US" sz="2520" b="0" strike="noStrike" spc="-1" dirty="0" err="1">
                <a:solidFill>
                  <a:srgbClr val="000000"/>
                </a:solidFill>
                <a:latin typeface="Arial"/>
              </a:rPr>
              <a:t>is_string</a:t>
            </a:r>
            <a:r>
              <a:rPr lang="en-US" sz="2520" b="0" strike="noStrike" spc="-1" dirty="0">
                <a:solidFill>
                  <a:srgbClr val="000000"/>
                </a:solidFill>
                <a:latin typeface="Arial"/>
              </a:rPr>
              <a:t>, </a:t>
            </a:r>
            <a:r>
              <a:rPr lang="en-US" sz="2520" b="0" strike="noStrike" spc="-1" dirty="0" err="1">
                <a:solidFill>
                  <a:srgbClr val="000000"/>
                </a:solidFill>
                <a:latin typeface="Arial"/>
              </a:rPr>
              <a:t>is_array</a:t>
            </a:r>
            <a:r>
              <a:rPr lang="en-US" sz="2520" b="0" strike="noStrike" spc="-1" dirty="0">
                <a:solidFill>
                  <a:srgbClr val="000000"/>
                </a:solidFill>
                <a:latin typeface="Arial"/>
              </a:rPr>
              <a:t>, </a:t>
            </a:r>
            <a:r>
              <a:rPr lang="en-US" sz="2520" b="0" strike="noStrike" spc="-1" dirty="0" err="1">
                <a:solidFill>
                  <a:srgbClr val="000000"/>
                </a:solidFill>
                <a:latin typeface="Arial"/>
              </a:rPr>
              <a:t>is_object</a:t>
            </a:r>
            <a:r>
              <a:rPr lang="en-US" sz="2520" b="0" strike="noStrike" spc="-1" dirty="0">
                <a:solidFill>
                  <a:srgbClr val="000000"/>
                </a:solidFill>
                <a:latin typeface="Arial"/>
              </a:rPr>
              <a:t>, </a:t>
            </a:r>
            <a:r>
              <a:rPr lang="en-US" sz="2520" b="0" strike="noStrike" spc="-1" dirty="0" err="1">
                <a:solidFill>
                  <a:srgbClr val="000000"/>
                </a:solidFill>
                <a:latin typeface="Arial"/>
              </a:rPr>
              <a:t>is_resource</a:t>
            </a:r>
            <a:endParaRPr lang="en-US" sz="2520" b="0" strike="noStrike" spc="-1" dirty="0">
              <a:solidFill>
                <a:srgbClr val="000000"/>
              </a:solidFill>
              <a:latin typeface="Arial"/>
            </a:endParaRPr>
          </a:p>
          <a:p>
            <a:pPr indent="0">
              <a:lnSpc>
                <a:spcPct val="90000"/>
              </a:lnSpc>
              <a:spcBef>
                <a:spcPts val="675"/>
              </a:spcBef>
              <a:buNone/>
            </a:pPr>
            <a:endParaRPr lang="en-US" sz="288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880" b="1" strike="noStrike" spc="-1" dirty="0" err="1">
                <a:solidFill>
                  <a:srgbClr val="000000"/>
                </a:solidFill>
                <a:latin typeface="Courier New"/>
              </a:rPr>
              <a:t>settype</a:t>
            </a:r>
            <a:r>
              <a:rPr lang="en-US" sz="2880" b="1" strike="noStrike" spc="-1" dirty="0">
                <a:solidFill>
                  <a:srgbClr val="000000"/>
                </a:solidFill>
                <a:latin typeface="Courier New"/>
              </a:rPr>
              <a:t>($</a:t>
            </a:r>
            <a:r>
              <a:rPr lang="en-US" sz="2880" b="1" strike="noStrike" spc="-1" dirty="0" err="1">
                <a:solidFill>
                  <a:srgbClr val="000000"/>
                </a:solidFill>
                <a:latin typeface="Courier New"/>
              </a:rPr>
              <a:t>test,"int</a:t>
            </a:r>
            <a:r>
              <a:rPr lang="en-US" sz="2880" b="1" strike="noStrike" spc="-1" dirty="0">
                <a:solidFill>
                  <a:srgbClr val="000000"/>
                </a:solidFill>
                <a:latin typeface="Courier New"/>
              </a:rPr>
              <a:t>");</a:t>
            </a:r>
            <a:endParaRPr lang="en-US" sz="2880" b="0" strike="noStrike" spc="-1" dirty="0">
              <a:solidFill>
                <a:srgbClr val="000000"/>
              </a:solidFill>
              <a:latin typeface="Arial"/>
            </a:endParaRPr>
          </a:p>
        </p:txBody>
      </p:sp>
      <p:sp>
        <p:nvSpPr>
          <p:cNvPr id="263" name="PlaceHolder 3"/>
          <p:cNvSpPr>
            <a:spLocks noGrp="1"/>
          </p:cNvSpPr>
          <p:nvPr>
            <p:ph type="sldNum" idx="25"/>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AA922F1F-1C39-44D2-A427-620D5A5394D2}" type="slidenum">
              <a:rPr lang="en-US" sz="810" b="0" strike="noStrike" spc="-1">
                <a:solidFill>
                  <a:srgbClr val="D9D9D9"/>
                </a:solidFill>
                <a:latin typeface="Arial"/>
              </a:rPr>
              <a:t>43</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2000"/>
    </mc:Choice>
    <mc:Fallback xmlns="" xmlns:p15="http://schemas.microsoft.com/office/powerpoint/2012/main">
      <p:transition spd="slow" advTm="2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#10</a:t>
            </a:r>
            <a:endParaRPr lang="en-US" sz="3959" b="0" strike="noStrike" spc="-1">
              <a:solidFill>
                <a:srgbClr val="FFFFFF"/>
              </a:solidFill>
              <a:latin typeface="Arial"/>
            </a:endParaRPr>
          </a:p>
        </p:txBody>
      </p:sp>
      <p:sp>
        <p:nvSpPr>
          <p:cNvPr id="265"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Create an integer variable</a:t>
            </a:r>
          </a:p>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Determine the variable's type and print out the result</a:t>
            </a:r>
          </a:p>
          <a:p>
            <a:pPr marL="154440" indent="-154440">
              <a:lnSpc>
                <a:spcPct val="90000"/>
              </a:lnSpc>
              <a:spcBef>
                <a:spcPts val="675"/>
              </a:spcBef>
              <a:buClr>
                <a:srgbClr val="000000"/>
              </a:buClr>
              <a:buFont typeface="Arial"/>
              <a:buChar char="•"/>
            </a:pPr>
            <a:endParaRPr lang="en-US" sz="2880" spc="-1" dirty="0">
              <a:solidFill>
                <a:srgbClr val="000000"/>
              </a:solidFill>
              <a:latin typeface="Arial"/>
            </a:endParaRPr>
          </a:p>
          <a:p>
            <a:pPr marL="0" indent="0">
              <a:lnSpc>
                <a:spcPct val="90000"/>
              </a:lnSpc>
              <a:spcBef>
                <a:spcPts val="675"/>
              </a:spcBef>
              <a:buClr>
                <a:srgbClr val="000000"/>
              </a:buClr>
              <a:buNone/>
            </a:pPr>
            <a:r>
              <a:rPr lang="en-US" sz="2000" dirty="0"/>
              <a:t>&lt;?</a:t>
            </a:r>
            <a:r>
              <a:rPr lang="en-US" sz="2000" dirty="0" err="1"/>
              <a:t>php</a:t>
            </a:r>
            <a:r>
              <a:rPr lang="en-US" sz="2000" dirty="0"/>
              <a:t> </a:t>
            </a:r>
          </a:p>
          <a:p>
            <a:pPr marL="0" indent="0">
              <a:lnSpc>
                <a:spcPct val="90000"/>
              </a:lnSpc>
              <a:spcBef>
                <a:spcPts val="675"/>
              </a:spcBef>
              <a:buClr>
                <a:srgbClr val="000000"/>
              </a:buClr>
              <a:buNone/>
            </a:pPr>
            <a:r>
              <a:rPr lang="en-US" sz="2000" dirty="0"/>
              <a:t>$</a:t>
            </a:r>
            <a:r>
              <a:rPr lang="en-US" sz="2000" dirty="0" err="1"/>
              <a:t>my_integer</a:t>
            </a:r>
            <a:r>
              <a:rPr lang="en-US" sz="2000" dirty="0"/>
              <a:t> = 42;</a:t>
            </a:r>
          </a:p>
          <a:p>
            <a:pPr marL="0" indent="0">
              <a:lnSpc>
                <a:spcPct val="90000"/>
              </a:lnSpc>
              <a:spcBef>
                <a:spcPts val="675"/>
              </a:spcBef>
              <a:buClr>
                <a:srgbClr val="000000"/>
              </a:buClr>
              <a:buNone/>
            </a:pPr>
            <a:r>
              <a:rPr lang="en-US" sz="2000" dirty="0"/>
              <a:t>print "The value is: $</a:t>
            </a:r>
            <a:r>
              <a:rPr lang="en-US" sz="2000" dirty="0" err="1"/>
              <a:t>my_integer</a:t>
            </a:r>
            <a:r>
              <a:rPr lang="en-US" sz="2000" dirty="0"/>
              <a:t>&lt;</a:t>
            </a:r>
            <a:r>
              <a:rPr lang="en-US" sz="2000" dirty="0" err="1"/>
              <a:t>br</a:t>
            </a:r>
            <a:r>
              <a:rPr lang="en-US" sz="2000" dirty="0"/>
              <a:t>&gt;"; </a:t>
            </a:r>
          </a:p>
          <a:p>
            <a:pPr marL="0" indent="0">
              <a:lnSpc>
                <a:spcPct val="90000"/>
              </a:lnSpc>
              <a:spcBef>
                <a:spcPts val="675"/>
              </a:spcBef>
              <a:buClr>
                <a:srgbClr val="000000"/>
              </a:buClr>
              <a:buNone/>
            </a:pPr>
            <a:r>
              <a:rPr lang="en-US" sz="2000" dirty="0"/>
              <a:t>print "The type is: " . </a:t>
            </a:r>
            <a:r>
              <a:rPr lang="en-US" sz="2000" dirty="0" err="1"/>
              <a:t>gettype</a:t>
            </a:r>
            <a:r>
              <a:rPr lang="en-US" sz="2000" dirty="0"/>
              <a:t>($</a:t>
            </a:r>
            <a:r>
              <a:rPr lang="en-US" sz="2000" dirty="0" err="1"/>
              <a:t>my_integer</a:t>
            </a:r>
            <a:r>
              <a:rPr lang="en-US" sz="2000" dirty="0"/>
              <a:t>);</a:t>
            </a:r>
          </a:p>
          <a:p>
            <a:pPr marL="0" indent="0">
              <a:lnSpc>
                <a:spcPct val="90000"/>
              </a:lnSpc>
              <a:spcBef>
                <a:spcPts val="675"/>
              </a:spcBef>
              <a:buClr>
                <a:srgbClr val="000000"/>
              </a:buClr>
              <a:buNone/>
            </a:pPr>
            <a:r>
              <a:rPr lang="en-US" sz="2000" b="0" strike="noStrike" spc="-1" dirty="0">
                <a:solidFill>
                  <a:srgbClr val="000000"/>
                </a:solidFill>
                <a:latin typeface="Arial"/>
              </a:rPr>
              <a:t>?&gt;</a:t>
            </a:r>
            <a:endParaRPr lang="en-US" sz="2880" b="0" strike="noStrike" spc="-1" dirty="0">
              <a:solidFill>
                <a:srgbClr val="000000"/>
              </a:solidFill>
              <a:latin typeface="Arial"/>
            </a:endParaRPr>
          </a:p>
        </p:txBody>
      </p:sp>
      <p:sp>
        <p:nvSpPr>
          <p:cNvPr id="266" name="PlaceHolder 3"/>
          <p:cNvSpPr>
            <a:spLocks noGrp="1"/>
          </p:cNvSpPr>
          <p:nvPr>
            <p:ph type="sldNum" idx="26"/>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675A2AD6-47B9-4C04-871E-91F38F6C2DFA}" type="slidenum">
              <a:rPr lang="en-US" sz="810" b="0" strike="noStrike" spc="-1">
                <a:solidFill>
                  <a:srgbClr val="D9D9D9"/>
                </a:solidFill>
                <a:latin typeface="Arial"/>
              </a:rPr>
              <a:t>44</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9000"/>
    </mc:Choice>
    <mc:Fallback xmlns="" xmlns:p15="http://schemas.microsoft.com/office/powerpoint/2012/main">
      <p:transition spd="slow" advTm="9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Constants</a:t>
            </a:r>
            <a:endParaRPr lang="en-US" sz="3959" b="0" strike="noStrike" spc="-1">
              <a:solidFill>
                <a:srgbClr val="FFFFFF"/>
              </a:solidFill>
              <a:latin typeface="Arial"/>
            </a:endParaRPr>
          </a:p>
        </p:txBody>
      </p:sp>
      <p:sp>
        <p:nvSpPr>
          <p:cNvPr id="268"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The value of a constant does not change</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Must use </a:t>
            </a:r>
            <a:r>
              <a:rPr lang="en-US" sz="2400" b="1" strike="noStrike" spc="-1" dirty="0">
                <a:solidFill>
                  <a:srgbClr val="000000"/>
                </a:solidFill>
                <a:latin typeface="Arial"/>
              </a:rPr>
              <a:t>define()</a:t>
            </a:r>
            <a:r>
              <a:rPr lang="en-US" sz="2400" b="0" strike="noStrike" spc="-1" dirty="0">
                <a:solidFill>
                  <a:srgbClr val="000000"/>
                </a:solidFill>
                <a:latin typeface="Arial"/>
              </a:rPr>
              <a:t> function</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Can only be a number or a string</a:t>
            </a: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Convention is to name constants using capital letters to distinguish them from variables</a:t>
            </a:r>
          </a:p>
          <a:p>
            <a:pPr marL="462960" indent="0">
              <a:lnSpc>
                <a:spcPct val="90000"/>
              </a:lnSpc>
              <a:spcBef>
                <a:spcPts val="337"/>
              </a:spcBef>
              <a:buNone/>
              <a:tabLst>
                <a:tab pos="0" algn="l"/>
              </a:tabLst>
            </a:pPr>
            <a:r>
              <a:rPr lang="en-US" sz="2000" b="1" strike="noStrike" spc="-1" dirty="0">
                <a:solidFill>
                  <a:srgbClr val="000000"/>
                </a:solidFill>
                <a:latin typeface="Courier New"/>
              </a:rPr>
              <a:t>define ("PI", "3.141592");</a:t>
            </a:r>
            <a:endParaRPr lang="en-US" sz="2000" b="0" strike="noStrike" spc="-1" dirty="0">
              <a:solidFill>
                <a:srgbClr val="000000"/>
              </a:solidFill>
              <a:latin typeface="Arial"/>
            </a:endParaRPr>
          </a:p>
          <a:p>
            <a:pPr indent="0">
              <a:lnSpc>
                <a:spcPct val="90000"/>
              </a:lnSpc>
              <a:spcBef>
                <a:spcPts val="337"/>
              </a:spcBef>
              <a:buNone/>
              <a:tabLst>
                <a:tab pos="0" algn="l"/>
              </a:tabLst>
            </a:pPr>
            <a:endParaRPr lang="en-US" sz="1800" b="0" strike="noStrike" spc="-1" dirty="0">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400" b="0" strike="noStrike" spc="-1" dirty="0">
                <a:solidFill>
                  <a:srgbClr val="000000"/>
                </a:solidFill>
                <a:latin typeface="Arial"/>
              </a:rPr>
              <a:t>Specify the name only, no dollar sign</a:t>
            </a:r>
          </a:p>
          <a:p>
            <a:pPr marL="462960" indent="0">
              <a:lnSpc>
                <a:spcPct val="90000"/>
              </a:lnSpc>
              <a:spcBef>
                <a:spcPts val="337"/>
              </a:spcBef>
              <a:buNone/>
              <a:tabLst>
                <a:tab pos="0" algn="l"/>
              </a:tabLst>
            </a:pPr>
            <a:r>
              <a:rPr lang="en-US" sz="2000" b="1" strike="noStrike" spc="-1" dirty="0">
                <a:solidFill>
                  <a:srgbClr val="000000"/>
                </a:solidFill>
                <a:latin typeface="Courier New"/>
              </a:rPr>
              <a:t>print PI;</a:t>
            </a:r>
            <a:endParaRPr lang="en-US" sz="2000" b="0" strike="noStrike" spc="-1" dirty="0">
              <a:solidFill>
                <a:srgbClr val="000000"/>
              </a:solidFill>
              <a:latin typeface="Arial"/>
            </a:endParaRPr>
          </a:p>
        </p:txBody>
      </p:sp>
      <p:sp>
        <p:nvSpPr>
          <p:cNvPr id="269" name="PlaceHolder 3"/>
          <p:cNvSpPr>
            <a:spLocks noGrp="1"/>
          </p:cNvSpPr>
          <p:nvPr>
            <p:ph type="sldNum" idx="27"/>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B4903983-A08F-48F1-8B51-DC117531AF50}" type="slidenum">
              <a:rPr lang="en-US" sz="810" b="0" strike="noStrike" spc="-1">
                <a:solidFill>
                  <a:srgbClr val="D9D9D9"/>
                </a:solidFill>
                <a:latin typeface="Arial"/>
              </a:rPr>
              <a:t>45</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4000"/>
    </mc:Choice>
    <mc:Fallback xmlns="" xmlns:p15="http://schemas.microsoft.com/office/powerpoint/2012/main">
      <p:transition spd="slow" advTm="24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Data Types</a:t>
            </a:r>
            <a:endParaRPr lang="en-US" sz="3959" b="0" strike="noStrike" spc="-1">
              <a:solidFill>
                <a:srgbClr val="FFFFFF"/>
              </a:solidFill>
              <a:latin typeface="Arial"/>
            </a:endParaRPr>
          </a:p>
        </p:txBody>
      </p:sp>
      <p:sp>
        <p:nvSpPr>
          <p:cNvPr id="271"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154440">
              <a:lnSpc>
                <a:spcPct val="90000"/>
              </a:lnSpc>
              <a:spcBef>
                <a:spcPts val="675"/>
              </a:spcBef>
              <a:buClr>
                <a:srgbClr val="000000"/>
              </a:buClr>
              <a:buFont typeface="Arial"/>
              <a:buChar char="•"/>
            </a:pPr>
            <a:r>
              <a:rPr lang="en-US" sz="2880" b="0" strike="noStrike" spc="-1" dirty="0">
                <a:solidFill>
                  <a:srgbClr val="000000"/>
                </a:solidFill>
                <a:latin typeface="Arial"/>
              </a:rPr>
              <a:t>Variable variables</a:t>
            </a:r>
          </a:p>
          <a:p>
            <a:pPr marL="462960" lvl="1" indent="-154440">
              <a:lnSpc>
                <a:spcPct val="90000"/>
              </a:lnSpc>
              <a:spcBef>
                <a:spcPts val="337"/>
              </a:spcBef>
              <a:buClr>
                <a:srgbClr val="000000"/>
              </a:buClr>
              <a:buFont typeface="Arial"/>
              <a:buChar char="•"/>
            </a:pPr>
            <a:r>
              <a:rPr lang="en-US" sz="2520" b="0" strike="noStrike" spc="-1" dirty="0">
                <a:solidFill>
                  <a:srgbClr val="000000"/>
                </a:solidFill>
                <a:latin typeface="Arial"/>
              </a:rPr>
              <a:t>Allows you to use the value of one variable as the </a:t>
            </a:r>
            <a:r>
              <a:rPr lang="en-US" sz="2520" b="1" strike="noStrike" spc="-1" dirty="0">
                <a:solidFill>
                  <a:srgbClr val="000000"/>
                </a:solidFill>
                <a:latin typeface="Arial"/>
              </a:rPr>
              <a:t>name</a:t>
            </a:r>
            <a:r>
              <a:rPr lang="en-US" sz="2520" b="0" strike="noStrike" spc="-1" dirty="0">
                <a:solidFill>
                  <a:srgbClr val="000000"/>
                </a:solidFill>
                <a:latin typeface="Arial"/>
              </a:rPr>
              <a:t> of another</a:t>
            </a:r>
          </a:p>
          <a:p>
            <a:pPr marL="462960" lvl="1" indent="-154440">
              <a:lnSpc>
                <a:spcPct val="90000"/>
              </a:lnSpc>
              <a:spcBef>
                <a:spcPts val="337"/>
              </a:spcBef>
              <a:buClr>
                <a:srgbClr val="000000"/>
              </a:buClr>
              <a:buFont typeface="Arial"/>
              <a:buChar char="•"/>
            </a:pPr>
            <a:r>
              <a:rPr lang="en-US" sz="2520" b="0" strike="noStrike" spc="-1" dirty="0">
                <a:solidFill>
                  <a:srgbClr val="000000"/>
                </a:solidFill>
                <a:latin typeface="Arial"/>
              </a:rPr>
              <a:t>A variable name preceded by another dollar ($) sign</a:t>
            </a:r>
          </a:p>
          <a:p>
            <a:pPr marL="462960" indent="0">
              <a:lnSpc>
                <a:spcPct val="90000"/>
              </a:lnSpc>
              <a:spcBef>
                <a:spcPts val="337"/>
              </a:spcBef>
              <a:buNone/>
              <a:tabLst>
                <a:tab pos="0" algn="l"/>
              </a:tabLst>
            </a:pPr>
            <a:endParaRPr lang="en-US" sz="2520" b="0" strike="noStrike" spc="-1" dirty="0">
              <a:solidFill>
                <a:srgbClr val="000000"/>
              </a:solidFill>
              <a:latin typeface="Arial"/>
            </a:endParaRPr>
          </a:p>
          <a:p>
            <a:pPr marL="154440" indent="0">
              <a:lnSpc>
                <a:spcPct val="90000"/>
              </a:lnSpc>
              <a:spcBef>
                <a:spcPts val="675"/>
              </a:spcBef>
              <a:buNone/>
              <a:tabLst>
                <a:tab pos="0" algn="l"/>
              </a:tabLst>
            </a:pPr>
            <a:r>
              <a:rPr lang="en-US" sz="2880" b="0" strike="noStrike" spc="-1" dirty="0">
                <a:solidFill>
                  <a:srgbClr val="000000"/>
                </a:solidFill>
                <a:latin typeface="Arial"/>
              </a:rPr>
              <a:t>e.g.   $</a:t>
            </a:r>
            <a:r>
              <a:rPr lang="en-US" sz="2880" b="0" strike="noStrike" spc="-1" dirty="0" err="1">
                <a:solidFill>
                  <a:srgbClr val="000000"/>
                </a:solidFill>
                <a:latin typeface="Arial"/>
              </a:rPr>
              <a:t>varname</a:t>
            </a:r>
            <a:r>
              <a:rPr lang="en-US" sz="2880" b="0" strike="noStrike" spc="-1" dirty="0">
                <a:solidFill>
                  <a:srgbClr val="000000"/>
                </a:solidFill>
                <a:latin typeface="Arial"/>
              </a:rPr>
              <a:t> = “</a:t>
            </a:r>
            <a:r>
              <a:rPr lang="en-US" sz="2880" b="0" strike="noStrike" spc="-1" dirty="0" err="1">
                <a:solidFill>
                  <a:srgbClr val="000000"/>
                </a:solidFill>
                <a:latin typeface="Arial"/>
              </a:rPr>
              <a:t>student_num</a:t>
            </a:r>
            <a:r>
              <a:rPr lang="en-US" sz="2880" b="0" strike="noStrike" spc="-1" dirty="0">
                <a:solidFill>
                  <a:srgbClr val="000000"/>
                </a:solidFill>
                <a:latin typeface="Arial"/>
              </a:rPr>
              <a:t>”;</a:t>
            </a:r>
          </a:p>
          <a:p>
            <a:pPr marL="154440" indent="0">
              <a:lnSpc>
                <a:spcPct val="90000"/>
              </a:lnSpc>
              <a:spcBef>
                <a:spcPts val="675"/>
              </a:spcBef>
              <a:buNone/>
              <a:tabLst>
                <a:tab pos="0" algn="l"/>
              </a:tabLst>
            </a:pPr>
            <a:r>
              <a:rPr lang="en-US" sz="2880" b="0" strike="noStrike" spc="-1" dirty="0">
                <a:solidFill>
                  <a:srgbClr val="000000"/>
                </a:solidFill>
                <a:latin typeface="Arial"/>
              </a:rPr>
              <a:t>		$$</a:t>
            </a:r>
            <a:r>
              <a:rPr lang="en-US" sz="2880" b="0" strike="noStrike" spc="-1" dirty="0" err="1">
                <a:solidFill>
                  <a:srgbClr val="000000"/>
                </a:solidFill>
                <a:latin typeface="Arial"/>
              </a:rPr>
              <a:t>varname</a:t>
            </a:r>
            <a:r>
              <a:rPr lang="en-US" sz="2880" b="0" strike="noStrike" spc="-1" dirty="0">
                <a:solidFill>
                  <a:srgbClr val="000000"/>
                </a:solidFill>
                <a:latin typeface="Arial"/>
              </a:rPr>
              <a:t> = 1211131; // </a:t>
            </a:r>
            <a:r>
              <a:rPr lang="en-US" sz="2880" b="0" i="1" strike="noStrike" spc="-1" dirty="0">
                <a:solidFill>
                  <a:srgbClr val="000000"/>
                </a:solidFill>
                <a:latin typeface="Arial"/>
              </a:rPr>
              <a:t>is equivalent to</a:t>
            </a:r>
            <a:endParaRPr lang="en-US" sz="2880" b="0" strike="noStrike" spc="-1" dirty="0">
              <a:solidFill>
                <a:srgbClr val="000000"/>
              </a:solidFill>
              <a:latin typeface="Arial"/>
            </a:endParaRPr>
          </a:p>
          <a:p>
            <a:pPr marL="154440" indent="0">
              <a:lnSpc>
                <a:spcPct val="90000"/>
              </a:lnSpc>
              <a:spcBef>
                <a:spcPts val="675"/>
              </a:spcBef>
              <a:buNone/>
              <a:tabLst>
                <a:tab pos="0" algn="l"/>
              </a:tabLst>
            </a:pPr>
            <a:r>
              <a:rPr lang="en-US" sz="2880" b="0" i="1" strike="noStrike" spc="-1" dirty="0">
                <a:solidFill>
                  <a:srgbClr val="000000"/>
                </a:solidFill>
                <a:latin typeface="Arial"/>
              </a:rPr>
              <a:t>		</a:t>
            </a:r>
            <a:r>
              <a:rPr lang="en-US" sz="2880" b="0" strike="noStrike" spc="-1" dirty="0">
                <a:solidFill>
                  <a:srgbClr val="000000"/>
                </a:solidFill>
                <a:latin typeface="Arial"/>
              </a:rPr>
              <a:t>$</a:t>
            </a:r>
            <a:r>
              <a:rPr lang="en-US" sz="2880" b="0" strike="noStrike" spc="-1" dirty="0" err="1">
                <a:solidFill>
                  <a:srgbClr val="000000"/>
                </a:solidFill>
                <a:latin typeface="Arial"/>
              </a:rPr>
              <a:t>student_num</a:t>
            </a:r>
            <a:r>
              <a:rPr lang="en-US" sz="2880" b="0" strike="noStrike" spc="-1" dirty="0">
                <a:solidFill>
                  <a:srgbClr val="000000"/>
                </a:solidFill>
                <a:latin typeface="Arial"/>
              </a:rPr>
              <a:t> = 1211131;</a:t>
            </a:r>
          </a:p>
        </p:txBody>
      </p:sp>
      <p:sp>
        <p:nvSpPr>
          <p:cNvPr id="272" name="PlaceHolder 3"/>
          <p:cNvSpPr>
            <a:spLocks noGrp="1"/>
          </p:cNvSpPr>
          <p:nvPr>
            <p:ph type="sldNum" idx="28"/>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78F6015F-F0D1-4C8D-83D8-A341F4058240}" type="slidenum">
              <a:rPr lang="en-US" sz="810" b="0" strike="noStrike" spc="-1">
                <a:solidFill>
                  <a:srgbClr val="D9D9D9"/>
                </a:solidFill>
                <a:latin typeface="Arial"/>
              </a:rPr>
              <a:t>46</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xmlns:p15="http://schemas.microsoft.com/office/powerpoint/2012/main">
      <p:transition spd="slow" advTm="20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Comments</a:t>
            </a:r>
            <a:endParaRPr lang="en-US" sz="3959" b="0" strike="noStrike" spc="-1">
              <a:solidFill>
                <a:srgbClr val="FFFFFF"/>
              </a:solidFill>
              <a:latin typeface="Arial"/>
            </a:endParaRPr>
          </a:p>
        </p:txBody>
      </p:sp>
      <p:sp>
        <p:nvSpPr>
          <p:cNvPr id="276"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If you know how to comment in Java, you know how to comment in PHP!</a:t>
            </a:r>
          </a:p>
          <a:p>
            <a:pPr marL="462960" lvl="1" indent="-154440">
              <a:lnSpc>
                <a:spcPct val="90000"/>
              </a:lnSpc>
              <a:spcBef>
                <a:spcPts val="337"/>
              </a:spcBef>
              <a:buClr>
                <a:srgbClr val="000000"/>
              </a:buClr>
              <a:buFont typeface="Arial"/>
              <a:buChar char="•"/>
            </a:pPr>
            <a:r>
              <a:rPr lang="en-US" sz="2000" b="1" strike="noStrike" spc="-1" dirty="0">
                <a:solidFill>
                  <a:srgbClr val="000000"/>
                </a:solidFill>
                <a:latin typeface="Courier New"/>
              </a:rPr>
              <a:t>/* 	some comments    */</a:t>
            </a:r>
            <a:endParaRPr lang="en-US" sz="200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US" sz="2000" b="1" strike="noStrike" spc="-1" dirty="0">
                <a:solidFill>
                  <a:srgbClr val="000000"/>
                </a:solidFill>
                <a:latin typeface="Courier New"/>
              </a:rPr>
              <a:t>// 	one-line comment</a:t>
            </a:r>
            <a:endParaRPr lang="en-US" sz="200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US" sz="2000" b="1" strike="noStrike" spc="-1" dirty="0">
                <a:solidFill>
                  <a:srgbClr val="000000"/>
                </a:solidFill>
                <a:latin typeface="Courier New"/>
              </a:rPr>
              <a:t>#  	a UNIX-style one-line comment</a:t>
            </a:r>
            <a:endParaRPr lang="en-US" sz="2000" b="0" strike="noStrike" spc="-1" dirty="0">
              <a:solidFill>
                <a:srgbClr val="000000"/>
              </a:solidFill>
              <a:latin typeface="Arial"/>
            </a:endParaRPr>
          </a:p>
          <a:p>
            <a:pPr indent="0">
              <a:lnSpc>
                <a:spcPct val="90000"/>
              </a:lnSpc>
              <a:spcBef>
                <a:spcPts val="337"/>
              </a:spcBef>
              <a:buNone/>
            </a:pPr>
            <a:endParaRPr lang="en-US" sz="2000" b="0" strike="noStrike" spc="-1" dirty="0">
              <a:solidFill>
                <a:srgbClr val="000000"/>
              </a:solidFill>
              <a:latin typeface="Arial"/>
            </a:endParaRPr>
          </a:p>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Consider this style:</a:t>
            </a:r>
          </a:p>
          <a:p>
            <a:pPr marL="462960" indent="0">
              <a:lnSpc>
                <a:spcPct val="90000"/>
              </a:lnSpc>
              <a:spcBef>
                <a:spcPts val="337"/>
              </a:spcBef>
              <a:buNone/>
              <a:tabLst>
                <a:tab pos="0" algn="l"/>
              </a:tabLst>
            </a:pPr>
            <a:r>
              <a:rPr lang="en-US" sz="2000" b="1" strike="noStrike" spc="-1" dirty="0">
                <a:solidFill>
                  <a:srgbClr val="000000"/>
                </a:solidFill>
                <a:latin typeface="Courier New"/>
              </a:rPr>
              <a: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 *  This is a block comment.</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 */</a:t>
            </a:r>
            <a:endParaRPr lang="en-US" sz="2000" b="0" strike="noStrike" spc="-1" dirty="0">
              <a:solidFill>
                <a:srgbClr val="000000"/>
              </a:solidFill>
              <a:latin typeface="Arial"/>
            </a:endParaRPr>
          </a:p>
        </p:txBody>
      </p:sp>
      <p:sp>
        <p:nvSpPr>
          <p:cNvPr id="277" name="PlaceHolder 3"/>
          <p:cNvSpPr>
            <a:spLocks noGrp="1"/>
          </p:cNvSpPr>
          <p:nvPr>
            <p:ph type="sldNum" idx="30"/>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C05611CA-7F70-4F2D-AC8E-ED3436FE1760}" type="slidenum">
              <a:rPr lang="en-US" sz="810" b="0" strike="noStrike" spc="-1">
                <a:solidFill>
                  <a:srgbClr val="D9D9D9"/>
                </a:solidFill>
                <a:latin typeface="Arial"/>
              </a:rPr>
              <a:t>47</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xmlns:p15="http://schemas.microsoft.com/office/powerpoint/2012/main">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PHP statements</a:t>
            </a:r>
            <a:endParaRPr lang="en-US" sz="3959" b="0" strike="noStrike" spc="-1">
              <a:solidFill>
                <a:srgbClr val="FFFFFF"/>
              </a:solidFill>
              <a:latin typeface="Arial"/>
            </a:endParaRPr>
          </a:p>
        </p:txBody>
      </p:sp>
      <p:sp>
        <p:nvSpPr>
          <p:cNvPr id="279"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If you know how to code an if statement in Java, you know how to do it in PHP!</a:t>
            </a:r>
          </a:p>
          <a:p>
            <a:pPr marL="462960" lvl="1" indent="-154440">
              <a:lnSpc>
                <a:spcPct val="90000"/>
              </a:lnSpc>
              <a:spcBef>
                <a:spcPts val="337"/>
              </a:spcBef>
              <a:buClr>
                <a:srgbClr val="000000"/>
              </a:buClr>
              <a:buFont typeface="Arial"/>
              <a:buChar char="•"/>
            </a:pPr>
            <a:r>
              <a:rPr lang="en-US" sz="2520" b="1" strike="noStrike" spc="-1">
                <a:solidFill>
                  <a:srgbClr val="000000"/>
                </a:solidFill>
                <a:latin typeface="Courier New"/>
              </a:rPr>
              <a:t>if ($cond_one &amp;&amp; $cond_two)</a:t>
            </a:r>
            <a:endParaRPr lang="en-US" sz="2520" b="0" strike="noStrike" spc="-1">
              <a:solidFill>
                <a:srgbClr val="000000"/>
              </a:solidFill>
              <a:latin typeface="Arial"/>
            </a:endParaRPr>
          </a:p>
          <a:p>
            <a:pPr marL="771480" indent="0">
              <a:lnSpc>
                <a:spcPct val="90000"/>
              </a:lnSpc>
              <a:spcBef>
                <a:spcPts val="337"/>
              </a:spcBef>
              <a:buNone/>
              <a:tabLst>
                <a:tab pos="0" algn="l"/>
              </a:tabLst>
            </a:pPr>
            <a:r>
              <a:rPr lang="en-US" sz="2160" b="1" strike="noStrike" spc="-1">
                <a:solidFill>
                  <a:srgbClr val="000000"/>
                </a:solidFill>
                <a:latin typeface="Courier New"/>
              </a:rPr>
              <a:t>{</a:t>
            </a:r>
            <a:endParaRPr lang="en-US" sz="2160" b="0" strike="noStrike" spc="-1">
              <a:solidFill>
                <a:srgbClr val="000000"/>
              </a:solidFill>
              <a:latin typeface="Arial"/>
            </a:endParaRPr>
          </a:p>
          <a:p>
            <a:pPr marL="1080000" indent="0">
              <a:lnSpc>
                <a:spcPct val="90000"/>
              </a:lnSpc>
              <a:spcBef>
                <a:spcPts val="337"/>
              </a:spcBef>
              <a:buNone/>
              <a:tabLst>
                <a:tab pos="0" algn="l"/>
              </a:tabLst>
            </a:pPr>
            <a:r>
              <a:rPr lang="en-US" sz="1800" b="1" strike="noStrike" spc="-1">
                <a:solidFill>
                  <a:srgbClr val="000000"/>
                </a:solidFill>
                <a:latin typeface="Courier New"/>
              </a:rPr>
              <a:t>//do this</a:t>
            </a:r>
            <a:endParaRPr lang="en-US" sz="1800" b="0" strike="noStrike" spc="-1">
              <a:solidFill>
                <a:srgbClr val="000000"/>
              </a:solidFill>
              <a:latin typeface="Arial"/>
            </a:endParaRPr>
          </a:p>
          <a:p>
            <a:pPr marL="771480" indent="0">
              <a:lnSpc>
                <a:spcPct val="90000"/>
              </a:lnSpc>
              <a:spcBef>
                <a:spcPts val="337"/>
              </a:spcBef>
              <a:buNone/>
              <a:tabLst>
                <a:tab pos="0" algn="l"/>
              </a:tabLst>
            </a:pPr>
            <a:r>
              <a:rPr lang="en-US" sz="2160" b="1" strike="noStrike" spc="-1">
                <a:solidFill>
                  <a:srgbClr val="000000"/>
                </a:solidFill>
                <a:latin typeface="Courier New"/>
              </a:rPr>
              <a:t>}</a:t>
            </a:r>
            <a:endParaRPr lang="en-US" sz="2160" b="0" strike="noStrike" spc="-1">
              <a:solidFill>
                <a:srgbClr val="000000"/>
              </a:solidFill>
              <a:latin typeface="Arial"/>
            </a:endParaRPr>
          </a:p>
          <a:p>
            <a:pPr marL="154440" indent="-154440">
              <a:lnSpc>
                <a:spcPct val="90000"/>
              </a:lnSpc>
              <a:spcBef>
                <a:spcPts val="675"/>
              </a:spcBef>
              <a:buClr>
                <a:srgbClr val="000000"/>
              </a:buClr>
              <a:buFont typeface="Arial"/>
              <a:buChar char="•"/>
              <a:tabLst>
                <a:tab pos="0" algn="l"/>
              </a:tabLst>
            </a:pPr>
            <a:r>
              <a:rPr lang="en-US" sz="2880" b="0" strike="noStrike" spc="-1">
                <a:solidFill>
                  <a:srgbClr val="000000"/>
                </a:solidFill>
                <a:latin typeface="Arial"/>
              </a:rPr>
              <a:t>Note the brackets around the condition</a:t>
            </a:r>
          </a:p>
          <a:p>
            <a:pPr indent="0">
              <a:lnSpc>
                <a:spcPct val="90000"/>
              </a:lnSpc>
              <a:spcBef>
                <a:spcPts val="337"/>
              </a:spcBef>
              <a:buNone/>
              <a:tabLst>
                <a:tab pos="0" algn="l"/>
              </a:tabLst>
            </a:pPr>
            <a:endParaRPr lang="en-US" sz="2520" b="0" strike="noStrike" spc="-1">
              <a:solidFill>
                <a:srgbClr val="000000"/>
              </a:solidFill>
              <a:latin typeface="Arial"/>
            </a:endParaRPr>
          </a:p>
        </p:txBody>
      </p:sp>
      <p:sp>
        <p:nvSpPr>
          <p:cNvPr id="280" name="PlaceHolder 3"/>
          <p:cNvSpPr>
            <a:spLocks noGrp="1"/>
          </p:cNvSpPr>
          <p:nvPr>
            <p:ph type="sldNum" idx="31"/>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70DAD590-58F6-4FBB-A688-2F91AB4F4B0B}" type="slidenum">
              <a:rPr lang="en-US" sz="810" b="0" strike="noStrike" spc="-1">
                <a:solidFill>
                  <a:srgbClr val="D9D9D9"/>
                </a:solidFill>
                <a:latin typeface="Arial"/>
              </a:rPr>
              <a:t>48</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4000"/>
    </mc:Choice>
    <mc:Fallback xmlns="" xmlns:p15="http://schemas.microsoft.com/office/powerpoint/2012/main">
      <p:transition spd="slow" advTm="4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Operators</a:t>
            </a:r>
            <a:endParaRPr lang="en-US" sz="3959" b="0" strike="noStrike" spc="-1">
              <a:solidFill>
                <a:srgbClr val="FFFFFF"/>
              </a:solidFill>
              <a:latin typeface="Arial"/>
            </a:endParaRPr>
          </a:p>
        </p:txBody>
      </p:sp>
      <p:sp>
        <p:nvSpPr>
          <p:cNvPr id="282"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0">
              <a:lnSpc>
                <a:spcPct val="90000"/>
              </a:lnSpc>
              <a:spcBef>
                <a:spcPts val="675"/>
              </a:spcBef>
              <a:buNone/>
              <a:tabLst>
                <a:tab pos="0" algn="l"/>
              </a:tabLst>
            </a:pPr>
            <a:r>
              <a:rPr lang="en-US" sz="2880" b="1" strike="noStrike" spc="-1" dirty="0">
                <a:solidFill>
                  <a:srgbClr val="000000"/>
                </a:solidFill>
                <a:latin typeface="Arial"/>
              </a:rPr>
              <a:t>and</a:t>
            </a:r>
            <a:r>
              <a:rPr lang="en-US" sz="2880" b="0" strike="noStrike" spc="-1" dirty="0">
                <a:solidFill>
                  <a:srgbClr val="000000"/>
                </a:solidFill>
                <a:latin typeface="Arial"/>
              </a:rPr>
              <a:t>		Both conditions must be true</a:t>
            </a:r>
          </a:p>
          <a:p>
            <a:pPr marL="154440" indent="0">
              <a:lnSpc>
                <a:spcPct val="90000"/>
              </a:lnSpc>
              <a:spcBef>
                <a:spcPts val="675"/>
              </a:spcBef>
              <a:buNone/>
              <a:tabLst>
                <a:tab pos="0" algn="l"/>
              </a:tabLst>
            </a:pPr>
            <a:r>
              <a:rPr lang="en-US" sz="2880" b="1" strike="noStrike" spc="-1" dirty="0">
                <a:solidFill>
                  <a:srgbClr val="000000"/>
                </a:solidFill>
                <a:latin typeface="Arial"/>
              </a:rPr>
              <a:t>&amp;&amp;</a:t>
            </a:r>
            <a:r>
              <a:rPr lang="en-US" sz="2880" b="0" strike="noStrike" spc="-1" dirty="0">
                <a:solidFill>
                  <a:srgbClr val="000000"/>
                </a:solidFill>
                <a:latin typeface="Arial"/>
              </a:rPr>
              <a:t>			and</a:t>
            </a:r>
          </a:p>
          <a:p>
            <a:pPr marL="154440" indent="0">
              <a:lnSpc>
                <a:spcPct val="90000"/>
              </a:lnSpc>
              <a:spcBef>
                <a:spcPts val="675"/>
              </a:spcBef>
              <a:buNone/>
              <a:tabLst>
                <a:tab pos="0" algn="l"/>
              </a:tabLst>
            </a:pPr>
            <a:r>
              <a:rPr lang="en-US" sz="2880" b="1" strike="noStrike" spc="-1" dirty="0">
                <a:solidFill>
                  <a:srgbClr val="000000"/>
                </a:solidFill>
                <a:latin typeface="Arial"/>
              </a:rPr>
              <a:t>or	</a:t>
            </a:r>
            <a:r>
              <a:rPr lang="en-US" sz="2880" b="0" strike="noStrike" spc="-1" dirty="0">
                <a:solidFill>
                  <a:srgbClr val="000000"/>
                </a:solidFill>
                <a:latin typeface="Arial"/>
              </a:rPr>
              <a:t>		One of the conditions must be true</a:t>
            </a:r>
          </a:p>
          <a:p>
            <a:pPr marL="154440" indent="0">
              <a:lnSpc>
                <a:spcPct val="90000"/>
              </a:lnSpc>
              <a:spcBef>
                <a:spcPts val="675"/>
              </a:spcBef>
              <a:buNone/>
              <a:tabLst>
                <a:tab pos="0" algn="l"/>
              </a:tabLst>
            </a:pPr>
            <a:r>
              <a:rPr lang="en-US" sz="2880" b="1" strike="noStrike" spc="-1" dirty="0">
                <a:solidFill>
                  <a:srgbClr val="000000"/>
                </a:solidFill>
                <a:latin typeface="Arial"/>
              </a:rPr>
              <a:t>||</a:t>
            </a:r>
            <a:r>
              <a:rPr lang="en-US" sz="2880" b="0" strike="noStrike" spc="-1" dirty="0">
                <a:solidFill>
                  <a:srgbClr val="000000"/>
                </a:solidFill>
                <a:latin typeface="Arial"/>
              </a:rPr>
              <a:t>			 or</a:t>
            </a:r>
          </a:p>
          <a:p>
            <a:pPr marL="154440" indent="0">
              <a:lnSpc>
                <a:spcPct val="90000"/>
              </a:lnSpc>
              <a:spcBef>
                <a:spcPts val="675"/>
              </a:spcBef>
              <a:buNone/>
              <a:tabLst>
                <a:tab pos="0" algn="l"/>
              </a:tabLst>
            </a:pPr>
            <a:r>
              <a:rPr lang="en-US" sz="2880" b="1" strike="noStrike" spc="-1" dirty="0">
                <a:solidFill>
                  <a:srgbClr val="000000"/>
                </a:solidFill>
                <a:latin typeface="Arial"/>
              </a:rPr>
              <a:t>!</a:t>
            </a:r>
            <a:r>
              <a:rPr lang="en-US" sz="2880" b="0" strike="noStrike" spc="-1" dirty="0">
                <a:solidFill>
                  <a:srgbClr val="000000"/>
                </a:solidFill>
                <a:latin typeface="Arial"/>
              </a:rPr>
              <a:t>			The "not" operator</a:t>
            </a:r>
          </a:p>
          <a:p>
            <a:pPr marL="154440" indent="0">
              <a:lnSpc>
                <a:spcPct val="90000"/>
              </a:lnSpc>
              <a:spcBef>
                <a:spcPts val="675"/>
              </a:spcBef>
              <a:buNone/>
              <a:tabLst>
                <a:tab pos="0" algn="l"/>
              </a:tabLst>
            </a:pPr>
            <a:r>
              <a:rPr lang="en-US" sz="2880" b="1" strike="noStrike" spc="-1" dirty="0" err="1">
                <a:solidFill>
                  <a:srgbClr val="000000"/>
                </a:solidFill>
                <a:latin typeface="Arial"/>
              </a:rPr>
              <a:t>xor</a:t>
            </a:r>
            <a:r>
              <a:rPr lang="en-US" sz="2880" b="0" strike="noStrike" spc="-1" dirty="0">
                <a:solidFill>
                  <a:srgbClr val="000000"/>
                </a:solidFill>
                <a:latin typeface="Arial"/>
              </a:rPr>
              <a:t>			Exclusive or: one but not both</a:t>
            </a:r>
          </a:p>
          <a:p>
            <a:pPr marL="154440" indent="0">
              <a:lnSpc>
                <a:spcPct val="90000"/>
              </a:lnSpc>
              <a:spcBef>
                <a:spcPts val="675"/>
              </a:spcBef>
              <a:buNone/>
              <a:tabLst>
                <a:tab pos="0" algn="l"/>
              </a:tabLst>
            </a:pPr>
            <a:r>
              <a:rPr lang="en-US" sz="2880" b="0" strike="noStrike" spc="-1" dirty="0">
                <a:solidFill>
                  <a:srgbClr val="000000"/>
                </a:solidFill>
                <a:latin typeface="Arial"/>
              </a:rPr>
              <a:t>  			of the conditions are true</a:t>
            </a:r>
          </a:p>
          <a:p>
            <a:pPr indent="0">
              <a:lnSpc>
                <a:spcPct val="90000"/>
              </a:lnSpc>
              <a:spcBef>
                <a:spcPts val="675"/>
              </a:spcBef>
              <a:buNone/>
              <a:tabLst>
                <a:tab pos="0" algn="l"/>
              </a:tabLst>
            </a:pPr>
            <a:endParaRPr lang="en-US" sz="2880" b="0" strike="noStrike" spc="-1" dirty="0">
              <a:solidFill>
                <a:srgbClr val="000000"/>
              </a:solidFill>
              <a:latin typeface="Arial"/>
            </a:endParaRPr>
          </a:p>
        </p:txBody>
      </p:sp>
      <p:sp>
        <p:nvSpPr>
          <p:cNvPr id="283" name="PlaceHolder 3"/>
          <p:cNvSpPr>
            <a:spLocks noGrp="1"/>
          </p:cNvSpPr>
          <p:nvPr>
            <p:ph type="sldNum" idx="32"/>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5368E235-BE24-4FFB-9089-C7303BBD88A4}" type="slidenum">
              <a:rPr lang="en-US" sz="810" b="0" strike="noStrike" spc="-1">
                <a:solidFill>
                  <a:srgbClr val="D9D9D9"/>
                </a:solidFill>
                <a:latin typeface="Arial"/>
              </a:rPr>
              <a:t>49</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0000"/>
    </mc:Choice>
    <mc:Fallback xmlns="" xmlns:p15="http://schemas.microsoft.com/office/powerpoint/2012/main">
      <p:transition spd="slow" advTm="10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Boolean Constants</a:t>
            </a:r>
            <a:endParaRPr lang="en-US" sz="3959" b="0" strike="noStrike" spc="-1">
              <a:solidFill>
                <a:srgbClr val="FFFFFF"/>
              </a:solidFill>
              <a:latin typeface="Arial"/>
            </a:endParaRPr>
          </a:p>
        </p:txBody>
      </p:sp>
      <p:sp>
        <p:nvSpPr>
          <p:cNvPr id="285"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0">
              <a:lnSpc>
                <a:spcPct val="90000"/>
              </a:lnSpc>
              <a:spcBef>
                <a:spcPts val="675"/>
              </a:spcBef>
              <a:buNone/>
              <a:tabLst>
                <a:tab pos="0" algn="l"/>
              </a:tabLst>
            </a:pPr>
            <a:r>
              <a:rPr lang="en-US" sz="2400" b="1" strike="noStrike" spc="-1">
                <a:solidFill>
                  <a:srgbClr val="000000"/>
                </a:solidFill>
                <a:latin typeface="Courier New"/>
              </a:rPr>
              <a:t>if (TRUE)</a:t>
            </a:r>
            <a:endParaRPr lang="en-US" sz="24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a:t>
            </a:r>
            <a:endParaRPr lang="en-US" sz="24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	//this will always run!</a:t>
            </a:r>
            <a:endParaRPr lang="en-US" sz="24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a:t>
            </a:r>
            <a:endParaRPr lang="en-US" sz="2400" b="0" strike="noStrike" spc="-1">
              <a:solidFill>
                <a:srgbClr val="000000"/>
              </a:solidFill>
              <a:latin typeface="Arial"/>
            </a:endParaRPr>
          </a:p>
          <a:p>
            <a:pPr marL="462960" indent="0">
              <a:lnSpc>
                <a:spcPct val="90000"/>
              </a:lnSpc>
              <a:spcBef>
                <a:spcPts val="337"/>
              </a:spcBef>
              <a:buNone/>
              <a:tabLst>
                <a:tab pos="0" algn="l"/>
              </a:tabLst>
            </a:pPr>
            <a:endParaRPr lang="en-US" sz="20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if (FALSE)</a:t>
            </a:r>
            <a:endParaRPr lang="en-US" sz="24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a:t>
            </a:r>
            <a:endParaRPr lang="en-US" sz="24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	//this will never run!</a:t>
            </a:r>
            <a:endParaRPr lang="en-US" sz="2400" b="0" strike="noStrike" spc="-1">
              <a:solidFill>
                <a:srgbClr val="000000"/>
              </a:solidFill>
              <a:latin typeface="Arial"/>
            </a:endParaRPr>
          </a:p>
          <a:p>
            <a:pPr marL="154440" indent="0">
              <a:lnSpc>
                <a:spcPct val="90000"/>
              </a:lnSpc>
              <a:spcBef>
                <a:spcPts val="675"/>
              </a:spcBef>
              <a:buNone/>
              <a:tabLst>
                <a:tab pos="0" algn="l"/>
              </a:tabLst>
            </a:pPr>
            <a:r>
              <a:rPr lang="en-US" sz="2400" b="1" strike="noStrike" spc="-1">
                <a:solidFill>
                  <a:srgbClr val="000000"/>
                </a:solidFill>
                <a:latin typeface="Courier New"/>
              </a:rPr>
              <a:t>}</a:t>
            </a:r>
            <a:endParaRPr lang="en-US" sz="2400" b="0" strike="noStrike" spc="-1">
              <a:solidFill>
                <a:srgbClr val="000000"/>
              </a:solidFill>
              <a:latin typeface="Arial"/>
            </a:endParaRPr>
          </a:p>
          <a:p>
            <a:pPr indent="0">
              <a:lnSpc>
                <a:spcPct val="90000"/>
              </a:lnSpc>
              <a:spcBef>
                <a:spcPts val="675"/>
              </a:spcBef>
              <a:buNone/>
              <a:tabLst>
                <a:tab pos="0" algn="l"/>
              </a:tabLst>
            </a:pPr>
            <a:endParaRPr lang="en-US" sz="2400" b="0" strike="noStrike" spc="-1">
              <a:solidFill>
                <a:srgbClr val="000000"/>
              </a:solidFill>
              <a:latin typeface="Arial"/>
            </a:endParaRPr>
          </a:p>
        </p:txBody>
      </p:sp>
      <p:sp>
        <p:nvSpPr>
          <p:cNvPr id="286" name="PlaceHolder 3"/>
          <p:cNvSpPr>
            <a:spLocks noGrp="1"/>
          </p:cNvSpPr>
          <p:nvPr>
            <p:ph type="sldNum" idx="33"/>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33F6C47A-08EA-4BB0-9154-D0E7D17AB1E7}" type="slidenum">
              <a:rPr lang="en-US" sz="810" b="0" strike="noStrike" spc="-1">
                <a:solidFill>
                  <a:srgbClr val="D9D9D9"/>
                </a:solidFill>
                <a:latin typeface="Arial"/>
              </a:rPr>
              <a:t>50</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4000"/>
    </mc:Choice>
    <mc:Fallback xmlns="" xmlns:p15="http://schemas.microsoft.com/office/powerpoint/2012/main">
      <p:transition spd="slow" advTm="14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Operators</a:t>
            </a:r>
            <a:endParaRPr lang="en-US" sz="3959" b="0" strike="noStrike" spc="-1">
              <a:solidFill>
                <a:srgbClr val="FFFFFF"/>
              </a:solidFill>
              <a:latin typeface="Arial"/>
            </a:endParaRPr>
          </a:p>
        </p:txBody>
      </p:sp>
      <p:sp>
        <p:nvSpPr>
          <p:cNvPr id="288"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0">
              <a:lnSpc>
                <a:spcPct val="90000"/>
              </a:lnSpc>
              <a:spcBef>
                <a:spcPts val="675"/>
              </a:spcBef>
              <a:buNone/>
              <a:tabLst>
                <a:tab pos="0" algn="l"/>
              </a:tabLst>
            </a:pPr>
            <a:r>
              <a:rPr lang="en-US" sz="2880" b="1" strike="noStrike" spc="-1">
                <a:solidFill>
                  <a:srgbClr val="000000"/>
                </a:solidFill>
                <a:latin typeface="Arial"/>
              </a:rPr>
              <a:t>==</a:t>
            </a:r>
            <a:r>
              <a:rPr lang="en-US" sz="2880" b="0" strike="noStrike" spc="-1">
                <a:solidFill>
                  <a:srgbClr val="000000"/>
                </a:solidFill>
                <a:latin typeface="Arial"/>
              </a:rPr>
              <a:t>			Equal</a:t>
            </a:r>
          </a:p>
          <a:p>
            <a:pPr marL="154440" indent="0">
              <a:lnSpc>
                <a:spcPct val="90000"/>
              </a:lnSpc>
              <a:spcBef>
                <a:spcPts val="675"/>
              </a:spcBef>
              <a:buNone/>
              <a:tabLst>
                <a:tab pos="0" algn="l"/>
              </a:tabLst>
            </a:pPr>
            <a:r>
              <a:rPr lang="en-US" sz="2880" b="1" strike="noStrike" spc="-1">
                <a:solidFill>
                  <a:srgbClr val="000000"/>
                </a:solidFill>
                <a:latin typeface="Arial"/>
              </a:rPr>
              <a:t>!=	</a:t>
            </a:r>
            <a:r>
              <a:rPr lang="en-US" sz="2880" b="0" strike="noStrike" spc="-1">
                <a:solidFill>
                  <a:srgbClr val="000000"/>
                </a:solidFill>
                <a:latin typeface="Arial"/>
              </a:rPr>
              <a:t>		Not Equal</a:t>
            </a:r>
          </a:p>
          <a:p>
            <a:pPr marL="154440" indent="0">
              <a:lnSpc>
                <a:spcPct val="90000"/>
              </a:lnSpc>
              <a:spcBef>
                <a:spcPts val="675"/>
              </a:spcBef>
              <a:buNone/>
              <a:tabLst>
                <a:tab pos="0" algn="l"/>
              </a:tabLst>
            </a:pPr>
            <a:r>
              <a:rPr lang="en-US" sz="2880" b="1" strike="noStrike" spc="-1">
                <a:solidFill>
                  <a:srgbClr val="000000"/>
                </a:solidFill>
                <a:latin typeface="Arial"/>
              </a:rPr>
              <a:t>&lt;	</a:t>
            </a:r>
            <a:r>
              <a:rPr lang="en-US" sz="2880" b="0" strike="noStrike" spc="-1">
                <a:solidFill>
                  <a:srgbClr val="000000"/>
                </a:solidFill>
                <a:latin typeface="Arial"/>
              </a:rPr>
              <a:t>		Less Than</a:t>
            </a:r>
          </a:p>
          <a:p>
            <a:pPr marL="154440" indent="0">
              <a:lnSpc>
                <a:spcPct val="90000"/>
              </a:lnSpc>
              <a:spcBef>
                <a:spcPts val="675"/>
              </a:spcBef>
              <a:buNone/>
              <a:tabLst>
                <a:tab pos="0" algn="l"/>
              </a:tabLst>
            </a:pPr>
            <a:r>
              <a:rPr lang="en-US" sz="2880" b="1" strike="noStrike" spc="-1">
                <a:solidFill>
                  <a:srgbClr val="000000"/>
                </a:solidFill>
                <a:latin typeface="Arial"/>
              </a:rPr>
              <a:t>&gt;	</a:t>
            </a:r>
            <a:r>
              <a:rPr lang="en-US" sz="2880" b="0" strike="noStrike" spc="-1">
                <a:solidFill>
                  <a:srgbClr val="000000"/>
                </a:solidFill>
                <a:latin typeface="Arial"/>
              </a:rPr>
              <a:t>		Greater Than</a:t>
            </a:r>
          </a:p>
          <a:p>
            <a:pPr marL="154440" indent="0">
              <a:lnSpc>
                <a:spcPct val="90000"/>
              </a:lnSpc>
              <a:spcBef>
                <a:spcPts val="675"/>
              </a:spcBef>
              <a:buNone/>
              <a:tabLst>
                <a:tab pos="0" algn="l"/>
              </a:tabLst>
            </a:pPr>
            <a:r>
              <a:rPr lang="en-US" sz="2880" b="1" strike="noStrike" spc="-1">
                <a:solidFill>
                  <a:srgbClr val="000000"/>
                </a:solidFill>
                <a:latin typeface="Arial"/>
              </a:rPr>
              <a:t>&lt;=</a:t>
            </a:r>
            <a:r>
              <a:rPr lang="en-US" sz="2880" b="0" strike="noStrike" spc="-1">
                <a:solidFill>
                  <a:srgbClr val="000000"/>
                </a:solidFill>
                <a:latin typeface="Arial"/>
              </a:rPr>
              <a:t>			Less than or equal to</a:t>
            </a:r>
          </a:p>
          <a:p>
            <a:pPr marL="154440" indent="0">
              <a:lnSpc>
                <a:spcPct val="90000"/>
              </a:lnSpc>
              <a:spcBef>
                <a:spcPts val="675"/>
              </a:spcBef>
              <a:buNone/>
              <a:tabLst>
                <a:tab pos="0" algn="l"/>
              </a:tabLst>
            </a:pPr>
            <a:r>
              <a:rPr lang="en-US" sz="2880" b="1" strike="noStrike" spc="-1">
                <a:solidFill>
                  <a:srgbClr val="000000"/>
                </a:solidFill>
                <a:latin typeface="Arial"/>
              </a:rPr>
              <a:t>&gt;=</a:t>
            </a:r>
            <a:r>
              <a:rPr lang="en-US" sz="2880" b="0" strike="noStrike" spc="-1">
                <a:solidFill>
                  <a:srgbClr val="000000"/>
                </a:solidFill>
                <a:latin typeface="Arial"/>
              </a:rPr>
              <a:t>			Greater than or equal to</a:t>
            </a:r>
          </a:p>
          <a:p>
            <a:pPr marL="154440" indent="0">
              <a:lnSpc>
                <a:spcPct val="90000"/>
              </a:lnSpc>
              <a:spcBef>
                <a:spcPts val="675"/>
              </a:spcBef>
              <a:buNone/>
              <a:tabLst>
                <a:tab pos="0" algn="l"/>
              </a:tabLst>
            </a:pPr>
            <a:r>
              <a:rPr lang="en-US" sz="2880" b="1" strike="noStrike" spc="-1">
                <a:solidFill>
                  <a:srgbClr val="000000"/>
                </a:solidFill>
                <a:latin typeface="Arial"/>
              </a:rPr>
              <a:t>===</a:t>
            </a:r>
            <a:r>
              <a:rPr lang="en-US" sz="2880" b="0" strike="noStrike" spc="-1">
                <a:solidFill>
                  <a:srgbClr val="000000"/>
                </a:solidFill>
                <a:latin typeface="Arial"/>
              </a:rPr>
              <a:t>		Identical (new to PHP)</a:t>
            </a:r>
          </a:p>
        </p:txBody>
      </p:sp>
      <p:sp>
        <p:nvSpPr>
          <p:cNvPr id="289" name="PlaceHolder 3"/>
          <p:cNvSpPr>
            <a:spLocks noGrp="1"/>
          </p:cNvSpPr>
          <p:nvPr>
            <p:ph type="sldNum" idx="34"/>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FD8F0DEB-E780-4883-85B5-F54D0A6173F9}" type="slidenum">
              <a:rPr lang="en-US" sz="810" b="0" strike="noStrike" spc="-1">
                <a:solidFill>
                  <a:srgbClr val="D9D9D9"/>
                </a:solidFill>
                <a:latin typeface="Arial"/>
              </a:rPr>
              <a:t>51</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5000"/>
    </mc:Choice>
    <mc:Fallback xmlns="" xmlns:p15="http://schemas.microsoft.com/office/powerpoint/2012/main">
      <p:transition spd="slow" advTm="15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Let's Code #11</a:t>
            </a:r>
            <a:endParaRPr lang="en-US" sz="3959" b="0" strike="noStrike" spc="-1">
              <a:solidFill>
                <a:srgbClr val="FFFFFF"/>
              </a:solidFill>
              <a:latin typeface="Arial"/>
            </a:endParaRPr>
          </a:p>
        </p:txBody>
      </p:sp>
      <p:sp>
        <p:nvSpPr>
          <p:cNvPr id="291" name="PlaceHolder 2"/>
          <p:cNvSpPr>
            <a:spLocks noGrp="1"/>
          </p:cNvSpPr>
          <p:nvPr>
            <p:ph/>
          </p:nvPr>
        </p:nvSpPr>
        <p:spPr>
          <a:xfrm>
            <a:off x="1119960" y="1363443"/>
            <a:ext cx="10233360" cy="4299937"/>
          </a:xfrm>
          <a:prstGeom prst="rect">
            <a:avLst/>
          </a:prstGeom>
          <a:noFill/>
          <a:ln w="0">
            <a:noFill/>
          </a:ln>
        </p:spPr>
        <p:txBody>
          <a:bodyPr anchor="t">
            <a:noAutofit/>
          </a:bodyPr>
          <a:lstStyle/>
          <a:p>
            <a:pPr marL="154440" indent="-154440">
              <a:lnSpc>
                <a:spcPct val="80000"/>
              </a:lnSpc>
              <a:spcBef>
                <a:spcPts val="675"/>
              </a:spcBef>
              <a:buClr>
                <a:srgbClr val="000000"/>
              </a:buClr>
              <a:buFont typeface="Arial"/>
              <a:buChar char="•"/>
            </a:pPr>
            <a:r>
              <a:rPr lang="en-US" sz="2400" b="0" strike="noStrike" spc="-1" dirty="0">
                <a:solidFill>
                  <a:srgbClr val="000000"/>
                </a:solidFill>
                <a:latin typeface="Arial"/>
              </a:rPr>
              <a:t>Try this example:</a:t>
            </a:r>
          </a:p>
          <a:p>
            <a:pPr marL="154440" indent="0">
              <a:lnSpc>
                <a:spcPct val="80000"/>
              </a:lnSpc>
              <a:spcBef>
                <a:spcPts val="675"/>
              </a:spcBef>
              <a:buNone/>
              <a:tabLst>
                <a:tab pos="0" algn="l"/>
              </a:tabLst>
            </a:pPr>
            <a:r>
              <a:rPr lang="en-US" sz="2000" b="1" strike="noStrike" spc="-1" dirty="0">
                <a:solidFill>
                  <a:srgbClr val="000000"/>
                </a:solidFill>
                <a:latin typeface="Courier New"/>
              </a:rPr>
              <a:t>	 //a double equal sign</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if ( 0 == "zero")</a:t>
            </a:r>
            <a:endParaRPr lang="en-US" sz="2000" b="0" strike="noStrike" spc="-1" dirty="0">
              <a:solidFill>
                <a:srgbClr val="000000"/>
              </a:solidFill>
              <a:latin typeface="Arial"/>
            </a:endParaRPr>
          </a:p>
          <a:p>
            <a:pPr marL="771480" indent="0">
              <a:lnSpc>
                <a:spcPct val="80000"/>
              </a:lnSpc>
              <a:spcBef>
                <a:spcPts val="337"/>
              </a:spcBef>
              <a:buNone/>
              <a:tabLst>
                <a:tab pos="0" algn="l"/>
              </a:tabLst>
            </a:pPr>
            <a:r>
              <a:rPr lang="en-US" sz="2160" b="1" strike="noStrike" spc="-1" dirty="0">
                <a:solidFill>
                  <a:srgbClr val="000000"/>
                </a:solidFill>
                <a:latin typeface="Courier New"/>
              </a:rPr>
              <a:t>print("These are equal&lt;</a:t>
            </a:r>
            <a:r>
              <a:rPr lang="en-US" sz="2160" b="1" strike="noStrike" spc="-1" dirty="0" err="1">
                <a:solidFill>
                  <a:srgbClr val="000000"/>
                </a:solidFill>
                <a:latin typeface="Courier New"/>
              </a:rPr>
              <a:t>br</a:t>
            </a:r>
            <a:r>
              <a:rPr lang="en-US" sz="2160" b="1" strike="noStrike" spc="-1" dirty="0">
                <a:solidFill>
                  <a:srgbClr val="000000"/>
                </a:solidFill>
                <a:latin typeface="Courier New"/>
              </a:rPr>
              <a:t>&gt;");</a:t>
            </a:r>
            <a:endParaRPr lang="en-US" sz="2160" b="0" strike="noStrike" spc="-1" dirty="0">
              <a:solidFill>
                <a:srgbClr val="000000"/>
              </a:solidFill>
              <a:latin typeface="Arial"/>
            </a:endParaRPr>
          </a:p>
          <a:p>
            <a:pPr marL="462960" indent="0">
              <a:lnSpc>
                <a:spcPct val="80000"/>
              </a:lnSpc>
              <a:spcBef>
                <a:spcPts val="337"/>
              </a:spcBef>
              <a:buNone/>
              <a:tabLst>
                <a:tab pos="0" algn="l"/>
              </a:tabLst>
            </a:pP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//a triple equal sign</a:t>
            </a:r>
            <a:endParaRPr lang="en-US" sz="200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if ( 0 === "zero")</a:t>
            </a:r>
            <a:endParaRPr lang="en-US" sz="2000" b="0" strike="noStrike" spc="-1" dirty="0">
              <a:solidFill>
                <a:srgbClr val="000000"/>
              </a:solidFill>
              <a:latin typeface="Arial"/>
            </a:endParaRPr>
          </a:p>
          <a:p>
            <a:pPr marL="771480" indent="0">
              <a:lnSpc>
                <a:spcPct val="80000"/>
              </a:lnSpc>
              <a:spcBef>
                <a:spcPts val="337"/>
              </a:spcBef>
              <a:buNone/>
              <a:tabLst>
                <a:tab pos="0" algn="l"/>
              </a:tabLst>
            </a:pPr>
            <a:r>
              <a:rPr lang="en-US" sz="2160" b="1" strike="noStrike" spc="-1" dirty="0">
                <a:solidFill>
                  <a:srgbClr val="000000"/>
                </a:solidFill>
                <a:latin typeface="Courier New"/>
              </a:rPr>
              <a:t>print("These are identical&lt;</a:t>
            </a:r>
            <a:r>
              <a:rPr lang="en-US" sz="2160" b="1" strike="noStrike" spc="-1" dirty="0" err="1">
                <a:solidFill>
                  <a:srgbClr val="000000"/>
                </a:solidFill>
                <a:latin typeface="Courier New"/>
              </a:rPr>
              <a:t>br</a:t>
            </a:r>
            <a:r>
              <a:rPr lang="en-US" sz="2160" b="1" strike="noStrike" spc="-1" dirty="0">
                <a:solidFill>
                  <a:srgbClr val="000000"/>
                </a:solidFill>
                <a:latin typeface="Courier New"/>
              </a:rPr>
              <a:t>&gt;");</a:t>
            </a:r>
            <a:endParaRPr lang="en-US" sz="2160" b="0" strike="noStrike" spc="-1" dirty="0">
              <a:solidFill>
                <a:srgbClr val="000000"/>
              </a:solidFill>
              <a:latin typeface="Arial"/>
            </a:endParaRPr>
          </a:p>
          <a:p>
            <a:pPr marL="462960" indent="0">
              <a:lnSpc>
                <a:spcPct val="80000"/>
              </a:lnSpc>
              <a:spcBef>
                <a:spcPts val="337"/>
              </a:spcBef>
              <a:buNone/>
              <a:tabLst>
                <a:tab pos="0" algn="l"/>
              </a:tabLst>
            </a:pPr>
            <a:r>
              <a:rPr lang="en-US" sz="2000" b="1" strike="noStrike" spc="-1" dirty="0">
                <a:solidFill>
                  <a:srgbClr val="000000"/>
                </a:solidFill>
                <a:latin typeface="Courier New"/>
              </a:rPr>
              <a:t>else</a:t>
            </a:r>
            <a:endParaRPr lang="en-US" sz="2000" b="0" strike="noStrike" spc="-1" dirty="0">
              <a:solidFill>
                <a:srgbClr val="000000"/>
              </a:solidFill>
              <a:latin typeface="Arial"/>
            </a:endParaRPr>
          </a:p>
          <a:p>
            <a:pPr marL="771480" indent="0">
              <a:lnSpc>
                <a:spcPct val="80000"/>
              </a:lnSpc>
              <a:spcBef>
                <a:spcPts val="337"/>
              </a:spcBef>
              <a:buNone/>
              <a:tabLst>
                <a:tab pos="0" algn="l"/>
              </a:tabLst>
            </a:pPr>
            <a:r>
              <a:rPr lang="en-US" sz="2160" b="1" strike="noStrike" spc="-1" dirty="0">
                <a:solidFill>
                  <a:srgbClr val="000000"/>
                </a:solidFill>
                <a:latin typeface="Courier New"/>
              </a:rPr>
              <a:t>print("These are not identical&lt;</a:t>
            </a:r>
            <a:r>
              <a:rPr lang="en-US" sz="2160" b="1" strike="noStrike" spc="-1" dirty="0" err="1">
                <a:solidFill>
                  <a:srgbClr val="000000"/>
                </a:solidFill>
                <a:latin typeface="Courier New"/>
              </a:rPr>
              <a:t>br</a:t>
            </a:r>
            <a:r>
              <a:rPr lang="en-US" sz="2160" b="1" strike="noStrike" spc="-1" dirty="0">
                <a:solidFill>
                  <a:srgbClr val="000000"/>
                </a:solidFill>
                <a:latin typeface="Courier New"/>
              </a:rPr>
              <a:t>&gt;");</a:t>
            </a:r>
            <a:endParaRPr lang="en-US" sz="2160" b="0" strike="noStrike" spc="-1" dirty="0">
              <a:solidFill>
                <a:srgbClr val="000000"/>
              </a:solidFill>
              <a:latin typeface="Arial"/>
            </a:endParaRPr>
          </a:p>
          <a:p>
            <a:pPr indent="0">
              <a:lnSpc>
                <a:spcPct val="80000"/>
              </a:lnSpc>
              <a:spcBef>
                <a:spcPts val="675"/>
              </a:spcBef>
              <a:buNone/>
              <a:tabLst>
                <a:tab pos="0" algn="l"/>
              </a:tabLst>
            </a:pPr>
            <a:endParaRPr lang="en-US" sz="2000" b="0" strike="noStrike" spc="-1" dirty="0">
              <a:solidFill>
                <a:srgbClr val="000000"/>
              </a:solidFill>
              <a:latin typeface="Arial"/>
            </a:endParaRPr>
          </a:p>
          <a:p>
            <a:pPr marL="154440" indent="-154440">
              <a:lnSpc>
                <a:spcPct val="80000"/>
              </a:lnSpc>
              <a:spcBef>
                <a:spcPts val="675"/>
              </a:spcBef>
              <a:buClr>
                <a:srgbClr val="000000"/>
              </a:buClr>
              <a:buFont typeface="Arial"/>
              <a:buChar char="•"/>
              <a:tabLst>
                <a:tab pos="0" algn="l"/>
              </a:tabLst>
            </a:pPr>
            <a:r>
              <a:rPr lang="en-US" sz="2400" b="0" strike="noStrike" spc="-1" dirty="0">
                <a:solidFill>
                  <a:srgbClr val="000000"/>
                </a:solidFill>
                <a:latin typeface="Arial"/>
              </a:rPr>
              <a:t>Can you explain what happened? </a:t>
            </a:r>
          </a:p>
          <a:p>
            <a:pPr marL="154440" indent="-154440">
              <a:lnSpc>
                <a:spcPct val="80000"/>
              </a:lnSpc>
              <a:spcBef>
                <a:spcPts val="675"/>
              </a:spcBef>
              <a:buClr>
                <a:srgbClr val="000000"/>
              </a:buClr>
              <a:buFont typeface="Arial"/>
              <a:buChar char="•"/>
              <a:tabLst>
                <a:tab pos="0" algn="l"/>
              </a:tabLst>
            </a:pPr>
            <a:endParaRPr lang="en-US" sz="2400" b="0" strike="noStrike" spc="-1" dirty="0">
              <a:solidFill>
                <a:srgbClr val="000000"/>
              </a:solidFill>
              <a:latin typeface="Arial"/>
            </a:endParaRPr>
          </a:p>
          <a:p>
            <a:pPr marL="0" indent="0">
              <a:lnSpc>
                <a:spcPct val="80000"/>
              </a:lnSpc>
              <a:spcBef>
                <a:spcPts val="675"/>
              </a:spcBef>
              <a:buClr>
                <a:srgbClr val="000000"/>
              </a:buClr>
              <a:buNone/>
              <a:tabLst>
                <a:tab pos="0" algn="l"/>
              </a:tabLst>
            </a:pPr>
            <a:r>
              <a:rPr lang="en-US" sz="2400" b="0" strike="noStrike" spc="-1" dirty="0">
                <a:solidFill>
                  <a:srgbClr val="000000"/>
                </a:solidFill>
                <a:latin typeface="Arial"/>
              </a:rPr>
              <a:t>Strict comparison (===) checks </a:t>
            </a:r>
            <a:r>
              <a:rPr lang="en-US" sz="2400" spc="-1" dirty="0">
                <a:solidFill>
                  <a:srgbClr val="000000"/>
                </a:solidFill>
                <a:latin typeface="Arial"/>
              </a:rPr>
              <a:t>both the value and type of the variables</a:t>
            </a:r>
            <a:endParaRPr lang="en-US" sz="2400" b="0" strike="noStrike" spc="-1" dirty="0">
              <a:solidFill>
                <a:srgbClr val="000000"/>
              </a:solidFill>
              <a:latin typeface="Arial"/>
            </a:endParaRPr>
          </a:p>
        </p:txBody>
      </p:sp>
      <p:sp>
        <p:nvSpPr>
          <p:cNvPr id="292" name="PlaceHolder 3"/>
          <p:cNvSpPr>
            <a:spLocks noGrp="1"/>
          </p:cNvSpPr>
          <p:nvPr>
            <p:ph type="sldNum" idx="35"/>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986D1FAA-BC7D-4456-9B5F-8E537D63C04F}" type="slidenum">
              <a:rPr lang="en-US" sz="810" b="0" strike="noStrike" spc="-1">
                <a:solidFill>
                  <a:srgbClr val="D9D9D9"/>
                </a:solidFill>
                <a:latin typeface="Arial"/>
              </a:rPr>
              <a:t>52</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39000"/>
    </mc:Choice>
    <mc:Fallback xmlns="" xmlns:p15="http://schemas.microsoft.com/office/powerpoint/2012/main">
      <p:transition spd="slow" advTm="39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Ternary Operator</a:t>
            </a:r>
            <a:endParaRPr lang="en-US" sz="3959" b="0" strike="noStrike" spc="-1">
              <a:solidFill>
                <a:srgbClr val="FFFFFF"/>
              </a:solidFill>
              <a:latin typeface="Arial"/>
            </a:endParaRPr>
          </a:p>
        </p:txBody>
      </p:sp>
      <p:sp>
        <p:nvSpPr>
          <p:cNvPr id="294"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400" b="0" strike="noStrike" spc="-1" dirty="0">
                <a:solidFill>
                  <a:srgbClr val="000000"/>
                </a:solidFill>
                <a:latin typeface="Arial"/>
              </a:rPr>
              <a:t>The ? or ternary operator works the same as in Java:</a:t>
            </a:r>
          </a:p>
          <a:p>
            <a:pPr indent="0">
              <a:lnSpc>
                <a:spcPct val="90000"/>
              </a:lnSpc>
              <a:spcBef>
                <a:spcPts val="675"/>
              </a:spcBef>
              <a:buNone/>
            </a:pPr>
            <a:endParaRPr lang="en-US" sz="2400" b="0" strike="noStrike" spc="-1" dirty="0">
              <a:solidFill>
                <a:srgbClr val="000000"/>
              </a:solidFill>
              <a:latin typeface="Arial"/>
            </a:endParaRPr>
          </a:p>
          <a:p>
            <a:pPr indent="0">
              <a:lnSpc>
                <a:spcPct val="90000"/>
              </a:lnSpc>
              <a:spcBef>
                <a:spcPts val="675"/>
              </a:spcBef>
              <a:buNone/>
            </a:pP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	 //Example 1</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if ( $x == 0)</a:t>
            </a:r>
            <a:endParaRPr lang="en-US" sz="2000" b="0" strike="noStrike" spc="-1" dirty="0">
              <a:solidFill>
                <a:srgbClr val="000000"/>
              </a:solidFill>
              <a:latin typeface="Arial"/>
            </a:endParaRPr>
          </a:p>
          <a:p>
            <a:pPr marL="771480" indent="0">
              <a:lnSpc>
                <a:spcPct val="90000"/>
              </a:lnSpc>
              <a:spcBef>
                <a:spcPts val="337"/>
              </a:spcBef>
              <a:buNone/>
              <a:tabLst>
                <a:tab pos="0" algn="l"/>
              </a:tabLst>
            </a:pPr>
            <a:r>
              <a:rPr lang="en-US" sz="2160" b="1" strike="noStrike" spc="-1" dirty="0">
                <a:solidFill>
                  <a:srgbClr val="000000"/>
                </a:solidFill>
                <a:latin typeface="Courier New"/>
              </a:rPr>
              <a:t>$y = 5;</a:t>
            </a:r>
            <a:endParaRPr lang="en-US" sz="216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else</a:t>
            </a:r>
            <a:endParaRPr lang="en-US" sz="2000" b="0" strike="noStrike" spc="-1" dirty="0">
              <a:solidFill>
                <a:srgbClr val="000000"/>
              </a:solidFill>
              <a:latin typeface="Arial"/>
            </a:endParaRPr>
          </a:p>
          <a:p>
            <a:pPr marL="771480" indent="0">
              <a:lnSpc>
                <a:spcPct val="90000"/>
              </a:lnSpc>
              <a:spcBef>
                <a:spcPts val="337"/>
              </a:spcBef>
              <a:buNone/>
              <a:tabLst>
                <a:tab pos="0" algn="l"/>
              </a:tabLst>
            </a:pPr>
            <a:r>
              <a:rPr lang="en-US" sz="2160" b="1" strike="noStrike" spc="-1" dirty="0">
                <a:solidFill>
                  <a:srgbClr val="000000"/>
                </a:solidFill>
                <a:latin typeface="Courier New"/>
              </a:rPr>
              <a:t>$y = 6;</a:t>
            </a:r>
            <a:endParaRPr lang="en-US" sz="2160" b="0" strike="noStrike" spc="-1" dirty="0">
              <a:solidFill>
                <a:srgbClr val="000000"/>
              </a:solidFill>
              <a:latin typeface="Arial"/>
            </a:endParaRPr>
          </a:p>
          <a:p>
            <a:pPr marL="771480" indent="0">
              <a:lnSpc>
                <a:spcPct val="90000"/>
              </a:lnSpc>
              <a:spcBef>
                <a:spcPts val="337"/>
              </a:spcBef>
              <a:buNone/>
              <a:tabLst>
                <a:tab pos="0" algn="l"/>
              </a:tabLst>
            </a:pPr>
            <a:endParaRPr lang="en-US" sz="216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//Example 2</a:t>
            </a:r>
            <a:endParaRPr lang="en-US" sz="2000" b="0" strike="noStrike" spc="-1" dirty="0">
              <a:solidFill>
                <a:srgbClr val="000000"/>
              </a:solidFill>
              <a:latin typeface="Arial"/>
            </a:endParaRPr>
          </a:p>
          <a:p>
            <a:pPr marL="462960" indent="0">
              <a:lnSpc>
                <a:spcPct val="90000"/>
              </a:lnSpc>
              <a:spcBef>
                <a:spcPts val="337"/>
              </a:spcBef>
              <a:buNone/>
              <a:tabLst>
                <a:tab pos="0" algn="l"/>
              </a:tabLst>
            </a:pPr>
            <a:r>
              <a:rPr lang="en-US" sz="2000" b="1" strike="noStrike" spc="-1" dirty="0">
                <a:solidFill>
                  <a:srgbClr val="000000"/>
                </a:solidFill>
                <a:latin typeface="Courier New"/>
              </a:rPr>
              <a:t>$y = ($x==0) ? 5 : 6;</a:t>
            </a:r>
            <a:endParaRPr lang="en-US" sz="2000" b="0" strike="noStrike" spc="-1" dirty="0">
              <a:solidFill>
                <a:srgbClr val="000000"/>
              </a:solidFill>
              <a:latin typeface="Arial"/>
            </a:endParaRPr>
          </a:p>
        </p:txBody>
      </p:sp>
      <p:sp>
        <p:nvSpPr>
          <p:cNvPr id="295" name="PlaceHolder 3"/>
          <p:cNvSpPr>
            <a:spLocks noGrp="1"/>
          </p:cNvSpPr>
          <p:nvPr>
            <p:ph type="sldNum" idx="36"/>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398559E7-6CEC-46EB-84C8-5A0323A4DDCB}" type="slidenum">
              <a:rPr lang="en-US" sz="810" b="0" strike="noStrike" spc="-1">
                <a:solidFill>
                  <a:srgbClr val="D9D9D9"/>
                </a:solidFill>
                <a:latin typeface="Arial"/>
              </a:rPr>
              <a:t>53</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3000"/>
    </mc:Choice>
    <mc:Fallback xmlns="" xmlns:p15="http://schemas.microsoft.com/office/powerpoint/2012/main">
      <p:transition spd="slow" advTm="13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Checkpoint</a:t>
            </a:r>
            <a:endParaRPr lang="en-US" sz="3959" b="0" strike="noStrike" spc="-1">
              <a:solidFill>
                <a:srgbClr val="FFFFFF"/>
              </a:solidFill>
              <a:latin typeface="Arial"/>
            </a:endParaRPr>
          </a:p>
        </p:txBody>
      </p:sp>
      <p:sp>
        <p:nvSpPr>
          <p:cNvPr id="300"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80000"/>
              </a:lnSpc>
              <a:spcBef>
                <a:spcPts val="675"/>
              </a:spcBef>
              <a:buClr>
                <a:srgbClr val="000000"/>
              </a:buClr>
              <a:buFont typeface="Arial"/>
              <a:buChar char="•"/>
            </a:pPr>
            <a:r>
              <a:rPr lang="en-US" sz="2400" b="0" strike="noStrike" spc="-1" dirty="0">
                <a:solidFill>
                  <a:srgbClr val="000000"/>
                </a:solidFill>
                <a:latin typeface="Arial"/>
              </a:rPr>
              <a:t>What are the values of $number1 and $number3 when you are finished?</a:t>
            </a:r>
          </a:p>
          <a:p>
            <a:pPr indent="0">
              <a:lnSpc>
                <a:spcPct val="80000"/>
              </a:lnSpc>
              <a:spcBef>
                <a:spcPts val="675"/>
              </a:spcBef>
              <a:buNone/>
            </a:pP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1" strike="noStrike" spc="-1" dirty="0">
                <a:solidFill>
                  <a:srgbClr val="000000"/>
                </a:solidFill>
                <a:latin typeface="Courier New"/>
              </a:rPr>
              <a:t>$number1=2.5;</a:t>
            </a: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1" strike="noStrike" spc="-1" dirty="0">
                <a:solidFill>
                  <a:srgbClr val="000000"/>
                </a:solidFill>
                <a:latin typeface="Courier New"/>
              </a:rPr>
              <a:t>$number2=10;</a:t>
            </a: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1" strike="noStrike" spc="-1" dirty="0">
                <a:solidFill>
                  <a:srgbClr val="000000"/>
                </a:solidFill>
                <a:latin typeface="Courier New"/>
              </a:rPr>
              <a:t>$number3=12.5;</a:t>
            </a:r>
            <a:endParaRPr lang="en-US" sz="2400" b="0" strike="noStrike" spc="-1" dirty="0">
              <a:solidFill>
                <a:srgbClr val="000000"/>
              </a:solidFill>
              <a:latin typeface="Arial"/>
            </a:endParaRPr>
          </a:p>
          <a:p>
            <a:pPr marL="154440" indent="0">
              <a:lnSpc>
                <a:spcPct val="80000"/>
              </a:lnSpc>
              <a:spcBef>
                <a:spcPts val="675"/>
              </a:spcBef>
              <a:buNone/>
              <a:tabLst>
                <a:tab pos="0" algn="l"/>
              </a:tabLst>
            </a:pP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1" strike="noStrike" spc="-1" dirty="0">
                <a:solidFill>
                  <a:srgbClr val="000000"/>
                </a:solidFill>
                <a:latin typeface="Courier New"/>
              </a:rPr>
              <a:t>$number2 = $number1 + $number3;</a:t>
            </a: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1" strike="noStrike" spc="-1" dirty="0">
                <a:solidFill>
                  <a:srgbClr val="000000"/>
                </a:solidFill>
                <a:latin typeface="Courier New"/>
              </a:rPr>
              <a:t>$number1 = $number1 * 2 + 5;</a:t>
            </a:r>
            <a:endParaRPr lang="en-US" sz="2400" b="0" strike="noStrike" spc="-1" dirty="0">
              <a:solidFill>
                <a:srgbClr val="000000"/>
              </a:solidFill>
              <a:latin typeface="Arial"/>
            </a:endParaRPr>
          </a:p>
          <a:p>
            <a:pPr marL="154440" indent="0">
              <a:lnSpc>
                <a:spcPct val="80000"/>
              </a:lnSpc>
              <a:spcBef>
                <a:spcPts val="675"/>
              </a:spcBef>
              <a:buNone/>
              <a:tabLst>
                <a:tab pos="0" algn="l"/>
              </a:tabLst>
            </a:pPr>
            <a:r>
              <a:rPr lang="en-US" sz="2400" b="1" strike="noStrike" spc="-1" dirty="0">
                <a:solidFill>
                  <a:srgbClr val="000000"/>
                </a:solidFill>
                <a:latin typeface="Courier New"/>
              </a:rPr>
              <a:t>$number3 = $number2 - $number1;</a:t>
            </a:r>
          </a:p>
          <a:p>
            <a:pPr marL="154440" indent="0">
              <a:lnSpc>
                <a:spcPct val="80000"/>
              </a:lnSpc>
              <a:spcBef>
                <a:spcPts val="675"/>
              </a:spcBef>
              <a:buNone/>
              <a:tabLst>
                <a:tab pos="0" algn="l"/>
              </a:tabLst>
            </a:pPr>
            <a:endParaRPr lang="en-US" sz="2400" b="1" spc="-1" dirty="0">
              <a:solidFill>
                <a:srgbClr val="000000"/>
              </a:solidFill>
              <a:latin typeface="Courier New"/>
            </a:endParaRPr>
          </a:p>
          <a:p>
            <a:pPr marL="154440" indent="0">
              <a:lnSpc>
                <a:spcPct val="80000"/>
              </a:lnSpc>
              <a:spcBef>
                <a:spcPts val="675"/>
              </a:spcBef>
              <a:buNone/>
              <a:tabLst>
                <a:tab pos="0" algn="l"/>
              </a:tabLst>
            </a:pPr>
            <a:r>
              <a:rPr lang="en-US" sz="2400" b="1" spc="-1" dirty="0">
                <a:solidFill>
                  <a:srgbClr val="000000"/>
                </a:solidFill>
                <a:latin typeface="Courier New"/>
              </a:rPr>
              <a:t>// $number2 = 15, $number1= 10, $number3= 5</a:t>
            </a:r>
            <a:endParaRPr lang="en-US" sz="2400" b="0" strike="noStrike" spc="-1" dirty="0">
              <a:solidFill>
                <a:srgbClr val="000000"/>
              </a:solidFill>
              <a:latin typeface="Arial"/>
            </a:endParaRPr>
          </a:p>
          <a:p>
            <a:pPr indent="0">
              <a:lnSpc>
                <a:spcPct val="80000"/>
              </a:lnSpc>
              <a:spcBef>
                <a:spcPts val="675"/>
              </a:spcBef>
              <a:buNone/>
              <a:tabLst>
                <a:tab pos="0" algn="l"/>
              </a:tabLst>
            </a:pPr>
            <a:endParaRPr lang="en-US" sz="2400" b="0" strike="noStrike" spc="-1" dirty="0">
              <a:solidFill>
                <a:srgbClr val="000000"/>
              </a:solidFill>
              <a:latin typeface="Arial"/>
            </a:endParaRPr>
          </a:p>
        </p:txBody>
      </p:sp>
      <p:sp>
        <p:nvSpPr>
          <p:cNvPr id="301" name="PlaceHolder 3"/>
          <p:cNvSpPr>
            <a:spLocks noGrp="1"/>
          </p:cNvSpPr>
          <p:nvPr>
            <p:ph type="sldNum" idx="38"/>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294A1A2D-0930-4B40-AAD4-C9F18EFF5CA7}" type="slidenum">
              <a:rPr lang="en-US" sz="810" b="0" strike="noStrike" spc="-1">
                <a:solidFill>
                  <a:srgbClr val="D9D9D9"/>
                </a:solidFill>
                <a:latin typeface="Arial"/>
              </a:rPr>
              <a:t>54</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4000"/>
    </mc:Choice>
    <mc:Fallback xmlns="" xmlns:p15="http://schemas.microsoft.com/office/powerpoint/2012/main">
      <p:transition spd="slow" advTm="14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Checkpoint</a:t>
            </a:r>
            <a:endParaRPr lang="en-US" sz="3959" b="0" strike="noStrike" spc="-1">
              <a:solidFill>
                <a:srgbClr val="FFFFFF"/>
              </a:solidFill>
              <a:latin typeface="Arial"/>
            </a:endParaRPr>
          </a:p>
        </p:txBody>
      </p:sp>
      <p:sp>
        <p:nvSpPr>
          <p:cNvPr id="303"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000" b="0" strike="noStrike" spc="-1" dirty="0">
                <a:solidFill>
                  <a:srgbClr val="000000"/>
                </a:solidFill>
                <a:latin typeface="Arial"/>
              </a:rPr>
              <a:t>Are the following IF statements TRUE or FALSE?</a:t>
            </a:r>
          </a:p>
          <a:p>
            <a:pPr indent="0">
              <a:lnSpc>
                <a:spcPct val="90000"/>
              </a:lnSpc>
              <a:spcBef>
                <a:spcPts val="675"/>
              </a:spcBef>
              <a:buNone/>
            </a:pP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$num1 = 15;</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$num2 = 6;</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$name1 = "catherine";</a:t>
            </a: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$name2 = "Todd";</a:t>
            </a:r>
            <a:endParaRPr lang="en-US" sz="2000" b="0" strike="noStrike" spc="-1" dirty="0">
              <a:solidFill>
                <a:srgbClr val="000000"/>
              </a:solidFill>
              <a:latin typeface="Arial"/>
            </a:endParaRPr>
          </a:p>
          <a:p>
            <a:pPr marL="154440" indent="0">
              <a:lnSpc>
                <a:spcPct val="90000"/>
              </a:lnSpc>
              <a:spcBef>
                <a:spcPts val="675"/>
              </a:spcBef>
              <a:buNone/>
              <a:tabLst>
                <a:tab pos="0" algn="l"/>
              </a:tabLst>
            </a:pPr>
            <a:endParaRPr lang="en-US" sz="2000" b="0" strike="noStrike" spc="-1" dirty="0">
              <a:solidFill>
                <a:srgbClr val="00000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if ($num1 &gt; 10 OR $num2 &lt; 5 )</a:t>
            </a:r>
            <a:r>
              <a:rPr lang="en-US" sz="2000" b="1" spc="-1" dirty="0">
                <a:solidFill>
                  <a:srgbClr val="000000"/>
                </a:solidFill>
                <a:latin typeface="Courier New"/>
              </a:rPr>
              <a:t> // </a:t>
            </a:r>
            <a:r>
              <a:rPr lang="en-US" sz="2000" b="1" spc="-1" dirty="0">
                <a:solidFill>
                  <a:srgbClr val="00B050"/>
                </a:solidFill>
                <a:latin typeface="Courier New"/>
              </a:rPr>
              <a:t>True</a:t>
            </a:r>
            <a:endParaRPr lang="en-US" sz="2000" b="0" strike="noStrike" spc="-1" dirty="0">
              <a:solidFill>
                <a:srgbClr val="00B05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if (</a:t>
            </a:r>
            <a:r>
              <a:rPr lang="en-US" sz="2000" b="1" strike="noStrike" spc="-1" dirty="0" err="1">
                <a:solidFill>
                  <a:srgbClr val="000000"/>
                </a:solidFill>
                <a:latin typeface="Courier New"/>
              </a:rPr>
              <a:t>strtolower</a:t>
            </a:r>
            <a:r>
              <a:rPr lang="en-US" sz="2000" b="1" strike="noStrike" spc="-1" dirty="0">
                <a:solidFill>
                  <a:srgbClr val="000000"/>
                </a:solidFill>
                <a:latin typeface="Courier New"/>
              </a:rPr>
              <a:t>($name2) &gt; $name1)  </a:t>
            </a:r>
            <a:r>
              <a:rPr lang="en-US" sz="2000" b="1" strike="noStrike" spc="-1" dirty="0">
                <a:solidFill>
                  <a:srgbClr val="00B050"/>
                </a:solidFill>
                <a:latin typeface="Courier New"/>
              </a:rPr>
              <a:t>// True because “</a:t>
            </a:r>
            <a:r>
              <a:rPr lang="en-US" sz="2000" b="1" strike="noStrike" spc="-1" dirty="0" err="1">
                <a:solidFill>
                  <a:srgbClr val="00B050"/>
                </a:solidFill>
                <a:latin typeface="Courier New"/>
              </a:rPr>
              <a:t>todd</a:t>
            </a:r>
            <a:r>
              <a:rPr lang="en-US" sz="2000" b="1" strike="noStrike" spc="-1" dirty="0">
                <a:solidFill>
                  <a:srgbClr val="00B050"/>
                </a:solidFill>
                <a:latin typeface="Courier New"/>
              </a:rPr>
              <a:t>” comes after “catherine” lexicographically</a:t>
            </a:r>
            <a:endParaRPr lang="en-US" sz="2000" b="0" strike="noStrike" spc="-1" dirty="0">
              <a:solidFill>
                <a:srgbClr val="00B050"/>
              </a:solidFill>
              <a:latin typeface="Arial"/>
            </a:endParaRPr>
          </a:p>
          <a:p>
            <a:pPr marL="154440" indent="0">
              <a:lnSpc>
                <a:spcPct val="90000"/>
              </a:lnSpc>
              <a:spcBef>
                <a:spcPts val="675"/>
              </a:spcBef>
              <a:buNone/>
              <a:tabLst>
                <a:tab pos="0" algn="l"/>
              </a:tabLst>
            </a:pPr>
            <a:r>
              <a:rPr lang="en-US" sz="2000" b="1" strike="noStrike" spc="-1" dirty="0">
                <a:solidFill>
                  <a:srgbClr val="000000"/>
                </a:solidFill>
                <a:latin typeface="Courier New"/>
              </a:rPr>
              <a:t>if ($num2 == 6 AND ($name2=="</a:t>
            </a:r>
            <a:r>
              <a:rPr lang="en-US" sz="2000" b="1" strike="noStrike" spc="-1" dirty="0" err="1">
                <a:solidFill>
                  <a:srgbClr val="000000"/>
                </a:solidFill>
                <a:latin typeface="Courier New"/>
              </a:rPr>
              <a:t>todd</a:t>
            </a:r>
            <a:r>
              <a:rPr lang="en-US" sz="2000" b="1" strike="noStrike" spc="-1" dirty="0">
                <a:solidFill>
                  <a:srgbClr val="000000"/>
                </a:solidFill>
                <a:latin typeface="Courier New"/>
              </a:rPr>
              <a:t>" OR $num1&lt;2)) </a:t>
            </a:r>
            <a:r>
              <a:rPr lang="en-US" sz="2000" b="1" strike="noStrike" spc="-1" dirty="0">
                <a:solidFill>
                  <a:srgbClr val="00B050"/>
                </a:solidFill>
                <a:latin typeface="Courier New"/>
              </a:rPr>
              <a:t>//False</a:t>
            </a:r>
            <a:endParaRPr lang="en-US" sz="2000" b="0" strike="noStrike" spc="-1" dirty="0">
              <a:solidFill>
                <a:srgbClr val="00B050"/>
              </a:solidFill>
              <a:latin typeface="Arial"/>
            </a:endParaRPr>
          </a:p>
        </p:txBody>
      </p:sp>
      <p:sp>
        <p:nvSpPr>
          <p:cNvPr id="304" name="PlaceHolder 3"/>
          <p:cNvSpPr>
            <a:spLocks noGrp="1"/>
          </p:cNvSpPr>
          <p:nvPr>
            <p:ph type="sldNum" idx="39"/>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5FC982FE-8B65-4744-BF8A-E9AD5E2A3DD9}" type="slidenum">
              <a:rPr lang="en-US" sz="810" b="0" strike="noStrike" spc="-1">
                <a:solidFill>
                  <a:srgbClr val="D9D9D9"/>
                </a:solidFill>
                <a:latin typeface="Arial"/>
              </a:rPr>
              <a:t>55</a:t>
            </a:fld>
            <a:endParaRPr lang="en-US" sz="810" b="0" strike="noStrike" spc="-1">
              <a:solidFill>
                <a:srgbClr val="000000"/>
              </a:solidFill>
              <a:latin typeface="Times New Roman"/>
            </a:endParaRPr>
          </a:p>
        </p:txBody>
      </p:sp>
      <p:sp>
        <p:nvSpPr>
          <p:cNvPr id="2" name="Rectangle 1">
            <a:extLst>
              <a:ext uri="{FF2B5EF4-FFF2-40B4-BE49-F238E27FC236}">
                <a16:creationId xmlns:a16="http://schemas.microsoft.com/office/drawing/2014/main" id="{9664DBE4-88C4-F072-2A2B-30FBD884BDD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RUE</a:t>
            </a:r>
            <a:r>
              <a:rPr kumimoji="0" lang="en-US" altLang="en-US" sz="1800" b="0" i="0" u="none" strike="noStrike" cap="none" normalizeH="0" baseline="0">
                <a:ln>
                  <a:noFill/>
                </a:ln>
                <a:solidFill>
                  <a:schemeClr val="tx1"/>
                </a:solidFill>
                <a:effectLst/>
                <a:latin typeface="Arial" panose="020B0604020202020204" pitchFamily="34" charset="0"/>
              </a:rPr>
              <a:t> because </a:t>
            </a:r>
            <a:r>
              <a:rPr kumimoji="0" lang="en-US" altLang="en-US" sz="1000" b="0" i="0" u="none" strike="noStrike" cap="none" normalizeH="0" baseline="0">
                <a:ln>
                  <a:noFill/>
                </a:ln>
                <a:solidFill>
                  <a:schemeClr val="tx1"/>
                </a:solidFill>
                <a:effectLst/>
                <a:latin typeface="Arial Unicode MS"/>
              </a:rPr>
              <a:t>"todd"</a:t>
            </a:r>
            <a:r>
              <a:rPr kumimoji="0" lang="en-US" altLang="en-US" sz="800" b="0" i="0" u="none" strike="noStrike" cap="none" normalizeH="0" baseline="0">
                <a:ln>
                  <a:noFill/>
                </a:ln>
                <a:solidFill>
                  <a:schemeClr val="tx1"/>
                </a:solidFill>
                <a:effectLst/>
              </a:rPr>
              <a:t> is lexicographically greater than </a:t>
            </a:r>
            <a:r>
              <a:rPr kumimoji="0" lang="en-US" altLang="en-US" sz="1000" b="0" i="0" u="none" strike="noStrike" cap="none" normalizeH="0" baseline="0">
                <a:ln>
                  <a:noFill/>
                </a:ln>
                <a:solidFill>
                  <a:schemeClr val="tx1"/>
                </a:solidFill>
                <a:effectLst/>
                <a:latin typeface="Arial Unicode MS"/>
              </a:rPr>
              <a:t>"catherine"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1000"/>
    </mc:Choice>
    <mc:Fallback xmlns="" xmlns:p15="http://schemas.microsoft.com/office/powerpoint/2012/main">
      <p:transition spd="slow" advTm="11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The End</a:t>
            </a:r>
            <a:endParaRPr lang="en-US" sz="3959" b="0" strike="noStrike" spc="-1">
              <a:solidFill>
                <a:srgbClr val="FFFFFF"/>
              </a:solidFill>
              <a:latin typeface="Arial"/>
            </a:endParaRPr>
          </a:p>
        </p:txBody>
      </p:sp>
      <p:sp>
        <p:nvSpPr>
          <p:cNvPr id="306" name="PlaceHolder 2"/>
          <p:cNvSpPr>
            <a:spLocks noGrp="1"/>
          </p:cNvSpPr>
          <p:nvPr>
            <p:ph type="sldNum" idx="40"/>
          </p:nvPr>
        </p:nvSpPr>
        <p:spPr>
          <a:xfrm>
            <a:off x="10398960" y="6356520"/>
            <a:ext cx="954360" cy="364680"/>
          </a:xfrm>
          <a:prstGeom prst="rect">
            <a:avLst/>
          </a:prstGeom>
          <a:noFill/>
          <a:ln w="0">
            <a:noFill/>
          </a:ln>
        </p:spPr>
        <p:txBody>
          <a:bodyPr anchor="ctr">
            <a:noAutofit/>
          </a:bodyPr>
          <a:lstStyle>
            <a:lvl1pPr indent="0" algn="r">
              <a:lnSpc>
                <a:spcPct val="100000"/>
              </a:lnSpc>
              <a:buNone/>
              <a:defRPr lang="en-US" sz="810" b="0" strike="noStrike" spc="-1">
                <a:solidFill>
                  <a:srgbClr val="D9D9D9"/>
                </a:solidFill>
                <a:latin typeface="Arial"/>
              </a:defRPr>
            </a:lvl1pPr>
          </a:lstStyle>
          <a:p>
            <a:pPr indent="0" algn="r">
              <a:lnSpc>
                <a:spcPct val="100000"/>
              </a:lnSpc>
              <a:buNone/>
            </a:pPr>
            <a:fld id="{86793773-64F9-49CC-9BF6-E0FB7A31C46A}" type="slidenum">
              <a:rPr lang="en-US" sz="810" b="0" strike="noStrike" spc="-1">
                <a:solidFill>
                  <a:srgbClr val="D9D9D9"/>
                </a:solidFill>
                <a:latin typeface="Arial"/>
              </a:rPr>
              <a:t>56</a:t>
            </a:fld>
            <a:endParaRPr lang="en-US" sz="81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advTm="18000"/>
    </mc:Choice>
    <mc:Fallback xmlns="" xmlns:p15="http://schemas.microsoft.com/office/powerpoint/2012/main">
      <p:transition spd="slow" advTm="18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CA" sz="3959" b="0" strike="noStrike" spc="-1">
                <a:solidFill>
                  <a:srgbClr val="6F6F6F"/>
                </a:solidFill>
                <a:latin typeface="Arial"/>
              </a:rPr>
              <a:t>What’s Coming</a:t>
            </a:r>
            <a:endParaRPr lang="en-US" sz="3959" b="0" strike="noStrike" spc="-1">
              <a:solidFill>
                <a:srgbClr val="FFFFFF"/>
              </a:solidFill>
              <a:latin typeface="Arial"/>
            </a:endParaRPr>
          </a:p>
        </p:txBody>
      </p:sp>
      <p:sp>
        <p:nvSpPr>
          <p:cNvPr id="308"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154440">
              <a:lnSpc>
                <a:spcPct val="90000"/>
              </a:lnSpc>
              <a:spcBef>
                <a:spcPts val="675"/>
              </a:spcBef>
              <a:buClr>
                <a:srgbClr val="000000"/>
              </a:buClr>
              <a:buFont typeface="Arial"/>
              <a:buChar char="•"/>
            </a:pPr>
            <a:r>
              <a:rPr lang="en-CA" sz="2880" b="0" strike="noStrike" spc="-1" dirty="0">
                <a:solidFill>
                  <a:srgbClr val="000000"/>
                </a:solidFill>
                <a:latin typeface="Arial"/>
              </a:rPr>
              <a:t>Topics such as these from phpsec.org plus a few more:</a:t>
            </a:r>
            <a:endParaRPr lang="en-US" sz="288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Register </a:t>
            </a:r>
            <a:r>
              <a:rPr lang="en-CA" sz="2520" b="0" strike="noStrike" spc="-1" dirty="0" err="1">
                <a:solidFill>
                  <a:srgbClr val="000000"/>
                </a:solidFill>
                <a:latin typeface="Arial"/>
              </a:rPr>
              <a:t>Globals</a:t>
            </a:r>
            <a:r>
              <a:rPr lang="en-CA" sz="2520" b="0" strike="noStrike" spc="-1" dirty="0">
                <a:solidFill>
                  <a:srgbClr val="000000"/>
                </a:solidFill>
                <a:latin typeface="Arial"/>
              </a:rPr>
              <a:t> disabled</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Data Filtering</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Dispatch method (MVC)</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Including security code at the top of every page</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Naming conventions</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Timing</a:t>
            </a:r>
            <a:endParaRPr lang="en-US" sz="2520" b="0" strike="noStrike" spc="-1" dirty="0">
              <a:solidFill>
                <a:srgbClr val="000000"/>
              </a:solidFill>
              <a:latin typeface="Arial"/>
            </a:endParaRPr>
          </a:p>
          <a:p>
            <a:pPr marL="462960" lvl="1" indent="-154440">
              <a:lnSpc>
                <a:spcPct val="90000"/>
              </a:lnSpc>
              <a:spcBef>
                <a:spcPts val="337"/>
              </a:spcBef>
              <a:buClr>
                <a:srgbClr val="000000"/>
              </a:buClr>
              <a:buFont typeface="Arial"/>
              <a:buChar char="•"/>
            </a:pPr>
            <a:r>
              <a:rPr lang="en-CA" sz="2520" b="0" strike="noStrike" spc="-1" dirty="0">
                <a:solidFill>
                  <a:srgbClr val="000000"/>
                </a:solidFill>
                <a:latin typeface="Arial"/>
              </a:rPr>
              <a:t>Error Reporting</a:t>
            </a:r>
            <a:endParaRPr lang="en-US" sz="2520" b="0" strike="noStrike" spc="-1" dirty="0">
              <a:solidFill>
                <a:srgbClr val="000000"/>
              </a:solidFill>
              <a:latin typeface="Arial"/>
            </a:endParaRPr>
          </a:p>
          <a:p>
            <a:pPr indent="0">
              <a:lnSpc>
                <a:spcPct val="90000"/>
              </a:lnSpc>
              <a:spcBef>
                <a:spcPts val="337"/>
              </a:spcBef>
              <a:buNone/>
            </a:pPr>
            <a:endParaRPr lang="en-US" sz="2520" b="0" strike="noStrike" spc="-1" dirty="0">
              <a:solidFill>
                <a:srgbClr val="000000"/>
              </a:solidFill>
              <a:latin typeface="Arial"/>
            </a:endParaRPr>
          </a:p>
          <a:p>
            <a:pPr indent="0">
              <a:lnSpc>
                <a:spcPct val="90000"/>
              </a:lnSpc>
              <a:spcBef>
                <a:spcPts val="337"/>
              </a:spcBef>
              <a:buNone/>
            </a:pPr>
            <a:endParaRPr lang="en-US" sz="2520" b="0" strike="noStrike" spc="-1" dirty="0">
              <a:solidFill>
                <a:srgbClr val="000000"/>
              </a:solidFill>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Homework</a:t>
            </a:r>
            <a:endParaRPr lang="en-US" sz="3959" b="0" strike="noStrike" spc="-1">
              <a:solidFill>
                <a:srgbClr val="FFFFFF"/>
              </a:solidFill>
              <a:latin typeface="Arial"/>
            </a:endParaRPr>
          </a:p>
        </p:txBody>
      </p:sp>
      <p:sp>
        <p:nvSpPr>
          <p:cNvPr id="310" name="PlaceHolder 2"/>
          <p:cNvSpPr>
            <a:spLocks noGrp="1"/>
          </p:cNvSpPr>
          <p:nvPr>
            <p:ph/>
          </p:nvPr>
        </p:nvSpPr>
        <p:spPr>
          <a:xfrm>
            <a:off x="1119960" y="1825560"/>
            <a:ext cx="10233360" cy="4070880"/>
          </a:xfrm>
          <a:prstGeom prst="rect">
            <a:avLst/>
          </a:prstGeom>
          <a:noFill/>
          <a:ln w="0">
            <a:noFill/>
          </a:ln>
        </p:spPr>
        <p:txBody>
          <a:bodyPr anchor="t">
            <a:noAutofit/>
          </a:bodyPr>
          <a:lstStyle/>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Try out some sample scripts</a:t>
            </a:r>
          </a:p>
          <a:p>
            <a:pPr marL="154440" indent="-154440">
              <a:lnSpc>
                <a:spcPct val="90000"/>
              </a:lnSpc>
              <a:spcBef>
                <a:spcPts val="675"/>
              </a:spcBef>
              <a:buClr>
                <a:srgbClr val="000000"/>
              </a:buClr>
              <a:buFont typeface="Arial"/>
              <a:buChar char="•"/>
            </a:pPr>
            <a:r>
              <a:rPr lang="en-US" sz="2880" b="0" strike="noStrike" spc="-1">
                <a:solidFill>
                  <a:srgbClr val="000000"/>
                </a:solidFill>
                <a:latin typeface="Arial"/>
              </a:rPr>
              <a:t>Activity F02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3959" b="0" strike="noStrike" spc="-1">
                <a:solidFill>
                  <a:srgbClr val="6F6F6F"/>
                </a:solidFill>
                <a:latin typeface="Arial"/>
              </a:rPr>
              <a:t>References</a:t>
            </a:r>
            <a:endParaRPr lang="en-US" sz="3959" b="0" strike="noStrike" spc="-1">
              <a:solidFill>
                <a:srgbClr val="FFFFFF"/>
              </a:solidFill>
              <a:latin typeface="Arial"/>
            </a:endParaRPr>
          </a:p>
        </p:txBody>
      </p:sp>
      <p:sp>
        <p:nvSpPr>
          <p:cNvPr id="312" name="PlaceHolder 2"/>
          <p:cNvSpPr>
            <a:spLocks noGrp="1"/>
          </p:cNvSpPr>
          <p:nvPr>
            <p:ph/>
          </p:nvPr>
        </p:nvSpPr>
        <p:spPr>
          <a:xfrm>
            <a:off x="1119960" y="1825560"/>
            <a:ext cx="10233360" cy="4070880"/>
          </a:xfrm>
          <a:prstGeom prst="rect">
            <a:avLst/>
          </a:prstGeom>
          <a:noFill/>
          <a:ln w="0">
            <a:noFill/>
          </a:ln>
        </p:spPr>
        <p:txBody>
          <a:bodyPr anchor="t">
            <a:normAutofit/>
          </a:bodyPr>
          <a:lstStyle/>
          <a:p>
            <a:pPr marL="154440" indent="-154440">
              <a:lnSpc>
                <a:spcPct val="90000"/>
              </a:lnSpc>
              <a:spcBef>
                <a:spcPts val="675"/>
              </a:spcBef>
              <a:buClr>
                <a:srgbClr val="000000"/>
              </a:buClr>
              <a:buFont typeface="Arial"/>
              <a:buChar char="•"/>
            </a:pPr>
            <a:r>
              <a:rPr lang="en-US" sz="2000" b="0" u="sng" strike="noStrike" spc="-1">
                <a:solidFill>
                  <a:srgbClr val="CC9900"/>
                </a:solidFill>
                <a:uFillTx/>
                <a:latin typeface="Arial"/>
                <a:hlinkClick r:id="rId3"/>
              </a:rPr>
              <a:t>www.php.net</a:t>
            </a:r>
            <a:r>
              <a:rPr lang="en-US" sz="2000" b="0" strike="noStrike" spc="-1">
                <a:solidFill>
                  <a:srgbClr val="000000"/>
                </a:solidFill>
                <a:latin typeface="Arial"/>
              </a:rPr>
              <a:t> 			Official PHP site</a:t>
            </a:r>
          </a:p>
          <a:p>
            <a:pPr indent="0">
              <a:lnSpc>
                <a:spcPct val="90000"/>
              </a:lnSpc>
              <a:spcBef>
                <a:spcPts val="337"/>
              </a:spcBef>
              <a:buNone/>
            </a:pPr>
            <a:endParaRPr lang="en-US" sz="2000" b="0" strike="noStrike" spc="-1">
              <a:solidFill>
                <a:srgbClr val="000000"/>
              </a:solidFill>
              <a:latin typeface="Arial"/>
            </a:endParaRPr>
          </a:p>
          <a:p>
            <a:pPr marL="154440" indent="-154440">
              <a:lnSpc>
                <a:spcPct val="90000"/>
              </a:lnSpc>
              <a:spcBef>
                <a:spcPts val="675"/>
              </a:spcBef>
              <a:buClr>
                <a:srgbClr val="000000"/>
              </a:buClr>
              <a:buFont typeface="Arial"/>
              <a:buChar char="•"/>
            </a:pPr>
            <a:r>
              <a:rPr lang="en-US" sz="2000" b="0" u="sng" strike="noStrike" spc="-1">
                <a:solidFill>
                  <a:srgbClr val="CC9900"/>
                </a:solidFill>
                <a:uFillTx/>
                <a:latin typeface="Arial"/>
                <a:hlinkClick r:id="rId4"/>
              </a:rPr>
              <a:t>http://www.securityspace.com</a:t>
            </a:r>
            <a:endParaRPr lang="en-US" sz="2000" b="0" strike="noStrike" spc="-1">
              <a:solidFill>
                <a:srgbClr val="000000"/>
              </a:solidFill>
              <a:latin typeface="Arial"/>
            </a:endParaRPr>
          </a:p>
          <a:p>
            <a:pPr marL="154440" indent="-154440">
              <a:lnSpc>
                <a:spcPct val="90000"/>
              </a:lnSpc>
              <a:spcBef>
                <a:spcPts val="675"/>
              </a:spcBef>
              <a:buClr>
                <a:srgbClr val="000000"/>
              </a:buClr>
              <a:buFont typeface="Arial"/>
              <a:buChar char="•"/>
            </a:pPr>
            <a:r>
              <a:rPr lang="en-US" sz="2000" b="0" u="sng" strike="noStrike" spc="-1">
                <a:solidFill>
                  <a:srgbClr val="CC9900"/>
                </a:solidFill>
                <a:uFillTx/>
                <a:latin typeface="Arial"/>
                <a:hlinkClick r:id="rId5"/>
              </a:rPr>
              <a:t>http://phpeditors.linuxbackup.co.uk</a:t>
            </a:r>
            <a:r>
              <a:rPr lang="en-US" sz="2000" b="0" strike="noStrike" spc="-1">
                <a:solidFill>
                  <a:srgbClr val="000000"/>
                </a:solidFill>
                <a:latin typeface="Arial"/>
              </a:rPr>
              <a:t>	List of editors for PHP</a:t>
            </a:r>
          </a:p>
          <a:p>
            <a:pPr marL="154440" indent="-154440">
              <a:lnSpc>
                <a:spcPct val="90000"/>
              </a:lnSpc>
              <a:spcBef>
                <a:spcPts val="675"/>
              </a:spcBef>
              <a:buClr>
                <a:srgbClr val="000000"/>
              </a:buClr>
              <a:buFont typeface="Arial"/>
              <a:buChar char="•"/>
            </a:pPr>
            <a:r>
              <a:rPr lang="en-US" sz="2000" b="0" u="sng" strike="noStrike" spc="-1">
                <a:solidFill>
                  <a:srgbClr val="CC9900"/>
                </a:solidFill>
                <a:uFillTx/>
                <a:latin typeface="Arial"/>
                <a:hlinkClick r:id="rId6"/>
              </a:rPr>
              <a:t>www.wikipedia.org</a:t>
            </a:r>
            <a:endParaRPr lang="en-US" sz="2000" b="0" strike="noStrike" spc="-1">
              <a:solidFill>
                <a:srgbClr val="000000"/>
              </a:solidFill>
              <a:latin typeface="Arial"/>
            </a:endParaRPr>
          </a:p>
          <a:p>
            <a:pPr indent="0">
              <a:lnSpc>
                <a:spcPct val="90000"/>
              </a:lnSpc>
              <a:spcBef>
                <a:spcPts val="675"/>
              </a:spcBef>
              <a:buNone/>
            </a:pPr>
            <a:endParaRPr lang="en-US" sz="20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fanshawe2014ppt_16x10">
  <a:themeElements>
    <a:clrScheme name="Custom 1">
      <a:dk1>
        <a:srgbClr val="000000"/>
      </a:dk1>
      <a:lt1>
        <a:srgbClr val="FFFFFF"/>
      </a:lt1>
      <a:dk2>
        <a:srgbClr val="424456"/>
      </a:dk2>
      <a:lt2>
        <a:srgbClr val="DEDEDE"/>
      </a:lt2>
      <a:accent1>
        <a:srgbClr val="C00000"/>
      </a:accent1>
      <a:accent2>
        <a:srgbClr val="FF0000"/>
      </a:accent2>
      <a:accent3>
        <a:srgbClr val="FF3300"/>
      </a:accent3>
      <a:accent4>
        <a:srgbClr val="CC3300"/>
      </a:accent4>
      <a:accent5>
        <a:srgbClr val="934B21"/>
      </a:accent5>
      <a:accent6>
        <a:srgbClr val="C69B7D"/>
      </a:accent6>
      <a:hlink>
        <a:srgbClr val="CC9900"/>
      </a:hlink>
      <a:folHlink>
        <a:srgbClr val="66003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nshawe2014ppt_16x10">
  <a:themeElements>
    <a:clrScheme name="Custom 1">
      <a:dk1>
        <a:srgbClr val="000000"/>
      </a:dk1>
      <a:lt1>
        <a:srgbClr val="FFFFFF"/>
      </a:lt1>
      <a:dk2>
        <a:srgbClr val="424456"/>
      </a:dk2>
      <a:lt2>
        <a:srgbClr val="DEDEDE"/>
      </a:lt2>
      <a:accent1>
        <a:srgbClr val="C00000"/>
      </a:accent1>
      <a:accent2>
        <a:srgbClr val="FF0000"/>
      </a:accent2>
      <a:accent3>
        <a:srgbClr val="FF3300"/>
      </a:accent3>
      <a:accent4>
        <a:srgbClr val="CC3300"/>
      </a:accent4>
      <a:accent5>
        <a:srgbClr val="934B21"/>
      </a:accent5>
      <a:accent6>
        <a:srgbClr val="C69B7D"/>
      </a:accent6>
      <a:hlink>
        <a:srgbClr val="CC9900"/>
      </a:hlink>
      <a:folHlink>
        <a:srgbClr val="66003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anshawe2014ppt_16x10">
  <a:themeElements>
    <a:clrScheme name="Custom 1">
      <a:dk1>
        <a:srgbClr val="000000"/>
      </a:dk1>
      <a:lt1>
        <a:srgbClr val="FFFFFF"/>
      </a:lt1>
      <a:dk2>
        <a:srgbClr val="424456"/>
      </a:dk2>
      <a:lt2>
        <a:srgbClr val="DEDEDE"/>
      </a:lt2>
      <a:accent1>
        <a:srgbClr val="C00000"/>
      </a:accent1>
      <a:accent2>
        <a:srgbClr val="FF0000"/>
      </a:accent2>
      <a:accent3>
        <a:srgbClr val="FF3300"/>
      </a:accent3>
      <a:accent4>
        <a:srgbClr val="CC3300"/>
      </a:accent4>
      <a:accent5>
        <a:srgbClr val="934B21"/>
      </a:accent5>
      <a:accent6>
        <a:srgbClr val="C69B7D"/>
      </a:accent6>
      <a:hlink>
        <a:srgbClr val="CC9900"/>
      </a:hlink>
      <a:folHlink>
        <a:srgbClr val="66003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fanshawe2014ppt_16x10">
  <a:themeElements>
    <a:clrScheme name="Custom 1">
      <a:dk1>
        <a:srgbClr val="000000"/>
      </a:dk1>
      <a:lt1>
        <a:srgbClr val="FFFFFF"/>
      </a:lt1>
      <a:dk2>
        <a:srgbClr val="424456"/>
      </a:dk2>
      <a:lt2>
        <a:srgbClr val="DEDEDE"/>
      </a:lt2>
      <a:accent1>
        <a:srgbClr val="C00000"/>
      </a:accent1>
      <a:accent2>
        <a:srgbClr val="FF0000"/>
      </a:accent2>
      <a:accent3>
        <a:srgbClr val="FF3300"/>
      </a:accent3>
      <a:accent4>
        <a:srgbClr val="CC3300"/>
      </a:accent4>
      <a:accent5>
        <a:srgbClr val="934B21"/>
      </a:accent5>
      <a:accent6>
        <a:srgbClr val="C69B7D"/>
      </a:accent6>
      <a:hlink>
        <a:srgbClr val="CC9900"/>
      </a:hlink>
      <a:folHlink>
        <a:srgbClr val="66003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24456"/>
      </a:dk2>
      <a:lt2>
        <a:srgbClr val="DEDEDE"/>
      </a:lt2>
      <a:accent1>
        <a:srgbClr val="C00000"/>
      </a:accent1>
      <a:accent2>
        <a:srgbClr val="FF0000"/>
      </a:accent2>
      <a:accent3>
        <a:srgbClr val="FF3300"/>
      </a:accent3>
      <a:accent4>
        <a:srgbClr val="CC3300"/>
      </a:accent4>
      <a:accent5>
        <a:srgbClr val="934B21"/>
      </a:accent5>
      <a:accent6>
        <a:srgbClr val="C69B7D"/>
      </a:accent6>
      <a:hlink>
        <a:srgbClr val="CC9900"/>
      </a:hlink>
      <a:folHlink>
        <a:srgbClr val="66003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TotalTime>
  <Words>4133</Words>
  <Application>Microsoft Office PowerPoint</Application>
  <PresentationFormat>Widescreen</PresentationFormat>
  <Paragraphs>601</Paragraphs>
  <Slides>59</Slides>
  <Notes>8</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59</vt:i4>
      </vt:variant>
    </vt:vector>
  </HeadingPairs>
  <TitlesOfParts>
    <vt:vector size="71" baseType="lpstr">
      <vt:lpstr>Arial</vt:lpstr>
      <vt:lpstr>Arial Unicode MS</vt:lpstr>
      <vt:lpstr>Courier New</vt:lpstr>
      <vt:lpstr>Google Sans</vt:lpstr>
      <vt:lpstr>Symbol</vt:lpstr>
      <vt:lpstr>Times New Roman</vt:lpstr>
      <vt:lpstr>Wingdings</vt:lpstr>
      <vt:lpstr>fanshawe2014ppt_16x10</vt:lpstr>
      <vt:lpstr>fanshawe2014ppt_16x10</vt:lpstr>
      <vt:lpstr>fanshawe2014ppt_16x10</vt:lpstr>
      <vt:lpstr>fanshawe2014ppt_16x10</vt:lpstr>
      <vt:lpstr>Visio.Drawing.6</vt:lpstr>
      <vt:lpstr>INFO3068 Secure Computing: PHP</vt:lpstr>
      <vt:lpstr>Upcoming Events</vt:lpstr>
      <vt:lpstr>Recap</vt:lpstr>
      <vt:lpstr>PHP</vt:lpstr>
      <vt:lpstr>Objectives</vt:lpstr>
      <vt:lpstr>What is PHP?</vt:lpstr>
      <vt:lpstr>PHP</vt:lpstr>
      <vt:lpstr>PHP Security?</vt:lpstr>
      <vt:lpstr>Lab Activity F02: Setup XAMPP environment</vt:lpstr>
      <vt:lpstr>Using XAMPP</vt:lpstr>
      <vt:lpstr>PHP Code Example #1: helloworld.php</vt:lpstr>
      <vt:lpstr>Let's Code #1</vt:lpstr>
      <vt:lpstr>Let's Code #2</vt:lpstr>
      <vt:lpstr>Things to note</vt:lpstr>
      <vt:lpstr>Let's Code #3</vt:lpstr>
      <vt:lpstr>PowerPoint Presentation</vt:lpstr>
      <vt:lpstr>PHP Comments</vt:lpstr>
      <vt:lpstr>Identifiers in PHP</vt:lpstr>
      <vt:lpstr>Arrays</vt:lpstr>
      <vt:lpstr>Let's Code #4</vt:lpstr>
      <vt:lpstr>Print vs. Echo</vt:lpstr>
      <vt:lpstr>PHP Example #5</vt:lpstr>
      <vt:lpstr>PHP statements</vt:lpstr>
      <vt:lpstr>PHP statements</vt:lpstr>
      <vt:lpstr>PHP statements</vt:lpstr>
      <vt:lpstr>Let's Code #5</vt:lpstr>
      <vt:lpstr>PHP Variables</vt:lpstr>
      <vt:lpstr>Identifiers in PHP</vt:lpstr>
      <vt:lpstr>Variables (continued)</vt:lpstr>
      <vt:lpstr>Let's Code #6</vt:lpstr>
      <vt:lpstr>Substitution Shortcut</vt:lpstr>
      <vt:lpstr>Let's Code #7</vt:lpstr>
      <vt:lpstr>Let's Code #8</vt:lpstr>
      <vt:lpstr>PowerPoint Presentation</vt:lpstr>
      <vt:lpstr>Security problem?</vt:lpstr>
      <vt:lpstr>Safer Practices</vt:lpstr>
      <vt:lpstr>Data Types in PHP</vt:lpstr>
      <vt:lpstr>Reassigning Variables</vt:lpstr>
      <vt:lpstr>Standard Data Types</vt:lpstr>
      <vt:lpstr>Special Data Types</vt:lpstr>
      <vt:lpstr>Strings</vt:lpstr>
      <vt:lpstr>Strings</vt:lpstr>
      <vt:lpstr>Determining a Variable's Type</vt:lpstr>
      <vt:lpstr>Let's Code #10</vt:lpstr>
      <vt:lpstr>Constants</vt:lpstr>
      <vt:lpstr>Data Types</vt:lpstr>
      <vt:lpstr>PHP Comments</vt:lpstr>
      <vt:lpstr>PHP statements</vt:lpstr>
      <vt:lpstr>Operators</vt:lpstr>
      <vt:lpstr>Boolean Constants</vt:lpstr>
      <vt:lpstr>Operators</vt:lpstr>
      <vt:lpstr>Let's Code #11</vt:lpstr>
      <vt:lpstr>Ternary Operator</vt:lpstr>
      <vt:lpstr>Checkpoint</vt:lpstr>
      <vt:lpstr>Checkpoint</vt:lpstr>
      <vt:lpstr>The End</vt:lpstr>
      <vt:lpstr>What’s Coming</vt:lpstr>
      <vt:lpstr>Homework</vt:lpstr>
      <vt:lpstr>References</vt:lpstr>
    </vt:vector>
  </TitlesOfParts>
  <Company>FANSHAWE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PHP</dc:title>
  <dc:subject>lamp</dc:subject>
  <dc:creator>Darryl Bedford</dc:creator>
  <dc:description>Notes courtesy Maurice J. Petrie.</dc:description>
  <cp:lastModifiedBy>mohammed ali</cp:lastModifiedBy>
  <cp:revision>22</cp:revision>
  <dcterms:created xsi:type="dcterms:W3CDTF">2002-09-29T21:50:29Z</dcterms:created>
  <dcterms:modified xsi:type="dcterms:W3CDTF">2025-09-07T16:05:15Z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Widescreen</vt:lpwstr>
  </property>
  <property fmtid="{D5CDD505-2E9C-101B-9397-08002B2CF9AE}" pid="4" name="Slides">
    <vt:i4>59</vt:i4>
  </property>
</Properties>
</file>