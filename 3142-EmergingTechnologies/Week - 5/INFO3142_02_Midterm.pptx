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57" r:id="rId3"/>
    <p:sldId id="258" r:id="rId4"/>
    <p:sldId id="263" r:id="rId5"/>
    <p:sldId id="262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76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7832" y="1895301"/>
            <a:ext cx="7477518" cy="1789774"/>
          </a:xfrm>
        </p:spPr>
        <p:txBody>
          <a:bodyPr wrap="none" anchor="b">
            <a:noAutofit/>
          </a:bodyPr>
          <a:lstStyle>
            <a:lvl1pPr algn="r">
              <a:defRPr sz="4800" b="1" i="0" spc="0" baseline="0">
                <a:solidFill>
                  <a:schemeClr val="tx1"/>
                </a:solidFill>
                <a:effectLst/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37832" y="3694377"/>
            <a:ext cx="7477518" cy="852688"/>
          </a:xfrm>
        </p:spPr>
        <p:txBody>
          <a:bodyPr anchor="b">
            <a:no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380992" indent="0" algn="ctr">
              <a:buNone/>
              <a:defRPr sz="1667"/>
            </a:lvl2pPr>
            <a:lvl3pPr marL="761985" indent="0" algn="ctr">
              <a:buNone/>
              <a:defRPr sz="1500"/>
            </a:lvl3pPr>
            <a:lvl4pPr marL="1142977" indent="0" algn="ctr">
              <a:buNone/>
              <a:defRPr sz="1333"/>
            </a:lvl4pPr>
            <a:lvl5pPr marL="1523970" indent="0" algn="ctr">
              <a:buNone/>
              <a:defRPr sz="1333"/>
            </a:lvl5pPr>
            <a:lvl6pPr marL="1904962" indent="0" algn="ctr">
              <a:buNone/>
              <a:defRPr sz="1333"/>
            </a:lvl6pPr>
            <a:lvl7pPr marL="2285954" indent="0" algn="ctr">
              <a:buNone/>
              <a:defRPr sz="1333"/>
            </a:lvl7pPr>
            <a:lvl8pPr marL="2666947" indent="0" algn="ctr">
              <a:buNone/>
              <a:defRPr sz="1333"/>
            </a:lvl8pPr>
            <a:lvl9pPr marL="3047940" indent="0" algn="ctr">
              <a:buNone/>
              <a:defRPr sz="1333"/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4505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02466" y="1765738"/>
            <a:ext cx="7539071" cy="1708022"/>
          </a:xfrm>
        </p:spPr>
        <p:txBody>
          <a:bodyPr wrap="none" anchor="t">
            <a:noAutofit/>
          </a:bodyPr>
          <a:lstStyle>
            <a:lvl1pPr algn="r">
              <a:defRPr sz="4800" b="1" i="0" spc="0" baseline="0">
                <a:solidFill>
                  <a:schemeClr val="tx1"/>
                </a:solidFill>
                <a:effectLst/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2466" y="979920"/>
            <a:ext cx="7539071" cy="784586"/>
          </a:xfrm>
        </p:spPr>
        <p:txBody>
          <a:bodyPr anchor="b">
            <a:no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380992" indent="0" algn="ctr">
              <a:buNone/>
              <a:defRPr sz="1667"/>
            </a:lvl2pPr>
            <a:lvl3pPr marL="761985" indent="0" algn="ctr">
              <a:buNone/>
              <a:defRPr sz="1500"/>
            </a:lvl3pPr>
            <a:lvl4pPr marL="1142977" indent="0" algn="ctr">
              <a:buNone/>
              <a:defRPr sz="1333"/>
            </a:lvl4pPr>
            <a:lvl5pPr marL="1523970" indent="0" algn="ctr">
              <a:buNone/>
              <a:defRPr sz="1333"/>
            </a:lvl5pPr>
            <a:lvl6pPr marL="1904962" indent="0" algn="ctr">
              <a:buNone/>
              <a:defRPr sz="1333"/>
            </a:lvl6pPr>
            <a:lvl7pPr marL="2285954" indent="0" algn="ctr">
              <a:buNone/>
              <a:defRPr sz="1333"/>
            </a:lvl7pPr>
            <a:lvl8pPr marL="2666947" indent="0" algn="ctr">
              <a:buNone/>
              <a:defRPr sz="1333"/>
            </a:lvl8pPr>
            <a:lvl9pPr marL="3047940" indent="0" algn="ctr">
              <a:buNone/>
              <a:defRPr sz="1333"/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2210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94052" y="4756291"/>
            <a:ext cx="8155896" cy="705994"/>
          </a:xfrm>
        </p:spPr>
        <p:txBody>
          <a:bodyPr anchor="t">
            <a:noAutofit/>
          </a:bodyPr>
          <a:lstStyle>
            <a:lvl1pPr marL="0" indent="0">
              <a:buNone/>
              <a:defRPr sz="1778"/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sub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AE61BF-3763-0E4A-999B-8924DFBF36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2" y="3147144"/>
            <a:ext cx="8155896" cy="1609147"/>
          </a:xfrm>
        </p:spPr>
        <p:txBody>
          <a:bodyPr anchor="b"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88979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F6A6C647-8D61-1F4E-99D1-2AB4ED068F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1196F0-56A5-0A49-AD87-3B487F49514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4349" y="1476377"/>
            <a:ext cx="8155305" cy="407289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56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lumns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E862F-2DE8-F94F-9079-91AF022976F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4053" y="1497701"/>
            <a:ext cx="3989661" cy="4072255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482732F-316B-FD4C-A0B3-A1EF01C5451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60287" y="1497702"/>
            <a:ext cx="3989662" cy="4072256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aseline="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BF0C72D-9A4A-2A49-B363-B2C415C80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15612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lumns content with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B2F53-3D81-4CF7-81AE-806EBBEB9C3C}" type="datetimeFigureOut">
              <a:rPr lang="en-US" smtClean="0"/>
              <a:pPr/>
              <a:t>01-Oct-25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B971B7F-1741-9A4A-B925-11E1F5B352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2FC316-43A0-314E-884C-19A6592161F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4053" y="1497701"/>
            <a:ext cx="3989661" cy="4072255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B32E208-AE39-D149-A2EC-87102F8C0C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60287" y="1497702"/>
            <a:ext cx="3989662" cy="4072256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aseline="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4430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with title and su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F5D3C69-508E-E343-82E0-194270BE750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94053" y="1642768"/>
            <a:ext cx="2606277" cy="567559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B9A5ACD-B447-8F44-9065-AD7D1222E29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268160" y="1653166"/>
            <a:ext cx="2606277" cy="567559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35FDE71-5828-1A47-B218-9FF0C40675E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047190" y="1653166"/>
            <a:ext cx="2606277" cy="567559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284AE9-8724-F345-B285-3794B6E93521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490534" y="2231124"/>
            <a:ext cx="2606276" cy="3457076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98B590-CBBB-E946-9667-816B3FD224E8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270621" y="2220727"/>
            <a:ext cx="2606276" cy="3457076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29763F-CBDB-6441-8283-079979A86EC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6043673" y="2231124"/>
            <a:ext cx="2606276" cy="3457076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5100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with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284AE9-8724-F345-B285-3794B6E93521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490534" y="1486051"/>
            <a:ext cx="2606276" cy="4034864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98B590-CBBB-E946-9667-816B3FD224E8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270621" y="1475653"/>
            <a:ext cx="2606276" cy="4034864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29763F-CBDB-6441-8283-079979A86EC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6043673" y="1486051"/>
            <a:ext cx="2606276" cy="4034864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44858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, small title with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E732-3AEB-2446-A6FA-5AFFBB873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611" y="732519"/>
            <a:ext cx="8564210" cy="599516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B807-26A2-0B44-917E-DCCFEF7EB2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4612" y="1368208"/>
            <a:ext cx="8564209" cy="4370442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6611C-9122-E049-912F-ABF2154E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B2F53-3D81-4CF7-81AE-806EBBEB9C3C}" type="datetimeFigureOut">
              <a:rPr lang="en-US" smtClean="0"/>
              <a:pPr/>
              <a:t>01-Oct-25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A17CA-2218-B242-BA20-69CBB4C5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4A38B-A490-B042-9C4F-4C94FD39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042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ullets and right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B78269-2564-3649-96BA-0374B26733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4" y="365125"/>
            <a:ext cx="4708569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6752-A6BF-1643-A2FD-29A57B1BBD0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94051" y="1475651"/>
            <a:ext cx="4708570" cy="4262998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B62AAE-DA19-E14B-B2DB-6EB985073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06459" y="1033111"/>
            <a:ext cx="2943489" cy="512064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1577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ullets and left imag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B78269-2564-3649-96BA-0374B26733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1381" y="365125"/>
            <a:ext cx="4708569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6752-A6BF-1643-A2FD-29A57B1BBD0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941379" y="1475651"/>
            <a:ext cx="4708570" cy="4628758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B62AAE-DA19-E14B-B2DB-6EB985073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7836" y="895797"/>
            <a:ext cx="2986976" cy="542302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51773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2-imag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F3F504F-3A41-DC4B-BEE1-47D0E19E9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24842C3-42B5-9C43-9E2C-66DDA1C83A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88667" y="1475651"/>
            <a:ext cx="3978520" cy="4111650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A89EA318-93EB-D34A-957B-D0D443FDB6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4052" y="1475650"/>
            <a:ext cx="3978520" cy="4111650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1654299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mages with title and captio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4053" y="5173302"/>
            <a:ext cx="2606277" cy="56755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00" b="0">
                <a:solidFill>
                  <a:srgbClr val="646469"/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94055" y="1653166"/>
            <a:ext cx="2606278" cy="3509738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>
                <a:effectLst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76604" y="1653166"/>
            <a:ext cx="2597833" cy="3509738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>
                <a:effectLst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0708" y="1653166"/>
            <a:ext cx="2599241" cy="3509738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>
                <a:effectLst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3290758" y="5173302"/>
            <a:ext cx="2583678" cy="567559"/>
          </a:xfrm>
        </p:spPr>
        <p:txBody>
          <a:bodyPr anchor="b">
            <a:no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rgbClr val="646469"/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6064865" y="5162904"/>
            <a:ext cx="2583677" cy="56755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00" b="0">
                <a:solidFill>
                  <a:srgbClr val="646469"/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121645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image with caption and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29841" y="987427"/>
            <a:ext cx="7886700" cy="4101059"/>
          </a:xfrm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tx1">
                    <a:lumMod val="85000"/>
                  </a:schemeClr>
                </a:solidFill>
              </a:defRPr>
            </a:lvl1pPr>
            <a:lvl2pPr marL="380992" indent="0">
              <a:buNone/>
              <a:defRPr sz="2333"/>
            </a:lvl2pPr>
            <a:lvl3pPr marL="761985" indent="0">
              <a:buNone/>
              <a:defRPr sz="2000"/>
            </a:lvl3pPr>
            <a:lvl4pPr marL="1142977" indent="0">
              <a:buNone/>
              <a:defRPr sz="1667"/>
            </a:lvl4pPr>
            <a:lvl5pPr marL="1523970" indent="0">
              <a:buNone/>
              <a:defRPr sz="1667"/>
            </a:lvl5pPr>
            <a:lvl6pPr marL="1904962" indent="0">
              <a:buNone/>
              <a:defRPr sz="1667"/>
            </a:lvl6pPr>
            <a:lvl7pPr marL="2285954" indent="0">
              <a:buNone/>
              <a:defRPr sz="1667"/>
            </a:lvl7pPr>
            <a:lvl8pPr marL="2666947" indent="0">
              <a:buNone/>
              <a:defRPr sz="1667"/>
            </a:lvl8pPr>
            <a:lvl9pPr marL="3047940" indent="0">
              <a:buNone/>
              <a:defRPr sz="1667"/>
            </a:lvl9pPr>
          </a:lstStyle>
          <a:p>
            <a:r>
              <a:rPr lang="en-US" dirty="0"/>
              <a:t>Click icon to add picture – remember to add alt tag(s)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5" y="5186524"/>
            <a:ext cx="7885509" cy="682472"/>
          </a:xfrm>
        </p:spPr>
        <p:txBody>
          <a:bodyPr>
            <a:noAutofit/>
          </a:bodyPr>
          <a:lstStyle>
            <a:lvl1pPr marL="0" indent="0" algn="r">
              <a:buNone/>
              <a:defRPr sz="1778">
                <a:solidFill>
                  <a:schemeClr val="bg1"/>
                </a:solidFill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B2F53-3D81-4CF7-81AE-806EBBEB9C3C}" type="datetimeFigureOut">
              <a:rPr lang="en-US" smtClean="0"/>
              <a:pPr/>
              <a:t>01-Oct-25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3471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5A12D9-12AA-7842-877B-BA9346E2CE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0015" y="491492"/>
            <a:ext cx="8903970" cy="6167864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3359929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5A12D9-12AA-7842-877B-BA9346E2CE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279309"/>
            <a:ext cx="9144000" cy="6857999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1558770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with caption and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5" y="5186524"/>
            <a:ext cx="7885509" cy="682472"/>
          </a:xfrm>
        </p:spPr>
        <p:txBody>
          <a:bodyPr>
            <a:noAutofit/>
          </a:bodyPr>
          <a:lstStyle>
            <a:lvl1pPr marL="0" indent="0" algn="r">
              <a:buNone/>
              <a:defRPr sz="1778">
                <a:solidFill>
                  <a:schemeClr val="bg1"/>
                </a:solidFill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B2F53-3D81-4CF7-81AE-806EBBEB9C3C}" type="datetimeFigureOut">
              <a:rPr lang="en-US" smtClean="0"/>
              <a:pPr/>
              <a:t>01-Oct-25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15E10ABA-6733-4542-AEE4-B1A0C2E01AA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630239" y="988696"/>
            <a:ext cx="7885115" cy="4109084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657555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1EB3D43-4BB5-A644-A0D1-F886600C067D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837787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84661" y="365132"/>
            <a:ext cx="6977064" cy="4692448"/>
          </a:xfrm>
        </p:spPr>
        <p:txBody>
          <a:bodyPr anchor="ctr"/>
          <a:lstStyle>
            <a:lvl1pPr>
              <a:defRPr sz="3556" b="1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290484" y="5157092"/>
            <a:ext cx="6564224" cy="548968"/>
          </a:xfrm>
        </p:spPr>
        <p:txBody>
          <a:bodyPr anchor="t">
            <a:noAutofit/>
          </a:bodyPr>
          <a:lstStyle>
            <a:lvl1pPr marL="0" indent="0" algn="r">
              <a:buNone/>
              <a:defRPr sz="1778" i="1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84" y="988628"/>
            <a:ext cx="457200" cy="584776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67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4522558"/>
            <a:ext cx="457200" cy="584776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67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9694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84661" y="365131"/>
            <a:ext cx="6977064" cy="2992904"/>
          </a:xfrm>
        </p:spPr>
        <p:txBody>
          <a:bodyPr anchor="ctr"/>
          <a:lstStyle>
            <a:lvl1pPr>
              <a:defRPr sz="3556" b="1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290484" y="3365558"/>
            <a:ext cx="6564224" cy="548968"/>
          </a:xfrm>
        </p:spPr>
        <p:txBody>
          <a:bodyPr anchor="t">
            <a:noAutofit/>
          </a:bodyPr>
          <a:lstStyle>
            <a:lvl1pPr marL="0" indent="0" algn="r">
              <a:buNone/>
              <a:defRPr sz="1778" i="1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4" y="4399983"/>
            <a:ext cx="7884318" cy="1489496"/>
          </a:xfrm>
        </p:spPr>
        <p:txBody>
          <a:bodyPr anchor="ctr">
            <a:noAutofit/>
          </a:bodyPr>
          <a:lstStyle>
            <a:lvl1pPr marL="0" indent="0">
              <a:buNone/>
              <a:defRPr sz="1778" baseline="0"/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83" y="786827"/>
            <a:ext cx="457200" cy="584776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67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8"/>
            <a:ext cx="457200" cy="584776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67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6687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F3F504F-3A41-DC4B-BEE1-47D0E19E9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364969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044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170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37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3909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473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9B2F53-3D81-4CF7-81AE-806EBBEB9C3C}" type="datetimeFigureOut">
              <a:rPr lang="en-US" smtClean="0"/>
              <a:pPr/>
              <a:t>01-Oct-25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033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053" y="1475653"/>
            <a:ext cx="8155896" cy="4313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8535" y="6097825"/>
            <a:ext cx="1190065" cy="33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C49B2F53-3D81-4CF7-81AE-806EBBEB9C3C}" type="datetimeFigureOut">
              <a:rPr lang="en-US" smtClean="0"/>
              <a:pPr/>
              <a:t>01-Oct-25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13196" y="6093719"/>
            <a:ext cx="3086100" cy="336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33893" y="6097825"/>
            <a:ext cx="716056" cy="33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3580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</p:sldLayoutIdLst>
  <p:txStyles>
    <p:titleStyle>
      <a:lvl1pPr algn="l" defTabSz="761985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bg1"/>
          </a:solidFill>
          <a:latin typeface="Montserrat Medium" pitchFamily="2" charset="77"/>
          <a:ea typeface="+mj-ea"/>
          <a:cs typeface="Montserrat Medium" pitchFamily="2" charset="77"/>
        </a:defRPr>
      </a:lvl1pPr>
    </p:titleStyle>
    <p:bodyStyle>
      <a:lvl1pPr marL="0" indent="0" algn="l" defTabSz="76198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8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1pPr>
      <a:lvl2pPr marL="571489" indent="-36000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24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2pPr>
      <a:lvl3pPr marL="952480" indent="-27000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20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3pPr>
      <a:lvl4pPr marL="1333473" indent="-23400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18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4pPr>
      <a:lvl5pPr marL="1714466" indent="-190496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16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5pPr>
      <a:lvl6pPr marL="2095458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51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443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435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92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85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77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7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62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54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947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94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INFO-3142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Midterm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Clr>
                <a:schemeClr val="accent3"/>
              </a:buClr>
              <a:buSzPct val="95000"/>
            </a:pPr>
            <a:r>
              <a:rPr lang="en-CA" dirty="0"/>
              <a:t>Wednesday, October 8 (3:00 pm – 4:50 pm)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Scheduled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Length is 1 hour and 50 minutes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20% of final grade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Format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Consists entirely of short answer questions:</a:t>
            </a:r>
          </a:p>
          <a:p>
            <a:pPr lvl="1">
              <a:buFont typeface="Arial" charset="0"/>
              <a:buChar char="•"/>
            </a:pPr>
            <a:r>
              <a:rPr lang="en-CA" dirty="0"/>
              <a:t>Requires Lockdown Browser</a:t>
            </a:r>
          </a:p>
          <a:p>
            <a:pPr lvl="1">
              <a:buFont typeface="Arial" charset="0"/>
              <a:buChar char="•"/>
            </a:pPr>
            <a:r>
              <a:rPr lang="en-CA" dirty="0"/>
              <a:t>Each question is answered in the space provided within the FOL quiz question area</a:t>
            </a:r>
          </a:p>
          <a:p>
            <a:pPr lvl="1">
              <a:buFont typeface="Arial" charset="0"/>
              <a:buChar char="•"/>
            </a:pPr>
            <a:r>
              <a:rPr lang="en-CA" dirty="0"/>
              <a:t>Each student may use an 8.5 x 11 study guide during this part of the test</a:t>
            </a:r>
          </a:p>
          <a:p>
            <a:pPr lvl="2"/>
            <a:r>
              <a:rPr lang="en-CA" dirty="0"/>
              <a:t>2 page surfaces any size text (hand-written or computer generated)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Format (2)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Types of questions:</a:t>
            </a:r>
          </a:p>
          <a:p>
            <a:pPr marL="914389" lvl="1" indent="-342900"/>
            <a:r>
              <a:rPr lang="en-US" sz="2000" dirty="0"/>
              <a:t>Definitions</a:t>
            </a:r>
          </a:p>
          <a:p>
            <a:pPr marL="914389" lvl="1" indent="-342900"/>
            <a:r>
              <a:rPr lang="en-US" sz="2000" dirty="0"/>
              <a:t>Explanations of small Python code fragments</a:t>
            </a:r>
          </a:p>
          <a:p>
            <a:pPr marL="914389" lvl="1" indent="-342900"/>
            <a:r>
              <a:rPr lang="en-US" sz="2000" dirty="0"/>
              <a:t>Comparisons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 application-level coding questions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7953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Format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Question format examples (what’s possible)</a:t>
            </a:r>
          </a:p>
          <a:p>
            <a:pPr marL="914389" lvl="1" indent="-342900"/>
            <a:r>
              <a:rPr lang="en-US" sz="2000" dirty="0"/>
              <a:t>Explain briefly the meaning of the following term…</a:t>
            </a:r>
          </a:p>
          <a:p>
            <a:pPr marL="914389" lvl="1" indent="-342900"/>
            <a:r>
              <a:rPr lang="en-US" sz="2000" dirty="0"/>
              <a:t>Describe briefly the differences between … and …</a:t>
            </a:r>
          </a:p>
          <a:p>
            <a:pPr marL="914389" lvl="1" indent="-342900"/>
            <a:r>
              <a:rPr lang="en-US" sz="2000" dirty="0"/>
              <a:t>Given the attached code fragment, what are the values of variables … and … at line …</a:t>
            </a:r>
          </a:p>
          <a:p>
            <a:pPr marL="914389" lvl="1" indent="-342900"/>
            <a:r>
              <a:rPr lang="en-US" sz="2000" dirty="0"/>
              <a:t>Study the associated code fragment and describe precisely what the code is doing and how it works</a:t>
            </a:r>
          </a:p>
          <a:p>
            <a:pPr marL="914389" lvl="1" indent="-342900"/>
            <a:r>
              <a:rPr lang="en-US" sz="2000" dirty="0"/>
              <a:t>What will be the value of variable x when the Python code reaches line…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75414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53" y="1475653"/>
            <a:ext cx="8155896" cy="454563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Slide sets and textbook chapters:</a:t>
            </a:r>
          </a:p>
          <a:p>
            <a:pPr marL="1028689" lvl="1" indent="-457200"/>
            <a:r>
              <a:rPr lang="en-CA" sz="2000" dirty="0"/>
              <a:t>How Deep Learning Works (slides)</a:t>
            </a:r>
          </a:p>
          <a:p>
            <a:pPr marL="1028689" lvl="1" indent="-457200"/>
            <a:r>
              <a:rPr lang="en-CA" sz="2000" dirty="0"/>
              <a:t>ch1-Understanding LLMs (slides and textbook)</a:t>
            </a:r>
          </a:p>
          <a:p>
            <a:pPr marL="1028689" lvl="1" indent="-457200"/>
            <a:r>
              <a:rPr lang="en-CA" sz="2000" dirty="0"/>
              <a:t>ch2-Working with Text Data (slides and textbook)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Labs:</a:t>
            </a:r>
          </a:p>
          <a:p>
            <a:pPr marL="1028689" lvl="1" indent="-457200"/>
            <a:r>
              <a:rPr lang="en-CA" sz="2000" dirty="0"/>
              <a:t>Lab #1 – Jumble Puzzle</a:t>
            </a:r>
          </a:p>
          <a:p>
            <a:pPr marL="1028689" lvl="1" indent="-457200"/>
            <a:r>
              <a:rPr lang="en-CA" sz="2000" dirty="0"/>
              <a:t>Lab #2 – Simple Embedding and Word Vectors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nshawe_Theme">
  <a:themeElements>
    <a:clrScheme name="Custom 1">
      <a:dk1>
        <a:srgbClr val="000000"/>
      </a:dk1>
      <a:lt1>
        <a:srgbClr val="FFFFFF"/>
      </a:lt1>
      <a:dk2>
        <a:srgbClr val="636369"/>
      </a:dk2>
      <a:lt2>
        <a:srgbClr val="DEDEDE"/>
      </a:lt2>
      <a:accent1>
        <a:srgbClr val="E12319"/>
      </a:accent1>
      <a:accent2>
        <a:srgbClr val="E12319"/>
      </a:accent2>
      <a:accent3>
        <a:srgbClr val="B2272C"/>
      </a:accent3>
      <a:accent4>
        <a:srgbClr val="A02B2F"/>
      </a:accent4>
      <a:accent5>
        <a:srgbClr val="636369"/>
      </a:accent5>
      <a:accent6>
        <a:srgbClr val="636369"/>
      </a:accent6>
      <a:hlink>
        <a:srgbClr val="E12319"/>
      </a:hlink>
      <a:folHlink>
        <a:srgbClr val="B2272C"/>
      </a:folHlink>
    </a:clrScheme>
    <a:fontScheme name="Tes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nshawe_Theme" id="{2AB755E2-F30A-4603-8A1A-32DAE8137AE7}" vid="{AABFD89F-415E-4566-8E83-047AA5154A6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Fanshawe_Theme</Template>
  <TotalTime>2768</TotalTime>
  <Words>231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Montserrat</vt:lpstr>
      <vt:lpstr>Montserrat Medium</vt:lpstr>
      <vt:lpstr>Fanshawe_Theme</vt:lpstr>
      <vt:lpstr>INFO-3142</vt:lpstr>
      <vt:lpstr>When ?</vt:lpstr>
      <vt:lpstr>Format (1)</vt:lpstr>
      <vt:lpstr>Format (2)</vt:lpstr>
      <vt:lpstr>Format (continued)</vt:lpstr>
      <vt:lpstr>Content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</dc:title>
  <dc:creator>Jim</dc:creator>
  <cp:lastModifiedBy>Jim Cooper</cp:lastModifiedBy>
  <cp:revision>358</cp:revision>
  <dcterms:created xsi:type="dcterms:W3CDTF">2010-01-05T18:25:55Z</dcterms:created>
  <dcterms:modified xsi:type="dcterms:W3CDTF">2025-10-01T13:52:33Z</dcterms:modified>
</cp:coreProperties>
</file>